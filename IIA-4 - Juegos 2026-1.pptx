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sldIdLst>
    <p:sldId id="445" r:id="rId5"/>
    <p:sldId id="323" r:id="rId6"/>
    <p:sldId id="477" r:id="rId7"/>
    <p:sldId id="536" r:id="rId8"/>
    <p:sldId id="556" r:id="rId9"/>
    <p:sldId id="559" r:id="rId10"/>
    <p:sldId id="538" r:id="rId11"/>
    <p:sldId id="539" r:id="rId12"/>
    <p:sldId id="560" r:id="rId13"/>
    <p:sldId id="541" r:id="rId14"/>
    <p:sldId id="542" r:id="rId15"/>
    <p:sldId id="557" r:id="rId16"/>
    <p:sldId id="547" r:id="rId17"/>
    <p:sldId id="549" r:id="rId18"/>
    <p:sldId id="550" r:id="rId19"/>
    <p:sldId id="551" r:id="rId20"/>
    <p:sldId id="552" r:id="rId21"/>
    <p:sldId id="548" r:id="rId22"/>
    <p:sldId id="553" r:id="rId23"/>
    <p:sldId id="554" r:id="rId24"/>
    <p:sldId id="555" r:id="rId25"/>
    <p:sldId id="558" r:id="rId26"/>
    <p:sldId id="474" r:id="rId27"/>
    <p:sldId id="455" r:id="rId28"/>
    <p:sldId id="459" r:id="rId29"/>
    <p:sldId id="562" r:id="rId30"/>
    <p:sldId id="546" r:id="rId31"/>
    <p:sldId id="561" r:id="rId32"/>
    <p:sldId id="392" r:id="rId33"/>
    <p:sldId id="366" r:id="rId34"/>
    <p:sldId id="512" r:id="rId35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00FFFF"/>
    <a:srgbClr val="FF99FF"/>
    <a:srgbClr val="FF66FF"/>
    <a:srgbClr val="FFCCFF"/>
    <a:srgbClr val="FFFF99"/>
    <a:srgbClr val="CC99FF"/>
    <a:srgbClr val="006666"/>
    <a:srgbClr val="141C35"/>
    <a:srgbClr val="14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3"/>
    <p:restoredTop sz="95331" autoAdjust="0"/>
  </p:normalViewPr>
  <p:slideViewPr>
    <p:cSldViewPr snapToGrid="0" snapToObjects="1">
      <p:cViewPr varScale="1">
        <p:scale>
          <a:sx n="110" d="100"/>
          <a:sy n="110" d="100"/>
        </p:scale>
        <p:origin x="138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E539C-DDF3-AC46-8B9D-2E762AE448C0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8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7183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MAPA\Desktop\AI_Games_SI\podaalfabeta.avi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MAPA\Desktop\AI_Games_SI\podaalfabeta.avi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szink.blogspot.com/2019/03/luisa-parchis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doteka.com/clasika/backgammon-es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0sSFFs5jAw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NP8xt8o4_5Q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mailto:egonzal@javeriana.edu.co" TargetMode="External"/><Relationship Id="rId4" Type="http://schemas.openxmlformats.org/officeDocument/2006/relationships/hyperlink" Target="mailto:rueda-andrea@javeriana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2107602"/>
          </a:xfrm>
        </p:spPr>
        <p:txBody>
          <a:bodyPr>
            <a:noAutofit/>
          </a:bodyPr>
          <a:lstStyle/>
          <a:p>
            <a:r>
              <a:rPr lang="es-ES_tradnl" sz="5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Solución de Problemas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</a:t>
            </a:r>
            <a:r>
              <a:rPr lang="es-ES_tradnl" sz="3600" b="1" dirty="0" err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MultiJugador</a:t>
            </a:r>
            <a:endParaRPr lang="es-ES_tradnl" sz="3600" b="1" dirty="0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2 Subtítulo"/>
          <p:cNvSpPr txBox="1">
            <a:spLocks/>
          </p:cNvSpPr>
          <p:nvPr/>
        </p:nvSpPr>
        <p:spPr>
          <a:xfrm>
            <a:off x="18165" y="6278653"/>
            <a:ext cx="7852845" cy="561417"/>
          </a:xfrm>
          <a:prstGeom prst="rect">
            <a:avLst/>
          </a:prstGeom>
          <a:solidFill>
            <a:schemeClr val="bg1"/>
          </a:solidFill>
        </p:spPr>
        <p:txBody>
          <a:bodyPr vert="horz" lIns="0" rIns="18288">
            <a:normAutofit fontScale="92500"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000" dirty="0">
              <a:solidFill>
                <a:srgbClr val="7030A0"/>
              </a:solidFill>
            </a:endParaRPr>
          </a:p>
          <a:p>
            <a:pPr algn="l"/>
            <a:r>
              <a:rPr lang="en-US" sz="1000" dirty="0" err="1">
                <a:solidFill>
                  <a:srgbClr val="7030A0"/>
                </a:solidFill>
              </a:rPr>
              <a:t>Presentación</a:t>
            </a:r>
            <a:r>
              <a:rPr lang="en-US" sz="1000" dirty="0">
                <a:solidFill>
                  <a:srgbClr val="7030A0"/>
                </a:solidFill>
              </a:rPr>
              <a:t> </a:t>
            </a:r>
            <a:r>
              <a:rPr lang="en-US" sz="1000" dirty="0" err="1">
                <a:solidFill>
                  <a:srgbClr val="7030A0"/>
                </a:solidFill>
              </a:rPr>
              <a:t>Generada</a:t>
            </a:r>
            <a:r>
              <a:rPr lang="en-US" sz="1000" dirty="0">
                <a:solidFill>
                  <a:srgbClr val="7030A0"/>
                </a:solidFill>
              </a:rPr>
              <a:t> a </a:t>
            </a:r>
            <a:r>
              <a:rPr lang="en-US" sz="1000" dirty="0" err="1">
                <a:solidFill>
                  <a:srgbClr val="7030A0"/>
                </a:solidFill>
              </a:rPr>
              <a:t>partir</a:t>
            </a:r>
            <a:r>
              <a:rPr lang="en-US" sz="1000" dirty="0">
                <a:solidFill>
                  <a:srgbClr val="7030A0"/>
                </a:solidFill>
              </a:rPr>
              <a:t> de </a:t>
            </a:r>
            <a:r>
              <a:rPr lang="en-US" sz="1000" dirty="0" err="1">
                <a:solidFill>
                  <a:srgbClr val="7030A0"/>
                </a:solidFill>
              </a:rPr>
              <a:t>Aportes</a:t>
            </a:r>
            <a:r>
              <a:rPr lang="en-US" sz="1000" dirty="0">
                <a:solidFill>
                  <a:srgbClr val="7030A0"/>
                </a:solidFill>
              </a:rPr>
              <a:t> de </a:t>
            </a:r>
            <a:r>
              <a:rPr lang="en-US" sz="1000" dirty="0" err="1">
                <a:solidFill>
                  <a:srgbClr val="7030A0"/>
                </a:solidFill>
              </a:rPr>
              <a:t>Estudiantes</a:t>
            </a:r>
            <a:r>
              <a:rPr lang="en-US" sz="1000" dirty="0">
                <a:solidFill>
                  <a:srgbClr val="7030A0"/>
                </a:solidFill>
              </a:rPr>
              <a:t> de </a:t>
            </a:r>
            <a:r>
              <a:rPr lang="en-US" sz="1000" dirty="0" err="1">
                <a:solidFill>
                  <a:srgbClr val="7030A0"/>
                </a:solidFill>
              </a:rPr>
              <a:t>Diferentes</a:t>
            </a:r>
            <a:r>
              <a:rPr lang="en-US" sz="1000" dirty="0">
                <a:solidFill>
                  <a:srgbClr val="7030A0"/>
                </a:solidFill>
              </a:rPr>
              <a:t> </a:t>
            </a:r>
            <a:r>
              <a:rPr lang="en-US" sz="1000" dirty="0" err="1">
                <a:solidFill>
                  <a:srgbClr val="7030A0"/>
                </a:solidFill>
              </a:rPr>
              <a:t>Versiones</a:t>
            </a:r>
            <a:r>
              <a:rPr lang="en-US" sz="1000" dirty="0">
                <a:solidFill>
                  <a:srgbClr val="7030A0"/>
                </a:solidFill>
              </a:rPr>
              <a:t> del </a:t>
            </a:r>
            <a:r>
              <a:rPr lang="en-US" sz="1000" dirty="0" err="1">
                <a:solidFill>
                  <a:srgbClr val="7030A0"/>
                </a:solidFill>
              </a:rPr>
              <a:t>Curso</a:t>
            </a:r>
            <a:endParaRPr lang="en-US" sz="1000" dirty="0">
              <a:solidFill>
                <a:srgbClr val="7030A0"/>
              </a:solidFill>
            </a:endParaRPr>
          </a:p>
          <a:p>
            <a:pPr algn="l"/>
            <a:r>
              <a:rPr lang="es-ES" sz="1000" dirty="0">
                <a:solidFill>
                  <a:srgbClr val="7030A0"/>
                </a:solidFill>
              </a:rPr>
              <a:t>Contribución especial del Estudiante </a:t>
            </a:r>
            <a:r>
              <a:rPr lang="es-ES" sz="1000" dirty="0" err="1">
                <a:solidFill>
                  <a:srgbClr val="7030A0"/>
                </a:solidFill>
              </a:rPr>
              <a:t>MISyC</a:t>
            </a:r>
            <a:r>
              <a:rPr lang="es-ES" sz="1000" dirty="0">
                <a:solidFill>
                  <a:srgbClr val="7030A0"/>
                </a:solidFill>
              </a:rPr>
              <a:t> Carlos Iván Rivera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723788" y="5231090"/>
            <a:ext cx="845616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Enrique González, PhD</a:t>
            </a:r>
          </a:p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Andrea Rueda, PhD</a:t>
            </a:r>
          </a:p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  <p:pic>
        <p:nvPicPr>
          <p:cNvPr id="8" name="Imagen 7" descr="Logo Pontificia Universidad Javeriana">
            <a:extLst>
              <a:ext uri="{FF2B5EF4-FFF2-40B4-BE49-F238E27FC236}">
                <a16:creationId xmlns:a16="http://schemas.microsoft.com/office/drawing/2014/main" id="{034C0FFF-3320-014B-8962-C498FBC33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273" y="23139"/>
            <a:ext cx="4473835" cy="188372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2859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Agenda – Juegos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6"/>
            <a:ext cx="10544300" cy="542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sz="3200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– Conceptos Básicos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Definiciones y Características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sz="3200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– Juegos como Problemas de Búsqueda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Método MIN-MAX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Poda Alfa-Beta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sz="3200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– Juegos Variantes Avanzadas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Juegos en Tiempo Real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RTMM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Juegos de Alta Complejidad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Árboles de Montecarlo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1 – Conceptos Básicos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6"/>
            <a:ext cx="7290461" cy="1991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Definiciones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Juego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”A universal form of recreation generally including any activity engaged in for </a:t>
            </a:r>
            <a:r>
              <a:rPr kumimoji="0" lang="en-US" altLang="es-CO" sz="2000" dirty="0">
                <a:solidFill>
                  <a:srgbClr val="7030A0"/>
                </a:solidFill>
              </a:rPr>
              <a:t>diversion or amusement 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and often establishing a situation that involves a </a:t>
            </a:r>
            <a:r>
              <a:rPr kumimoji="0" lang="en-US" altLang="es-CO" sz="2000" dirty="0">
                <a:solidFill>
                  <a:srgbClr val="7030A0"/>
                </a:solidFill>
              </a:rPr>
              <a:t>contest or rivalry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” [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Enciclopedia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Británica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]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6" name="Picture 2" descr="C:\Users\MAPA\Desktop\AI_Games_SI\descarg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7524" y="2217063"/>
            <a:ext cx="2762250" cy="1647825"/>
          </a:xfrm>
          <a:prstGeom prst="rect">
            <a:avLst/>
          </a:prstGeom>
          <a:noFill/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3743541"/>
            <a:ext cx="10415627" cy="249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Reglas fijas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no ambiguas y bien conocidas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Resultados variables y cuantificables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resultados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no controlables por un solo jugador</a:t>
            </a: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Valorización de los resultados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resultados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evaluables como mejores/peores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que otros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Esfuerzo del jugador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acciones del jugador influencian el estado del juego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Adhesión del jugador al resultado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siempre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se busca alcanzar el mejor resultado</a:t>
            </a:r>
          </a:p>
        </p:txBody>
      </p:sp>
    </p:spTree>
    <p:extLst>
      <p:ext uri="{BB962C8B-B14F-4D97-AF65-F5344CB8AC3E}">
        <p14:creationId xmlns:p14="http://schemas.microsoft.com/office/powerpoint/2010/main" val="195876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8539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51850" y="345227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2 – Juegos como Búsqueda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838739"/>
            <a:ext cx="6193603" cy="339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 de Búsqueda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Estructura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Desarrollo de las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opciones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juego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con </a:t>
            </a:r>
            <a:r>
              <a:rPr kumimoji="0" lang="en-US" altLang="es-CO" sz="2000" b="0" dirty="0" err="1">
                <a:solidFill>
                  <a:srgbClr val="7030A0"/>
                </a:solidFill>
              </a:rPr>
              <a:t>alternancia</a:t>
            </a:r>
            <a:r>
              <a:rPr kumimoji="0" lang="en-US" altLang="es-CO" sz="2000" b="0" dirty="0">
                <a:solidFill>
                  <a:srgbClr val="7030A0"/>
                </a:solidFill>
              </a:rPr>
              <a:t> de </a:t>
            </a:r>
            <a:r>
              <a:rPr kumimoji="0" lang="en-US" altLang="es-CO" sz="2000" b="0" dirty="0" err="1">
                <a:solidFill>
                  <a:srgbClr val="7030A0"/>
                </a:solidFill>
              </a:rPr>
              <a:t>niveles</a:t>
            </a:r>
            <a:r>
              <a:rPr kumimoji="0" lang="en-US" altLang="es-CO" sz="2000" b="0" dirty="0">
                <a:solidFill>
                  <a:srgbClr val="7030A0"/>
                </a:solidFill>
              </a:rPr>
              <a:t> 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entre los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jugadores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participantes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457200" lvl="1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Estrategia de Juego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Buscar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un </a:t>
            </a:r>
            <a:r>
              <a:rPr kumimoji="0" lang="en-US" altLang="es-CO" sz="2000" b="0" dirty="0" err="1">
                <a:solidFill>
                  <a:srgbClr val="7030A0"/>
                </a:solidFill>
              </a:rPr>
              <a:t>camino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en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el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árbol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que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permita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kumimoji="0" lang="en-U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llegar</a:t>
            </a:r>
            <a:r>
              <a:rPr kumimoji="0" lang="en-US" altLang="es-CO" sz="2000" b="0" dirty="0">
                <a:solidFill>
                  <a:schemeClr val="accent1">
                    <a:lumMod val="50000"/>
                  </a:schemeClr>
                </a:solidFill>
              </a:rPr>
              <a:t> a un </a:t>
            </a:r>
            <a:r>
              <a:rPr kumimoji="0" lang="en-US" altLang="es-CO" sz="2000" b="0" dirty="0" err="1">
                <a:solidFill>
                  <a:srgbClr val="7030A0"/>
                </a:solidFill>
              </a:rPr>
              <a:t>nodo</a:t>
            </a:r>
            <a:r>
              <a:rPr kumimoji="0" lang="en-US" altLang="es-CO" sz="2000" b="0" dirty="0">
                <a:solidFill>
                  <a:srgbClr val="7030A0"/>
                </a:solidFill>
              </a:rPr>
              <a:t> “</a:t>
            </a:r>
            <a:r>
              <a:rPr kumimoji="0" lang="en-US" altLang="es-CO" sz="2000" b="0" dirty="0" err="1">
                <a:solidFill>
                  <a:srgbClr val="7030A0"/>
                </a:solidFill>
              </a:rPr>
              <a:t>ganador</a:t>
            </a:r>
            <a:r>
              <a:rPr kumimoji="0" lang="en-US" altLang="es-CO" sz="2000" b="0" dirty="0">
                <a:solidFill>
                  <a:srgbClr val="7030A0"/>
                </a:solidFill>
              </a:rPr>
              <a:t>”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2" descr="C:\Users\MAPA\Desktop\AI_Games_SI\arbol_navidad.gif"/>
          <p:cNvPicPr>
            <a:picLocks noChangeAspect="1" noChangeArrowheads="1"/>
          </p:cNvPicPr>
          <p:nvPr/>
        </p:nvPicPr>
        <p:blipFill>
          <a:blip r:embed="rId3" cstate="print"/>
          <a:srcRect t="10079"/>
          <a:stretch>
            <a:fillRect/>
          </a:stretch>
        </p:blipFill>
        <p:spPr bwMode="auto">
          <a:xfrm>
            <a:off x="7526247" y="2194487"/>
            <a:ext cx="4301463" cy="30434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8850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2 – Juegos como Búsqueda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41911" y="1849072"/>
            <a:ext cx="10415627" cy="4832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Componentes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Estados / acciones</a:t>
            </a:r>
            <a:b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diferentes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situaciones válidas 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de desarrollo del juego – movimientos “legales”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Estado inicial</a:t>
            </a:r>
            <a:b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nodo raíz + jugador inicial – acorde con las reglas del juego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80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Función sucesor</a:t>
            </a:r>
            <a:b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operadores de movimiento – cambio de estado –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acciones aplicables 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a partir del estado actual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Prueba terminal</a:t>
            </a:r>
            <a:b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identificación de estados terminales – finalización del juego –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ganar, perder o empate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80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Función utilidad</a:t>
            </a:r>
            <a:b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función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heurística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objetivo – medida de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rentabilidad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de un estado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Cercanía a estados ganadores – </a:t>
            </a:r>
            <a:r>
              <a:rPr kumimoji="0" lang="es-E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ej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: distancia de Manhattan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Posicionamiento estratégico – </a:t>
            </a:r>
            <a:r>
              <a:rPr kumimoji="0" lang="es-E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ej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: dominio de una zona importante del tablero</a:t>
            </a:r>
            <a:endParaRPr kumimoji="0" lang="es-ES" altLang="es-CO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2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393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Estrategia MIN-MAX</a:t>
            </a:r>
          </a:p>
        </p:txBody>
      </p:sp>
      <p:sp>
        <p:nvSpPr>
          <p:cNvPr id="10" name="5 CuadroTexto"/>
          <p:cNvSpPr txBox="1"/>
          <p:nvPr/>
        </p:nvSpPr>
        <p:spPr>
          <a:xfrm>
            <a:off x="7228122" y="1401358"/>
            <a:ext cx="482293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dirty="0"/>
              <a:t>MAX: Jugador ‘X’</a:t>
            </a:r>
          </a:p>
          <a:p>
            <a:pPr algn="ctr"/>
            <a:r>
              <a:rPr lang="es-CO" dirty="0"/>
              <a:t>Asigna valores mayores a sus mejores opciones,</a:t>
            </a:r>
          </a:p>
          <a:p>
            <a:pPr algn="ctr"/>
            <a:r>
              <a:rPr lang="es-CO" dirty="0"/>
              <a:t>busca valores </a:t>
            </a:r>
            <a:r>
              <a:rPr lang="es-CO" dirty="0">
                <a:solidFill>
                  <a:srgbClr val="FFFF00"/>
                </a:solidFill>
              </a:rPr>
              <a:t>mayores desde la perspectiva de X</a:t>
            </a:r>
          </a:p>
        </p:txBody>
      </p:sp>
      <p:sp>
        <p:nvSpPr>
          <p:cNvPr id="11" name="6 CuadroTexto"/>
          <p:cNvSpPr txBox="1"/>
          <p:nvPr/>
        </p:nvSpPr>
        <p:spPr>
          <a:xfrm>
            <a:off x="7228122" y="5848475"/>
            <a:ext cx="482293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dirty="0"/>
              <a:t>MIN: Jugador ‘O’</a:t>
            </a:r>
          </a:p>
          <a:p>
            <a:pPr algn="ctr"/>
            <a:r>
              <a:rPr lang="es-CO" dirty="0"/>
              <a:t>Sus mejores opciones son las peores para X, busca valores </a:t>
            </a:r>
            <a:r>
              <a:rPr lang="es-CO" dirty="0">
                <a:solidFill>
                  <a:srgbClr val="FFFF00"/>
                </a:solidFill>
              </a:rPr>
              <a:t>menores desde la perspectiva de X</a:t>
            </a:r>
          </a:p>
        </p:txBody>
      </p:sp>
      <p:sp>
        <p:nvSpPr>
          <p:cNvPr id="5" name="Rectángulo 4"/>
          <p:cNvSpPr/>
          <p:nvPr/>
        </p:nvSpPr>
        <p:spPr>
          <a:xfrm>
            <a:off x="9363086" y="4171909"/>
            <a:ext cx="1547126" cy="1569438"/>
          </a:xfrm>
          <a:prstGeom prst="rect">
            <a:avLst/>
          </a:prstGeom>
          <a:noFill/>
          <a:ln w="57150">
            <a:solidFill>
              <a:srgbClr val="FF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/>
          <p:cNvSpPr/>
          <p:nvPr/>
        </p:nvSpPr>
        <p:spPr>
          <a:xfrm>
            <a:off x="9363086" y="2427330"/>
            <a:ext cx="1547126" cy="156943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4" name="Grupo 13"/>
          <p:cNvGrpSpPr/>
          <p:nvPr/>
        </p:nvGrpSpPr>
        <p:grpSpPr>
          <a:xfrm>
            <a:off x="7346616" y="3260497"/>
            <a:ext cx="1538234" cy="1590759"/>
            <a:chOff x="7982355" y="3260497"/>
            <a:chExt cx="1538234" cy="1590759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82355" y="3260497"/>
              <a:ext cx="1538234" cy="1590759"/>
            </a:xfrm>
            <a:prstGeom prst="rect">
              <a:avLst/>
            </a:prstGeom>
          </p:spPr>
        </p:pic>
        <p:sp>
          <p:nvSpPr>
            <p:cNvPr id="13" name="Rectángulo 12"/>
            <p:cNvSpPr/>
            <p:nvPr/>
          </p:nvSpPr>
          <p:spPr>
            <a:xfrm>
              <a:off x="8061745" y="3840437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2" name="Grupo 31"/>
          <p:cNvGrpSpPr/>
          <p:nvPr/>
        </p:nvGrpSpPr>
        <p:grpSpPr>
          <a:xfrm>
            <a:off x="9363087" y="4172495"/>
            <a:ext cx="1547125" cy="1569438"/>
            <a:chOff x="9998826" y="4172495"/>
            <a:chExt cx="1547125" cy="1569438"/>
          </a:xfrm>
        </p:grpSpPr>
        <p:grpSp>
          <p:nvGrpSpPr>
            <p:cNvPr id="3" name="Grupo 2"/>
            <p:cNvGrpSpPr/>
            <p:nvPr/>
          </p:nvGrpSpPr>
          <p:grpSpPr>
            <a:xfrm>
              <a:off x="9998826" y="4172495"/>
              <a:ext cx="1547125" cy="1569438"/>
              <a:chOff x="9879130" y="2728215"/>
              <a:chExt cx="1317787" cy="1317787"/>
            </a:xfrm>
          </p:grpSpPr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879130" y="2728215"/>
                <a:ext cx="1317787" cy="1317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" name="Picture 3"/>
              <p:cNvPicPr>
                <a:picLocks noChangeAspect="1" noChangeArrowheads="1"/>
              </p:cNvPicPr>
              <p:nvPr/>
            </p:nvPicPr>
            <p:blipFill rotWithShape="1">
              <a:blip r:embed="rId4" cstate="print"/>
              <a:srcRect l="67430" t="4026" r="9225" b="70033"/>
              <a:stretch/>
            </p:blipFill>
            <p:spPr bwMode="auto">
              <a:xfrm>
                <a:off x="10793337" y="3206439"/>
                <a:ext cx="307649" cy="341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" name="Rectángulo 1"/>
              <p:cNvSpPr/>
              <p:nvPr/>
            </p:nvSpPr>
            <p:spPr>
              <a:xfrm>
                <a:off x="10772757" y="2796276"/>
                <a:ext cx="328230" cy="3506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7" name="Rectángulo 26"/>
            <p:cNvSpPr/>
            <p:nvPr/>
          </p:nvSpPr>
          <p:spPr>
            <a:xfrm>
              <a:off x="10078154" y="4744147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Rectángulo 27"/>
            <p:cNvSpPr/>
            <p:nvPr/>
          </p:nvSpPr>
          <p:spPr>
            <a:xfrm>
              <a:off x="11072135" y="4744147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9363087" y="2427330"/>
            <a:ext cx="1547125" cy="1569438"/>
            <a:chOff x="9998826" y="2427330"/>
            <a:chExt cx="1547125" cy="1569438"/>
          </a:xfrm>
        </p:grpSpPr>
        <p:grpSp>
          <p:nvGrpSpPr>
            <p:cNvPr id="6" name="Grupo 5"/>
            <p:cNvGrpSpPr/>
            <p:nvPr/>
          </p:nvGrpSpPr>
          <p:grpSpPr>
            <a:xfrm>
              <a:off x="9998826" y="2427330"/>
              <a:ext cx="1547125" cy="1569438"/>
              <a:chOff x="9879130" y="5150984"/>
              <a:chExt cx="1317787" cy="1317787"/>
            </a:xfrm>
          </p:grpSpPr>
          <p:pic>
            <p:nvPicPr>
              <p:cNvPr id="12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9879130" y="5150984"/>
                <a:ext cx="1317787" cy="13177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4" cstate="print"/>
              <a:srcRect l="67430" t="4026" r="9225" b="70033"/>
              <a:stretch/>
            </p:blipFill>
            <p:spPr bwMode="auto">
              <a:xfrm>
                <a:off x="9926555" y="6064534"/>
                <a:ext cx="307649" cy="341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0" name="Rectángulo 19"/>
              <p:cNvSpPr/>
              <p:nvPr/>
            </p:nvSpPr>
            <p:spPr>
              <a:xfrm>
                <a:off x="10783046" y="6080763"/>
                <a:ext cx="328230" cy="3506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4" name="Rectángulo 23"/>
            <p:cNvSpPr/>
            <p:nvPr/>
          </p:nvSpPr>
          <p:spPr>
            <a:xfrm>
              <a:off x="10078154" y="2996880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Rectángulo 25"/>
            <p:cNvSpPr/>
            <p:nvPr/>
          </p:nvSpPr>
          <p:spPr>
            <a:xfrm>
              <a:off x="10078154" y="3516539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Rectángulo 28"/>
            <p:cNvSpPr/>
            <p:nvPr/>
          </p:nvSpPr>
          <p:spPr>
            <a:xfrm>
              <a:off x="11072135" y="2499113"/>
              <a:ext cx="365080" cy="422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33" name="Grupo 32"/>
          <p:cNvGrpSpPr/>
          <p:nvPr/>
        </p:nvGrpSpPr>
        <p:grpSpPr>
          <a:xfrm>
            <a:off x="2064101" y="2640862"/>
            <a:ext cx="2821232" cy="2821232"/>
            <a:chOff x="2310868" y="1179493"/>
            <a:chExt cx="2821232" cy="2821232"/>
          </a:xfrm>
        </p:grpSpPr>
        <p:sp>
          <p:nvSpPr>
            <p:cNvPr id="34" name="Elipse 33"/>
            <p:cNvSpPr/>
            <p:nvPr/>
          </p:nvSpPr>
          <p:spPr>
            <a:xfrm>
              <a:off x="2310868" y="1179493"/>
              <a:ext cx="2821232" cy="2821232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alpha val="5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5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35" name="Elipse 4"/>
            <p:cNvSpPr txBox="1"/>
            <p:nvPr/>
          </p:nvSpPr>
          <p:spPr>
            <a:xfrm>
              <a:off x="2724028" y="1592653"/>
              <a:ext cx="1994912" cy="19949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35560" tIns="35560" rIns="35560" bIns="3556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2800" kern="1200" dirty="0">
                  <a:solidFill>
                    <a:srgbClr val="FFFF00"/>
                  </a:solidFill>
                </a:rPr>
                <a:t>MIN-MAX</a:t>
              </a:r>
              <a:endParaRPr lang="es-CO" sz="3200" kern="12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480778" y="1744219"/>
            <a:ext cx="1808791" cy="1563611"/>
            <a:chOff x="3816353" y="266706"/>
            <a:chExt cx="1808791" cy="1563611"/>
          </a:xfrm>
        </p:grpSpPr>
        <p:sp>
          <p:nvSpPr>
            <p:cNvPr id="46" name="Elipse 45"/>
            <p:cNvSpPr/>
            <p:nvPr/>
          </p:nvSpPr>
          <p:spPr>
            <a:xfrm>
              <a:off x="3816353" y="266706"/>
              <a:ext cx="1808791" cy="1563611"/>
            </a:xfrm>
            <a:prstGeom prst="ellipse">
              <a:avLst/>
            </a:prstGeom>
            <a:solidFill>
              <a:srgbClr val="00B050">
                <a:alpha val="70000"/>
              </a:srgb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5">
                <a:alpha val="50000"/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7" name="Elipse 4"/>
            <p:cNvSpPr txBox="1"/>
            <p:nvPr/>
          </p:nvSpPr>
          <p:spPr>
            <a:xfrm>
              <a:off x="4081244" y="495692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Nodos - Estados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Estados de juego</a:t>
              </a:r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1706323" y="1758508"/>
            <a:ext cx="1808791" cy="1563611"/>
            <a:chOff x="2146467" y="256944"/>
            <a:chExt cx="1808791" cy="1563611"/>
          </a:xfrm>
        </p:grpSpPr>
        <p:sp>
          <p:nvSpPr>
            <p:cNvPr id="44" name="Elipse 43"/>
            <p:cNvSpPr/>
            <p:nvPr/>
          </p:nvSpPr>
          <p:spPr>
            <a:xfrm>
              <a:off x="2146467" y="256944"/>
              <a:ext cx="1808791" cy="1563611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alpha val="50000"/>
                <a:hueOff val="-4827531"/>
                <a:satOff val="-12442"/>
                <a:lumOff val="-8404"/>
                <a:alphaOff val="0"/>
              </a:schemeClr>
            </a:fillRef>
            <a:effectRef idx="3">
              <a:schemeClr val="accent5">
                <a:alpha val="50000"/>
                <a:hueOff val="-4827531"/>
                <a:satOff val="-12442"/>
                <a:lumOff val="-8404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5" name="Elipse 6"/>
            <p:cNvSpPr txBox="1"/>
            <p:nvPr/>
          </p:nvSpPr>
          <p:spPr>
            <a:xfrm>
              <a:off x="2411358" y="485930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Árbol de Juego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Exploración </a:t>
              </a:r>
              <a:r>
                <a:rPr lang="es-CO" sz="1200" kern="1200" dirty="0">
                  <a:solidFill>
                    <a:srgbClr val="00FFFF"/>
                  </a:solidFill>
                </a:rPr>
                <a:t>progresiva y parcial</a:t>
              </a: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652645" y="2945774"/>
            <a:ext cx="1808791" cy="1563611"/>
            <a:chOff x="998348" y="1411320"/>
            <a:chExt cx="1808791" cy="1563611"/>
          </a:xfrm>
        </p:grpSpPr>
        <p:sp>
          <p:nvSpPr>
            <p:cNvPr id="42" name="Elipse 41"/>
            <p:cNvSpPr/>
            <p:nvPr/>
          </p:nvSpPr>
          <p:spPr>
            <a:xfrm>
              <a:off x="998348" y="1411320"/>
              <a:ext cx="1808791" cy="1563611"/>
            </a:xfrm>
            <a:prstGeom prst="ellipse">
              <a:avLst/>
            </a:prstGeom>
            <a:solidFill>
              <a:srgbClr val="00B050">
                <a:alpha val="70000"/>
              </a:srgb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5">
                <a:alpha val="50000"/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3" name="Elipse 8"/>
            <p:cNvSpPr txBox="1"/>
            <p:nvPr/>
          </p:nvSpPr>
          <p:spPr>
            <a:xfrm>
              <a:off x="1263239" y="1640306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Arcos - Acciones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Movimientos o jugadas</a:t>
              </a: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4459173" y="2983775"/>
            <a:ext cx="1808791" cy="1563611"/>
            <a:chOff x="4812182" y="1537904"/>
            <a:chExt cx="1808791" cy="1563611"/>
          </a:xfrm>
        </p:grpSpPr>
        <p:sp>
          <p:nvSpPr>
            <p:cNvPr id="40" name="Elipse 39"/>
            <p:cNvSpPr/>
            <p:nvPr/>
          </p:nvSpPr>
          <p:spPr>
            <a:xfrm>
              <a:off x="4812182" y="1537904"/>
              <a:ext cx="1808791" cy="1563611"/>
            </a:xfrm>
            <a:prstGeom prst="ellipse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alpha val="50000"/>
                <a:hueOff val="-6758543"/>
                <a:satOff val="-17419"/>
                <a:lumOff val="-11765"/>
                <a:alphaOff val="0"/>
              </a:schemeClr>
            </a:fillRef>
            <a:effectRef idx="3">
              <a:schemeClr val="accent5">
                <a:alpha val="50000"/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41" name="Elipse 10"/>
            <p:cNvSpPr txBox="1"/>
            <p:nvPr/>
          </p:nvSpPr>
          <p:spPr>
            <a:xfrm>
              <a:off x="5077073" y="1766890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Número de Estados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rgbClr val="00FFFF"/>
                  </a:solidFill>
                </a:rPr>
                <a:t>Exponencial</a:t>
              </a:r>
              <a:r>
                <a:rPr lang="es-CO" sz="1200" kern="1200" dirty="0">
                  <a:solidFill>
                    <a:schemeClr val="bg1"/>
                  </a:solidFill>
                </a:rPr>
                <a:t> con la cantidad de posibles movimientos</a:t>
              </a:r>
            </a:p>
          </p:txBody>
        </p:sp>
      </p:grpSp>
      <p:grpSp>
        <p:nvGrpSpPr>
          <p:cNvPr id="48" name="Grupo 47"/>
          <p:cNvGrpSpPr/>
          <p:nvPr/>
        </p:nvGrpSpPr>
        <p:grpSpPr>
          <a:xfrm>
            <a:off x="3990962" y="4410670"/>
            <a:ext cx="1808791" cy="1563611"/>
            <a:chOff x="4271304" y="2944127"/>
            <a:chExt cx="1808791" cy="1563611"/>
          </a:xfrm>
          <a:solidFill>
            <a:srgbClr val="7030A0"/>
          </a:solidFill>
        </p:grpSpPr>
        <p:sp>
          <p:nvSpPr>
            <p:cNvPr id="55" name="Elipse 54"/>
            <p:cNvSpPr/>
            <p:nvPr/>
          </p:nvSpPr>
          <p:spPr>
            <a:xfrm>
              <a:off x="4271304" y="2944127"/>
              <a:ext cx="1808791" cy="1563611"/>
            </a:xfrm>
            <a:prstGeom prst="ellipse">
              <a:avLst/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5">
                <a:alpha val="50000"/>
                <a:hueOff val="-965506"/>
                <a:satOff val="-2488"/>
                <a:lumOff val="-1681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6" name="Elipse 4"/>
            <p:cNvSpPr txBox="1"/>
            <p:nvPr/>
          </p:nvSpPr>
          <p:spPr>
            <a:xfrm>
              <a:off x="4536195" y="3173113"/>
              <a:ext cx="1279009" cy="110563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Valor MIN-MAX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dirty="0">
                  <a:solidFill>
                    <a:schemeClr val="bg1"/>
                  </a:solidFill>
                </a:rPr>
                <a:t>Función heurística </a:t>
              </a:r>
              <a:r>
                <a:rPr lang="es-CO" sz="1200" kern="1200" dirty="0">
                  <a:solidFill>
                    <a:srgbClr val="00FFFF"/>
                  </a:solidFill>
                </a:rPr>
                <a:t>utilidad</a:t>
              </a:r>
              <a:endParaRPr lang="es-CO" sz="1200" kern="1200" dirty="0">
                <a:solidFill>
                  <a:schemeClr val="bg1"/>
                </a:solidFill>
              </a:endParaRP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Valoración estado actual</a:t>
              </a:r>
            </a:p>
          </p:txBody>
        </p:sp>
      </p:grpSp>
      <p:grpSp>
        <p:nvGrpSpPr>
          <p:cNvPr id="49" name="Grupo 48"/>
          <p:cNvGrpSpPr/>
          <p:nvPr/>
        </p:nvGrpSpPr>
        <p:grpSpPr>
          <a:xfrm>
            <a:off x="945640" y="4410671"/>
            <a:ext cx="1808791" cy="1563611"/>
            <a:chOff x="1361794" y="2812383"/>
            <a:chExt cx="1808791" cy="1563611"/>
          </a:xfrm>
        </p:grpSpPr>
        <p:sp>
          <p:nvSpPr>
            <p:cNvPr id="53" name="Elipse 52"/>
            <p:cNvSpPr/>
            <p:nvPr/>
          </p:nvSpPr>
          <p:spPr>
            <a:xfrm>
              <a:off x="1361794" y="2812383"/>
              <a:ext cx="1808791" cy="1563611"/>
            </a:xfrm>
            <a:prstGeom prst="ellipse">
              <a:avLst/>
            </a:prstGeom>
            <a:solidFill>
              <a:schemeClr val="accent5">
                <a:lumMod val="75000"/>
                <a:alpha val="7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5">
                <a:alpha val="50000"/>
                <a:hueOff val="-2896518"/>
                <a:satOff val="-7465"/>
                <a:lumOff val="-5042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4" name="Elipse 6"/>
            <p:cNvSpPr txBox="1"/>
            <p:nvPr/>
          </p:nvSpPr>
          <p:spPr>
            <a:xfrm>
              <a:off x="1626685" y="3041369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Actores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MAX</a:t>
              </a:r>
            </a:p>
            <a:p>
              <a:pPr marL="228600" lvl="2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Jugador IA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MIN</a:t>
              </a:r>
            </a:p>
            <a:p>
              <a:pPr marL="228600" lvl="2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chemeClr val="bg1"/>
                  </a:solidFill>
                </a:rPr>
                <a:t>Oponente</a:t>
              </a:r>
            </a:p>
          </p:txBody>
        </p:sp>
      </p:grpSp>
      <p:grpSp>
        <p:nvGrpSpPr>
          <p:cNvPr id="50" name="Grupo 49"/>
          <p:cNvGrpSpPr/>
          <p:nvPr/>
        </p:nvGrpSpPr>
        <p:grpSpPr>
          <a:xfrm>
            <a:off x="2447061" y="5023004"/>
            <a:ext cx="1808791" cy="1563611"/>
            <a:chOff x="2740654" y="3464562"/>
            <a:chExt cx="1808791" cy="1563611"/>
          </a:xfrm>
        </p:grpSpPr>
        <p:sp>
          <p:nvSpPr>
            <p:cNvPr id="51" name="Elipse 50"/>
            <p:cNvSpPr/>
            <p:nvPr/>
          </p:nvSpPr>
          <p:spPr>
            <a:xfrm>
              <a:off x="2740654" y="3464562"/>
              <a:ext cx="1808791" cy="1563611"/>
            </a:xfrm>
            <a:prstGeom prst="ellipse">
              <a:avLst/>
            </a:prstGeom>
            <a:solidFill>
              <a:schemeClr val="accent1">
                <a:lumMod val="75000"/>
                <a:alpha val="70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5">
                <a:alpha val="50000"/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2" name="Elipse 8"/>
            <p:cNvSpPr txBox="1"/>
            <p:nvPr/>
          </p:nvSpPr>
          <p:spPr>
            <a:xfrm>
              <a:off x="3005545" y="3693548"/>
              <a:ext cx="1279009" cy="11056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15240" tIns="15240" rIns="15240" bIns="15240" numCol="1" spcCol="1270" anchor="ctr" anchorCtr="0">
              <a:noAutofit/>
            </a:bodyPr>
            <a:lstStyle/>
            <a:p>
              <a:pPr lvl="0" algn="l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O" sz="1200" b="1" kern="1200" dirty="0">
                  <a:solidFill>
                    <a:srgbClr val="FFFF00"/>
                  </a:solidFill>
                </a:rPr>
                <a:t>Capas</a:t>
              </a:r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s-CO" sz="1200" kern="1200" dirty="0">
                  <a:solidFill>
                    <a:srgbClr val="00FFFF"/>
                  </a:solidFill>
                </a:rPr>
                <a:t>Turnos</a:t>
              </a:r>
              <a:r>
                <a:rPr lang="es-CO" sz="1200" kern="1200" dirty="0">
                  <a:solidFill>
                    <a:schemeClr val="bg1"/>
                  </a:solidFill>
                </a:rPr>
                <a:t> de Juego</a:t>
              </a:r>
            </a:p>
          </p:txBody>
        </p:sp>
      </p:grpSp>
      <p:cxnSp>
        <p:nvCxnSpPr>
          <p:cNvPr id="18" name="Conector recto de flecha 17"/>
          <p:cNvCxnSpPr/>
          <p:nvPr/>
        </p:nvCxnSpPr>
        <p:spPr>
          <a:xfrm flipV="1">
            <a:off x="8825596" y="3329206"/>
            <a:ext cx="492624" cy="3203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/>
          <p:nvPr/>
        </p:nvCxnSpPr>
        <p:spPr>
          <a:xfrm>
            <a:off x="8825596" y="4440577"/>
            <a:ext cx="492624" cy="23058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78 CuadroTexto"/>
          <p:cNvSpPr txBox="1"/>
          <p:nvPr/>
        </p:nvSpPr>
        <p:spPr>
          <a:xfrm>
            <a:off x="11033261" y="3045556"/>
            <a:ext cx="856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rgbClr val="0070C0"/>
                </a:solidFill>
              </a:rPr>
              <a:t>H = 5</a:t>
            </a:r>
            <a:endParaRPr lang="es-CO" sz="2000" dirty="0">
              <a:solidFill>
                <a:srgbClr val="0070C0"/>
              </a:solidFill>
            </a:endParaRPr>
          </a:p>
        </p:txBody>
      </p:sp>
      <p:sp>
        <p:nvSpPr>
          <p:cNvPr id="59" name="78 CuadroTexto"/>
          <p:cNvSpPr txBox="1"/>
          <p:nvPr/>
        </p:nvSpPr>
        <p:spPr>
          <a:xfrm>
            <a:off x="11033261" y="4744147"/>
            <a:ext cx="856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rgbClr val="0070C0"/>
                </a:solidFill>
              </a:rPr>
              <a:t>H = 0</a:t>
            </a:r>
            <a:endParaRPr lang="es-CO" sz="2000" dirty="0">
              <a:solidFill>
                <a:srgbClr val="0070C0"/>
              </a:solidFill>
            </a:endParaRPr>
          </a:p>
        </p:txBody>
      </p:sp>
      <p:sp>
        <p:nvSpPr>
          <p:cNvPr id="60" name="78 CuadroTexto"/>
          <p:cNvSpPr txBox="1"/>
          <p:nvPr/>
        </p:nvSpPr>
        <p:spPr>
          <a:xfrm rot="16200000">
            <a:off x="8563657" y="3841521"/>
            <a:ext cx="859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rgbClr val="0070C0"/>
                </a:solidFill>
              </a:rPr>
              <a:t>Turno X</a:t>
            </a:r>
            <a:endParaRPr lang="es-CO" sz="1600" b="1" dirty="0">
              <a:solidFill>
                <a:srgbClr val="0070C0"/>
              </a:solidFill>
            </a:endParaRPr>
          </a:p>
        </p:txBody>
      </p:sp>
      <p:sp>
        <p:nvSpPr>
          <p:cNvPr id="61" name="Rectángulo 60"/>
          <p:cNvSpPr/>
          <p:nvPr/>
        </p:nvSpPr>
        <p:spPr>
          <a:xfrm>
            <a:off x="10999124" y="4770920"/>
            <a:ext cx="830563" cy="362643"/>
          </a:xfrm>
          <a:prstGeom prst="rect">
            <a:avLst/>
          </a:prstGeom>
          <a:noFill/>
          <a:ln w="38100">
            <a:solidFill>
              <a:srgbClr val="FF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Rectángulo 61"/>
          <p:cNvSpPr/>
          <p:nvPr/>
        </p:nvSpPr>
        <p:spPr>
          <a:xfrm>
            <a:off x="10999124" y="3043759"/>
            <a:ext cx="830563" cy="3626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94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2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5" grpId="0" animBg="1"/>
      <p:bldP spid="17" grpId="0" animBg="1"/>
      <p:bldP spid="58" grpId="0"/>
      <p:bldP spid="59" grpId="0"/>
      <p:bldP spid="60" grpId="0"/>
      <p:bldP spid="61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Árbol de Juego MIN-MAX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1096"/>
          <a:stretch/>
        </p:blipFill>
        <p:spPr bwMode="auto">
          <a:xfrm>
            <a:off x="1512834" y="1692067"/>
            <a:ext cx="7281043" cy="4761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5 CuadroTexto"/>
          <p:cNvSpPr txBox="1"/>
          <p:nvPr/>
        </p:nvSpPr>
        <p:spPr>
          <a:xfrm>
            <a:off x="9282854" y="2025266"/>
            <a:ext cx="251034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MAX: Jugador 1</a:t>
            </a:r>
          </a:p>
          <a:p>
            <a:r>
              <a:rPr lang="es-CO" dirty="0"/>
              <a:t>Busca valores mayores</a:t>
            </a:r>
          </a:p>
        </p:txBody>
      </p:sp>
      <p:sp>
        <p:nvSpPr>
          <p:cNvPr id="12" name="6 CuadroTexto"/>
          <p:cNvSpPr txBox="1"/>
          <p:nvPr/>
        </p:nvSpPr>
        <p:spPr>
          <a:xfrm>
            <a:off x="9282854" y="2910568"/>
            <a:ext cx="251034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MIN: Jugador 2</a:t>
            </a:r>
          </a:p>
          <a:p>
            <a:r>
              <a:rPr lang="es-CO" dirty="0"/>
              <a:t>Busca valores menores</a:t>
            </a:r>
          </a:p>
        </p:txBody>
      </p:sp>
      <p:sp>
        <p:nvSpPr>
          <p:cNvPr id="8" name="5 CuadroTexto"/>
          <p:cNvSpPr txBox="1"/>
          <p:nvPr/>
        </p:nvSpPr>
        <p:spPr>
          <a:xfrm>
            <a:off x="9282854" y="3795870"/>
            <a:ext cx="251034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MAX: Jugador 1</a:t>
            </a:r>
          </a:p>
          <a:p>
            <a:r>
              <a:rPr lang="es-CO" dirty="0"/>
              <a:t>Busca valores mayores</a:t>
            </a:r>
          </a:p>
        </p:txBody>
      </p:sp>
      <p:sp>
        <p:nvSpPr>
          <p:cNvPr id="10" name="6 CuadroTexto"/>
          <p:cNvSpPr txBox="1"/>
          <p:nvPr/>
        </p:nvSpPr>
        <p:spPr>
          <a:xfrm>
            <a:off x="9282854" y="4681173"/>
            <a:ext cx="2510341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MIN: Jugador 2</a:t>
            </a:r>
          </a:p>
          <a:p>
            <a:r>
              <a:rPr lang="es-CO" dirty="0"/>
              <a:t>Busca valores menores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4D712D-D5DC-4715-A9FF-2D5FB583E529}"/>
              </a:ext>
            </a:extLst>
          </p:cNvPr>
          <p:cNvSpPr/>
          <p:nvPr/>
        </p:nvSpPr>
        <p:spPr>
          <a:xfrm>
            <a:off x="4162706" y="5571089"/>
            <a:ext cx="666235" cy="882248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924AB13-3B28-4781-A449-89C6CF744427}"/>
              </a:ext>
            </a:extLst>
          </p:cNvPr>
          <p:cNvSpPr/>
          <p:nvPr/>
        </p:nvSpPr>
        <p:spPr>
          <a:xfrm>
            <a:off x="2867807" y="5571089"/>
            <a:ext cx="666235" cy="882248"/>
          </a:xfrm>
          <a:prstGeom prst="rect">
            <a:avLst/>
          </a:prstGeom>
          <a:noFill/>
          <a:ln w="57150">
            <a:solidFill>
              <a:srgbClr val="FF99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370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sp>
        <p:nvSpPr>
          <p:cNvPr id="8" name="6 Triángulo isósceles"/>
          <p:cNvSpPr/>
          <p:nvPr/>
        </p:nvSpPr>
        <p:spPr>
          <a:xfrm>
            <a:off x="5432320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9" name="7 Triángulo isósceles"/>
          <p:cNvSpPr/>
          <p:nvPr/>
        </p:nvSpPr>
        <p:spPr>
          <a:xfrm>
            <a:off x="18319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8 Triángulo isósceles"/>
          <p:cNvSpPr/>
          <p:nvPr/>
        </p:nvSpPr>
        <p:spPr>
          <a:xfrm>
            <a:off x="262400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9 Triángulo isósceles"/>
          <p:cNvSpPr/>
          <p:nvPr/>
        </p:nvSpPr>
        <p:spPr>
          <a:xfrm>
            <a:off x="33440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6 Triángulo isósceles"/>
          <p:cNvSpPr/>
          <p:nvPr/>
        </p:nvSpPr>
        <p:spPr>
          <a:xfrm rot="10800000">
            <a:off x="2624008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7 Triángulo isósceles"/>
          <p:cNvSpPr/>
          <p:nvPr/>
        </p:nvSpPr>
        <p:spPr>
          <a:xfrm rot="10800000">
            <a:off x="543232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8 Triángulo isósceles"/>
          <p:cNvSpPr/>
          <p:nvPr/>
        </p:nvSpPr>
        <p:spPr>
          <a:xfrm rot="10800000">
            <a:off x="8096616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7" name="20 Conector recto de flecha"/>
          <p:cNvCxnSpPr>
            <a:stCxn id="8" idx="2"/>
            <a:endCxn id="14" idx="3"/>
          </p:cNvCxnSpPr>
          <p:nvPr/>
        </p:nvCxnSpPr>
        <p:spPr>
          <a:xfrm flipH="1">
            <a:off x="2948044" y="2708920"/>
            <a:ext cx="248427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23 Conector recto de flecha"/>
          <p:cNvCxnSpPr>
            <a:stCxn id="8" idx="3"/>
            <a:endCxn id="15" idx="3"/>
          </p:cNvCxnSpPr>
          <p:nvPr/>
        </p:nvCxnSpPr>
        <p:spPr>
          <a:xfrm>
            <a:off x="5756356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5 Conector recto de flecha"/>
          <p:cNvCxnSpPr>
            <a:stCxn id="8" idx="4"/>
            <a:endCxn id="16" idx="3"/>
          </p:cNvCxnSpPr>
          <p:nvPr/>
        </p:nvCxnSpPr>
        <p:spPr>
          <a:xfrm>
            <a:off x="6080392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29 Conector recto"/>
          <p:cNvCxnSpPr>
            <a:stCxn id="14" idx="0"/>
            <a:endCxn id="9" idx="0"/>
          </p:cNvCxnSpPr>
          <p:nvPr/>
        </p:nvCxnSpPr>
        <p:spPr>
          <a:xfrm flipH="1">
            <a:off x="215595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30 Conector recto"/>
          <p:cNvCxnSpPr>
            <a:stCxn id="14" idx="0"/>
            <a:endCxn id="12" idx="0"/>
          </p:cNvCxnSpPr>
          <p:nvPr/>
        </p:nvCxnSpPr>
        <p:spPr>
          <a:xfrm>
            <a:off x="294804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33 Conector recto"/>
          <p:cNvCxnSpPr>
            <a:stCxn id="14" idx="0"/>
            <a:endCxn id="13" idx="0"/>
          </p:cNvCxnSpPr>
          <p:nvPr/>
        </p:nvCxnSpPr>
        <p:spPr>
          <a:xfrm>
            <a:off x="294804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6 Triángulo isósceles"/>
          <p:cNvSpPr/>
          <p:nvPr/>
        </p:nvSpPr>
        <p:spPr>
          <a:xfrm>
            <a:off x="464023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37 Triángulo isósceles"/>
          <p:cNvSpPr/>
          <p:nvPr/>
        </p:nvSpPr>
        <p:spPr>
          <a:xfrm>
            <a:off x="54323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38 Triángulo isósceles"/>
          <p:cNvSpPr/>
          <p:nvPr/>
        </p:nvSpPr>
        <p:spPr>
          <a:xfrm>
            <a:off x="61524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39 Conector recto"/>
          <p:cNvCxnSpPr>
            <a:stCxn id="15" idx="0"/>
            <a:endCxn id="23" idx="0"/>
          </p:cNvCxnSpPr>
          <p:nvPr/>
        </p:nvCxnSpPr>
        <p:spPr>
          <a:xfrm flipH="1">
            <a:off x="496426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40 Conector recto"/>
          <p:cNvCxnSpPr>
            <a:stCxn id="15" idx="0"/>
            <a:endCxn id="24" idx="0"/>
          </p:cNvCxnSpPr>
          <p:nvPr/>
        </p:nvCxnSpPr>
        <p:spPr>
          <a:xfrm>
            <a:off x="575635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41 Conector recto"/>
          <p:cNvCxnSpPr>
            <a:stCxn id="15" idx="0"/>
            <a:endCxn id="25" idx="0"/>
          </p:cNvCxnSpPr>
          <p:nvPr/>
        </p:nvCxnSpPr>
        <p:spPr>
          <a:xfrm>
            <a:off x="575635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45 Triángulo isósceles"/>
          <p:cNvSpPr/>
          <p:nvPr/>
        </p:nvSpPr>
        <p:spPr>
          <a:xfrm>
            <a:off x="730452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46 Triángulo isósceles"/>
          <p:cNvSpPr/>
          <p:nvPr/>
        </p:nvSpPr>
        <p:spPr>
          <a:xfrm>
            <a:off x="809661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47 Triángulo isósceles"/>
          <p:cNvSpPr/>
          <p:nvPr/>
        </p:nvSpPr>
        <p:spPr>
          <a:xfrm>
            <a:off x="881669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48 Conector recto"/>
          <p:cNvCxnSpPr>
            <a:stCxn id="16" idx="0"/>
            <a:endCxn id="29" idx="0"/>
          </p:cNvCxnSpPr>
          <p:nvPr/>
        </p:nvCxnSpPr>
        <p:spPr>
          <a:xfrm flipH="1">
            <a:off x="7628564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49 Conector recto"/>
          <p:cNvCxnSpPr>
            <a:stCxn id="16" idx="0"/>
            <a:endCxn id="30" idx="0"/>
          </p:cNvCxnSpPr>
          <p:nvPr/>
        </p:nvCxnSpPr>
        <p:spPr>
          <a:xfrm>
            <a:off x="8420652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50 Conector recto"/>
          <p:cNvCxnSpPr>
            <a:stCxn id="16" idx="0"/>
            <a:endCxn id="32" idx="0"/>
          </p:cNvCxnSpPr>
          <p:nvPr/>
        </p:nvCxnSpPr>
        <p:spPr>
          <a:xfrm>
            <a:off x="8420652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8 CuadroTexto"/>
          <p:cNvSpPr txBox="1"/>
          <p:nvPr/>
        </p:nvSpPr>
        <p:spPr>
          <a:xfrm>
            <a:off x="276802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37" name="59 CuadroTexto"/>
          <p:cNvSpPr txBox="1"/>
          <p:nvPr/>
        </p:nvSpPr>
        <p:spPr>
          <a:xfrm>
            <a:off x="557633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38" name="60 CuadroTexto"/>
          <p:cNvSpPr txBox="1"/>
          <p:nvPr/>
        </p:nvSpPr>
        <p:spPr>
          <a:xfrm>
            <a:off x="8240632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42" name="67 CuadroTexto"/>
          <p:cNvSpPr txBox="1"/>
          <p:nvPr/>
        </p:nvSpPr>
        <p:spPr>
          <a:xfrm>
            <a:off x="19759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43" name="68 CuadroTexto"/>
          <p:cNvSpPr txBox="1"/>
          <p:nvPr/>
        </p:nvSpPr>
        <p:spPr>
          <a:xfrm>
            <a:off x="276802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44" name="69 CuadroTexto"/>
          <p:cNvSpPr txBox="1"/>
          <p:nvPr/>
        </p:nvSpPr>
        <p:spPr>
          <a:xfrm>
            <a:off x="35601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45" name="70 CuadroTexto"/>
          <p:cNvSpPr txBox="1"/>
          <p:nvPr/>
        </p:nvSpPr>
        <p:spPr>
          <a:xfrm>
            <a:off x="4784248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46" name="71 CuadroTexto"/>
          <p:cNvSpPr txBox="1"/>
          <p:nvPr/>
        </p:nvSpPr>
        <p:spPr>
          <a:xfrm>
            <a:off x="55763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</a:t>
            </a:r>
          </a:p>
        </p:txBody>
      </p:sp>
      <p:sp>
        <p:nvSpPr>
          <p:cNvPr id="47" name="72 CuadroTexto"/>
          <p:cNvSpPr txBox="1"/>
          <p:nvPr/>
        </p:nvSpPr>
        <p:spPr>
          <a:xfrm>
            <a:off x="62964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6</a:t>
            </a:r>
          </a:p>
        </p:txBody>
      </p:sp>
      <p:sp>
        <p:nvSpPr>
          <p:cNvPr id="48" name="73 CuadroTexto"/>
          <p:cNvSpPr txBox="1"/>
          <p:nvPr/>
        </p:nvSpPr>
        <p:spPr>
          <a:xfrm>
            <a:off x="744854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14</a:t>
            </a:r>
          </a:p>
        </p:txBody>
      </p:sp>
      <p:sp>
        <p:nvSpPr>
          <p:cNvPr id="49" name="74 CuadroTexto"/>
          <p:cNvSpPr txBox="1"/>
          <p:nvPr/>
        </p:nvSpPr>
        <p:spPr>
          <a:xfrm>
            <a:off x="831264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</a:p>
        </p:txBody>
      </p:sp>
      <p:sp>
        <p:nvSpPr>
          <p:cNvPr id="50" name="75 CuadroTexto"/>
          <p:cNvSpPr txBox="1"/>
          <p:nvPr/>
        </p:nvSpPr>
        <p:spPr>
          <a:xfrm>
            <a:off x="903272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51" name="76 CuadroTexto"/>
          <p:cNvSpPr txBox="1"/>
          <p:nvPr/>
        </p:nvSpPr>
        <p:spPr>
          <a:xfrm>
            <a:off x="4136176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52" name="77 CuadroTexto"/>
          <p:cNvSpPr txBox="1"/>
          <p:nvPr/>
        </p:nvSpPr>
        <p:spPr>
          <a:xfrm>
            <a:off x="5720352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53" name="78 CuadroTexto"/>
          <p:cNvSpPr txBox="1"/>
          <p:nvPr/>
        </p:nvSpPr>
        <p:spPr>
          <a:xfrm>
            <a:off x="694448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54" name="79 CuadroTexto"/>
          <p:cNvSpPr txBox="1"/>
          <p:nvPr/>
        </p:nvSpPr>
        <p:spPr>
          <a:xfrm>
            <a:off x="2047944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55" name="80 CuadroTexto"/>
          <p:cNvSpPr txBox="1"/>
          <p:nvPr/>
        </p:nvSpPr>
        <p:spPr>
          <a:xfrm>
            <a:off x="2624008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56" name="81 CuadroTexto"/>
          <p:cNvSpPr txBox="1"/>
          <p:nvPr/>
        </p:nvSpPr>
        <p:spPr>
          <a:xfrm>
            <a:off x="3488104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57" name="82 CuadroTexto"/>
          <p:cNvSpPr txBox="1"/>
          <p:nvPr/>
        </p:nvSpPr>
        <p:spPr>
          <a:xfrm>
            <a:off x="6152400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58" name="83 CuadroTexto"/>
          <p:cNvSpPr txBox="1"/>
          <p:nvPr/>
        </p:nvSpPr>
        <p:spPr>
          <a:xfrm>
            <a:off x="543232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59" name="84 CuadroTexto"/>
          <p:cNvSpPr txBox="1"/>
          <p:nvPr/>
        </p:nvSpPr>
        <p:spPr>
          <a:xfrm>
            <a:off x="485625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60" name="85 CuadroTexto"/>
          <p:cNvSpPr txBox="1"/>
          <p:nvPr/>
        </p:nvSpPr>
        <p:spPr>
          <a:xfrm>
            <a:off x="7736576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61" name="86 CuadroTexto"/>
          <p:cNvSpPr txBox="1"/>
          <p:nvPr/>
        </p:nvSpPr>
        <p:spPr>
          <a:xfrm>
            <a:off x="8312640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62" name="87 CuadroTexto"/>
          <p:cNvSpPr txBox="1"/>
          <p:nvPr/>
        </p:nvSpPr>
        <p:spPr>
          <a:xfrm>
            <a:off x="8816696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E5BE0890-EE0E-4425-8416-ACEF1668E40E}"/>
              </a:ext>
            </a:extLst>
          </p:cNvPr>
          <p:cNvSpPr/>
          <p:nvPr/>
        </p:nvSpPr>
        <p:spPr>
          <a:xfrm>
            <a:off x="7218629" y="4982794"/>
            <a:ext cx="789045" cy="110286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7AE1882F-E7FA-4930-90C8-1AEC837CEF4B}"/>
              </a:ext>
            </a:extLst>
          </p:cNvPr>
          <p:cNvSpPr/>
          <p:nvPr/>
        </p:nvSpPr>
        <p:spPr>
          <a:xfrm>
            <a:off x="6820695" y="2766918"/>
            <a:ext cx="644784" cy="417210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C649371D-5242-4ABC-BCB4-9B68A3A2FB07}"/>
              </a:ext>
            </a:extLst>
          </p:cNvPr>
          <p:cNvSpPr/>
          <p:nvPr/>
        </p:nvSpPr>
        <p:spPr>
          <a:xfrm>
            <a:off x="8756728" y="4982794"/>
            <a:ext cx="789045" cy="1102860"/>
          </a:xfrm>
          <a:prstGeom prst="rect">
            <a:avLst/>
          </a:prstGeom>
          <a:noFill/>
          <a:ln w="57150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74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sp>
        <p:nvSpPr>
          <p:cNvPr id="8" name="6 Triángulo isósceles"/>
          <p:cNvSpPr/>
          <p:nvPr/>
        </p:nvSpPr>
        <p:spPr>
          <a:xfrm>
            <a:off x="5432320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9" name="7 Triángulo isósceles"/>
          <p:cNvSpPr/>
          <p:nvPr/>
        </p:nvSpPr>
        <p:spPr>
          <a:xfrm>
            <a:off x="18319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8 Triángulo isósceles"/>
          <p:cNvSpPr/>
          <p:nvPr/>
        </p:nvSpPr>
        <p:spPr>
          <a:xfrm>
            <a:off x="262400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9 Triángulo isósceles"/>
          <p:cNvSpPr/>
          <p:nvPr/>
        </p:nvSpPr>
        <p:spPr>
          <a:xfrm>
            <a:off x="33440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6 Triángulo isósceles"/>
          <p:cNvSpPr/>
          <p:nvPr/>
        </p:nvSpPr>
        <p:spPr>
          <a:xfrm rot="10800000">
            <a:off x="2624008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7 Triángulo isósceles"/>
          <p:cNvSpPr/>
          <p:nvPr/>
        </p:nvSpPr>
        <p:spPr>
          <a:xfrm rot="10800000">
            <a:off x="543232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8 Triángulo isósceles"/>
          <p:cNvSpPr/>
          <p:nvPr/>
        </p:nvSpPr>
        <p:spPr>
          <a:xfrm rot="10800000">
            <a:off x="8096616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7" name="20 Conector recto de flecha"/>
          <p:cNvCxnSpPr>
            <a:stCxn id="8" idx="2"/>
            <a:endCxn id="14" idx="3"/>
          </p:cNvCxnSpPr>
          <p:nvPr/>
        </p:nvCxnSpPr>
        <p:spPr>
          <a:xfrm flipH="1">
            <a:off x="2948044" y="2708920"/>
            <a:ext cx="248427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23 Conector recto de flecha"/>
          <p:cNvCxnSpPr>
            <a:stCxn id="8" idx="3"/>
            <a:endCxn id="15" idx="3"/>
          </p:cNvCxnSpPr>
          <p:nvPr/>
        </p:nvCxnSpPr>
        <p:spPr>
          <a:xfrm>
            <a:off x="5756356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5 Conector recto de flecha"/>
          <p:cNvCxnSpPr>
            <a:stCxn id="8" idx="4"/>
            <a:endCxn id="16" idx="3"/>
          </p:cNvCxnSpPr>
          <p:nvPr/>
        </p:nvCxnSpPr>
        <p:spPr>
          <a:xfrm>
            <a:off x="6080392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29 Conector recto"/>
          <p:cNvCxnSpPr>
            <a:stCxn id="14" idx="0"/>
            <a:endCxn id="9" idx="0"/>
          </p:cNvCxnSpPr>
          <p:nvPr/>
        </p:nvCxnSpPr>
        <p:spPr>
          <a:xfrm flipH="1">
            <a:off x="215595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30 Conector recto"/>
          <p:cNvCxnSpPr>
            <a:stCxn id="14" idx="0"/>
            <a:endCxn id="12" idx="0"/>
          </p:cNvCxnSpPr>
          <p:nvPr/>
        </p:nvCxnSpPr>
        <p:spPr>
          <a:xfrm>
            <a:off x="294804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33 Conector recto"/>
          <p:cNvCxnSpPr>
            <a:stCxn id="14" idx="0"/>
            <a:endCxn id="13" idx="0"/>
          </p:cNvCxnSpPr>
          <p:nvPr/>
        </p:nvCxnSpPr>
        <p:spPr>
          <a:xfrm>
            <a:off x="294804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6 Triángulo isósceles"/>
          <p:cNvSpPr/>
          <p:nvPr/>
        </p:nvSpPr>
        <p:spPr>
          <a:xfrm>
            <a:off x="464023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37 Triángulo isósceles"/>
          <p:cNvSpPr/>
          <p:nvPr/>
        </p:nvSpPr>
        <p:spPr>
          <a:xfrm>
            <a:off x="54323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38 Triángulo isósceles"/>
          <p:cNvSpPr/>
          <p:nvPr/>
        </p:nvSpPr>
        <p:spPr>
          <a:xfrm>
            <a:off x="61524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39 Conector recto"/>
          <p:cNvCxnSpPr>
            <a:stCxn id="15" idx="0"/>
            <a:endCxn id="23" idx="0"/>
          </p:cNvCxnSpPr>
          <p:nvPr/>
        </p:nvCxnSpPr>
        <p:spPr>
          <a:xfrm flipH="1">
            <a:off x="496426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40 Conector recto"/>
          <p:cNvCxnSpPr>
            <a:stCxn id="15" idx="0"/>
            <a:endCxn id="24" idx="0"/>
          </p:cNvCxnSpPr>
          <p:nvPr/>
        </p:nvCxnSpPr>
        <p:spPr>
          <a:xfrm>
            <a:off x="575635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41 Conector recto"/>
          <p:cNvCxnSpPr>
            <a:stCxn id="15" idx="0"/>
            <a:endCxn id="25" idx="0"/>
          </p:cNvCxnSpPr>
          <p:nvPr/>
        </p:nvCxnSpPr>
        <p:spPr>
          <a:xfrm>
            <a:off x="575635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45 Triángulo isósceles"/>
          <p:cNvSpPr/>
          <p:nvPr/>
        </p:nvSpPr>
        <p:spPr>
          <a:xfrm>
            <a:off x="730452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46 Triángulo isósceles"/>
          <p:cNvSpPr/>
          <p:nvPr/>
        </p:nvSpPr>
        <p:spPr>
          <a:xfrm>
            <a:off x="809661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47 Triángulo isósceles"/>
          <p:cNvSpPr/>
          <p:nvPr/>
        </p:nvSpPr>
        <p:spPr>
          <a:xfrm>
            <a:off x="881669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48 Conector recto"/>
          <p:cNvCxnSpPr>
            <a:stCxn id="16" idx="0"/>
            <a:endCxn id="29" idx="0"/>
          </p:cNvCxnSpPr>
          <p:nvPr/>
        </p:nvCxnSpPr>
        <p:spPr>
          <a:xfrm flipH="1">
            <a:off x="7628564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49 Conector recto"/>
          <p:cNvCxnSpPr>
            <a:stCxn id="16" idx="0"/>
            <a:endCxn id="30" idx="0"/>
          </p:cNvCxnSpPr>
          <p:nvPr/>
        </p:nvCxnSpPr>
        <p:spPr>
          <a:xfrm>
            <a:off x="8420652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50 Conector recto"/>
          <p:cNvCxnSpPr>
            <a:stCxn id="16" idx="0"/>
            <a:endCxn id="32" idx="0"/>
          </p:cNvCxnSpPr>
          <p:nvPr/>
        </p:nvCxnSpPr>
        <p:spPr>
          <a:xfrm>
            <a:off x="8420652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8 CuadroTexto"/>
          <p:cNvSpPr txBox="1"/>
          <p:nvPr/>
        </p:nvSpPr>
        <p:spPr>
          <a:xfrm>
            <a:off x="276802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37" name="59 CuadroTexto"/>
          <p:cNvSpPr txBox="1"/>
          <p:nvPr/>
        </p:nvSpPr>
        <p:spPr>
          <a:xfrm>
            <a:off x="557633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38" name="60 CuadroTexto"/>
          <p:cNvSpPr txBox="1"/>
          <p:nvPr/>
        </p:nvSpPr>
        <p:spPr>
          <a:xfrm>
            <a:off x="8240632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cxnSp>
        <p:nvCxnSpPr>
          <p:cNvPr id="39" name="62 Conector recto"/>
          <p:cNvCxnSpPr/>
          <p:nvPr/>
        </p:nvCxnSpPr>
        <p:spPr>
          <a:xfrm>
            <a:off x="1111840" y="3356992"/>
            <a:ext cx="8820472" cy="0"/>
          </a:xfrm>
          <a:prstGeom prst="line">
            <a:avLst/>
          </a:prstGeom>
          <a:ln w="762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67 CuadroTexto"/>
          <p:cNvSpPr txBox="1"/>
          <p:nvPr/>
        </p:nvSpPr>
        <p:spPr>
          <a:xfrm>
            <a:off x="19759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43" name="68 CuadroTexto"/>
          <p:cNvSpPr txBox="1"/>
          <p:nvPr/>
        </p:nvSpPr>
        <p:spPr>
          <a:xfrm>
            <a:off x="276802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44" name="69 CuadroTexto"/>
          <p:cNvSpPr txBox="1"/>
          <p:nvPr/>
        </p:nvSpPr>
        <p:spPr>
          <a:xfrm>
            <a:off x="35601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45" name="70 CuadroTexto"/>
          <p:cNvSpPr txBox="1"/>
          <p:nvPr/>
        </p:nvSpPr>
        <p:spPr>
          <a:xfrm>
            <a:off x="4784248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46" name="71 CuadroTexto"/>
          <p:cNvSpPr txBox="1"/>
          <p:nvPr/>
        </p:nvSpPr>
        <p:spPr>
          <a:xfrm>
            <a:off x="55763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</a:t>
            </a:r>
          </a:p>
        </p:txBody>
      </p:sp>
      <p:sp>
        <p:nvSpPr>
          <p:cNvPr id="47" name="72 CuadroTexto"/>
          <p:cNvSpPr txBox="1"/>
          <p:nvPr/>
        </p:nvSpPr>
        <p:spPr>
          <a:xfrm>
            <a:off x="62964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6</a:t>
            </a:r>
          </a:p>
        </p:txBody>
      </p:sp>
      <p:sp>
        <p:nvSpPr>
          <p:cNvPr id="48" name="73 CuadroTexto"/>
          <p:cNvSpPr txBox="1"/>
          <p:nvPr/>
        </p:nvSpPr>
        <p:spPr>
          <a:xfrm>
            <a:off x="744854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14</a:t>
            </a:r>
          </a:p>
        </p:txBody>
      </p:sp>
      <p:sp>
        <p:nvSpPr>
          <p:cNvPr id="49" name="74 CuadroTexto"/>
          <p:cNvSpPr txBox="1"/>
          <p:nvPr/>
        </p:nvSpPr>
        <p:spPr>
          <a:xfrm>
            <a:off x="831264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</a:p>
        </p:txBody>
      </p:sp>
      <p:sp>
        <p:nvSpPr>
          <p:cNvPr id="50" name="75 CuadroTexto"/>
          <p:cNvSpPr txBox="1"/>
          <p:nvPr/>
        </p:nvSpPr>
        <p:spPr>
          <a:xfrm>
            <a:off x="903272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51" name="76 CuadroTexto"/>
          <p:cNvSpPr txBox="1"/>
          <p:nvPr/>
        </p:nvSpPr>
        <p:spPr>
          <a:xfrm>
            <a:off x="4136176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52" name="77 CuadroTexto"/>
          <p:cNvSpPr txBox="1"/>
          <p:nvPr/>
        </p:nvSpPr>
        <p:spPr>
          <a:xfrm>
            <a:off x="5720352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53" name="78 CuadroTexto"/>
          <p:cNvSpPr txBox="1"/>
          <p:nvPr/>
        </p:nvSpPr>
        <p:spPr>
          <a:xfrm>
            <a:off x="694448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54" name="79 CuadroTexto"/>
          <p:cNvSpPr txBox="1"/>
          <p:nvPr/>
        </p:nvSpPr>
        <p:spPr>
          <a:xfrm>
            <a:off x="2047944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55" name="80 CuadroTexto"/>
          <p:cNvSpPr txBox="1"/>
          <p:nvPr/>
        </p:nvSpPr>
        <p:spPr>
          <a:xfrm>
            <a:off x="2624008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56" name="81 CuadroTexto"/>
          <p:cNvSpPr txBox="1"/>
          <p:nvPr/>
        </p:nvSpPr>
        <p:spPr>
          <a:xfrm>
            <a:off x="3488104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57" name="82 CuadroTexto"/>
          <p:cNvSpPr txBox="1"/>
          <p:nvPr/>
        </p:nvSpPr>
        <p:spPr>
          <a:xfrm>
            <a:off x="6152400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58" name="83 CuadroTexto"/>
          <p:cNvSpPr txBox="1"/>
          <p:nvPr/>
        </p:nvSpPr>
        <p:spPr>
          <a:xfrm>
            <a:off x="543232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59" name="84 CuadroTexto"/>
          <p:cNvSpPr txBox="1"/>
          <p:nvPr/>
        </p:nvSpPr>
        <p:spPr>
          <a:xfrm>
            <a:off x="485625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60" name="85 CuadroTexto"/>
          <p:cNvSpPr txBox="1"/>
          <p:nvPr/>
        </p:nvSpPr>
        <p:spPr>
          <a:xfrm>
            <a:off x="7736576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61" name="86 CuadroTexto"/>
          <p:cNvSpPr txBox="1"/>
          <p:nvPr/>
        </p:nvSpPr>
        <p:spPr>
          <a:xfrm>
            <a:off x="8312640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62" name="87 CuadroTexto"/>
          <p:cNvSpPr txBox="1"/>
          <p:nvPr/>
        </p:nvSpPr>
        <p:spPr>
          <a:xfrm>
            <a:off x="8816696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63" name="5 CuadroTexto"/>
          <p:cNvSpPr txBox="1"/>
          <p:nvPr/>
        </p:nvSpPr>
        <p:spPr>
          <a:xfrm>
            <a:off x="9932312" y="3185650"/>
            <a:ext cx="16630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MAX: Jugador 1</a:t>
            </a:r>
          </a:p>
        </p:txBody>
      </p:sp>
      <p:cxnSp>
        <p:nvCxnSpPr>
          <p:cNvPr id="64" name="62 Conector recto"/>
          <p:cNvCxnSpPr/>
          <p:nvPr/>
        </p:nvCxnSpPr>
        <p:spPr>
          <a:xfrm>
            <a:off x="1111840" y="4464438"/>
            <a:ext cx="8820472" cy="0"/>
          </a:xfrm>
          <a:prstGeom prst="line">
            <a:avLst/>
          </a:prstGeom>
          <a:ln w="76200">
            <a:solidFill>
              <a:srgbClr val="FF9966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5 CuadroTexto"/>
          <p:cNvSpPr txBox="1"/>
          <p:nvPr/>
        </p:nvSpPr>
        <p:spPr>
          <a:xfrm>
            <a:off x="9932312" y="4293096"/>
            <a:ext cx="1663052" cy="369332"/>
          </a:xfrm>
          <a:prstGeom prst="rect">
            <a:avLst/>
          </a:prstGeom>
          <a:solidFill>
            <a:srgbClr val="FF9966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MIN: Jugador 2</a:t>
            </a:r>
          </a:p>
        </p:txBody>
      </p:sp>
    </p:spTree>
    <p:extLst>
      <p:ext uri="{BB962C8B-B14F-4D97-AF65-F5344CB8AC3E}">
        <p14:creationId xmlns:p14="http://schemas.microsoft.com/office/powerpoint/2010/main" val="254184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43" y="-5135"/>
            <a:ext cx="12201128" cy="6863135"/>
          </a:xfrm>
        </p:spPr>
      </p:pic>
      <p:cxnSp>
        <p:nvCxnSpPr>
          <p:cNvPr id="132" name="62 Conector recto"/>
          <p:cNvCxnSpPr/>
          <p:nvPr/>
        </p:nvCxnSpPr>
        <p:spPr>
          <a:xfrm>
            <a:off x="1111840" y="3356992"/>
            <a:ext cx="8820472" cy="0"/>
          </a:xfrm>
          <a:prstGeom prst="line">
            <a:avLst/>
          </a:prstGeom>
          <a:ln w="762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3" name="5 CuadroTexto"/>
          <p:cNvSpPr txBox="1"/>
          <p:nvPr/>
        </p:nvSpPr>
        <p:spPr>
          <a:xfrm>
            <a:off x="9932312" y="3185650"/>
            <a:ext cx="16630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MAX: Jugador 1</a:t>
            </a:r>
          </a:p>
        </p:txBody>
      </p:sp>
      <p:cxnSp>
        <p:nvCxnSpPr>
          <p:cNvPr id="134" name="62 Conector recto"/>
          <p:cNvCxnSpPr/>
          <p:nvPr/>
        </p:nvCxnSpPr>
        <p:spPr>
          <a:xfrm>
            <a:off x="1111840" y="4464438"/>
            <a:ext cx="8820472" cy="0"/>
          </a:xfrm>
          <a:prstGeom prst="line">
            <a:avLst/>
          </a:prstGeom>
          <a:ln w="76200">
            <a:solidFill>
              <a:srgbClr val="FF9966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5" name="5 CuadroTexto"/>
          <p:cNvSpPr txBox="1"/>
          <p:nvPr/>
        </p:nvSpPr>
        <p:spPr>
          <a:xfrm>
            <a:off x="9932312" y="4293096"/>
            <a:ext cx="1663052" cy="369332"/>
          </a:xfrm>
          <a:prstGeom prst="rect">
            <a:avLst/>
          </a:prstGeom>
          <a:solidFill>
            <a:srgbClr val="FF9966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MIN: Jugador 2</a:t>
            </a:r>
          </a:p>
        </p:txBody>
      </p:sp>
      <p:cxnSp>
        <p:nvCxnSpPr>
          <p:cNvPr id="123" name="20 Conector recto de flecha"/>
          <p:cNvCxnSpPr/>
          <p:nvPr/>
        </p:nvCxnSpPr>
        <p:spPr>
          <a:xfrm flipH="1">
            <a:off x="2972250" y="2698946"/>
            <a:ext cx="248427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5432316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3" name="8 Triángulo isósceles"/>
          <p:cNvSpPr/>
          <p:nvPr/>
        </p:nvSpPr>
        <p:spPr>
          <a:xfrm>
            <a:off x="262400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9 Triángulo isósceles"/>
          <p:cNvSpPr/>
          <p:nvPr/>
        </p:nvSpPr>
        <p:spPr>
          <a:xfrm>
            <a:off x="334408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2624004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6" name="17 Triángulo isósceles"/>
          <p:cNvSpPr/>
          <p:nvPr/>
        </p:nvSpPr>
        <p:spPr>
          <a:xfrm rot="10800000">
            <a:off x="5432316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096612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8" name="20 Conector recto de flecha"/>
          <p:cNvCxnSpPr>
            <a:stCxn id="61" idx="2"/>
            <a:endCxn id="65" idx="3"/>
          </p:cNvCxnSpPr>
          <p:nvPr/>
        </p:nvCxnSpPr>
        <p:spPr>
          <a:xfrm flipH="1">
            <a:off x="2948040" y="2708920"/>
            <a:ext cx="2484276" cy="93610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5756352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080388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</p:cNvCxnSpPr>
          <p:nvPr/>
        </p:nvCxnSpPr>
        <p:spPr>
          <a:xfrm flipH="1">
            <a:off x="2155952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2948040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stCxn id="65" idx="0"/>
            <a:endCxn id="64" idx="0"/>
          </p:cNvCxnSpPr>
          <p:nvPr/>
        </p:nvCxnSpPr>
        <p:spPr>
          <a:xfrm>
            <a:off x="2948040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6 Triángulo isósceles"/>
          <p:cNvSpPr/>
          <p:nvPr/>
        </p:nvSpPr>
        <p:spPr>
          <a:xfrm>
            <a:off x="464022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37 Triángulo isósceles"/>
          <p:cNvSpPr/>
          <p:nvPr/>
        </p:nvSpPr>
        <p:spPr>
          <a:xfrm>
            <a:off x="543231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38 Triángulo isósceles"/>
          <p:cNvSpPr/>
          <p:nvPr/>
        </p:nvSpPr>
        <p:spPr>
          <a:xfrm>
            <a:off x="615239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4964264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0 Conector recto"/>
          <p:cNvCxnSpPr>
            <a:stCxn id="66" idx="0"/>
            <a:endCxn id="75" idx="0"/>
          </p:cNvCxnSpPr>
          <p:nvPr/>
        </p:nvCxnSpPr>
        <p:spPr>
          <a:xfrm>
            <a:off x="5756352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41 Conector recto"/>
          <p:cNvCxnSpPr>
            <a:stCxn id="66" idx="0"/>
            <a:endCxn id="76" idx="0"/>
          </p:cNvCxnSpPr>
          <p:nvPr/>
        </p:nvCxnSpPr>
        <p:spPr>
          <a:xfrm>
            <a:off x="5756352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30452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09661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88166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762856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8420648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8420648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2768020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7" name="59 CuadroTexto"/>
          <p:cNvSpPr txBox="1"/>
          <p:nvPr/>
        </p:nvSpPr>
        <p:spPr>
          <a:xfrm>
            <a:off x="5576332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24062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197593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93" name="68 CuadroTexto"/>
          <p:cNvSpPr txBox="1"/>
          <p:nvPr/>
        </p:nvSpPr>
        <p:spPr>
          <a:xfrm>
            <a:off x="276802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94" name="69 CuadroTexto"/>
          <p:cNvSpPr txBox="1"/>
          <p:nvPr/>
        </p:nvSpPr>
        <p:spPr>
          <a:xfrm>
            <a:off x="35601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95" name="70 CuadroTexto"/>
          <p:cNvSpPr txBox="1"/>
          <p:nvPr/>
        </p:nvSpPr>
        <p:spPr>
          <a:xfrm>
            <a:off x="4784244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96" name="71 CuadroTexto"/>
          <p:cNvSpPr txBox="1"/>
          <p:nvPr/>
        </p:nvSpPr>
        <p:spPr>
          <a:xfrm>
            <a:off x="557633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</a:t>
            </a:r>
          </a:p>
        </p:txBody>
      </p:sp>
      <p:sp>
        <p:nvSpPr>
          <p:cNvPr id="97" name="72 CuadroTexto"/>
          <p:cNvSpPr txBox="1"/>
          <p:nvPr/>
        </p:nvSpPr>
        <p:spPr>
          <a:xfrm>
            <a:off x="62964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6</a:t>
            </a:r>
          </a:p>
        </p:txBody>
      </p:sp>
      <p:sp>
        <p:nvSpPr>
          <p:cNvPr id="98" name="73 CuadroTexto"/>
          <p:cNvSpPr txBox="1"/>
          <p:nvPr/>
        </p:nvSpPr>
        <p:spPr>
          <a:xfrm>
            <a:off x="744854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14</a:t>
            </a:r>
          </a:p>
        </p:txBody>
      </p:sp>
      <p:sp>
        <p:nvSpPr>
          <p:cNvPr id="99" name="74 CuadroTexto"/>
          <p:cNvSpPr txBox="1"/>
          <p:nvPr/>
        </p:nvSpPr>
        <p:spPr>
          <a:xfrm>
            <a:off x="83126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</a:p>
        </p:txBody>
      </p:sp>
      <p:sp>
        <p:nvSpPr>
          <p:cNvPr id="100" name="75 CuadroTexto"/>
          <p:cNvSpPr txBox="1"/>
          <p:nvPr/>
        </p:nvSpPr>
        <p:spPr>
          <a:xfrm>
            <a:off x="90327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136172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5720348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6944484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047940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2624004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3488100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7" name="82 CuadroTexto"/>
          <p:cNvSpPr txBox="1"/>
          <p:nvPr/>
        </p:nvSpPr>
        <p:spPr>
          <a:xfrm>
            <a:off x="615239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108" name="83 CuadroTexto"/>
          <p:cNvSpPr txBox="1"/>
          <p:nvPr/>
        </p:nvSpPr>
        <p:spPr>
          <a:xfrm>
            <a:off x="5432316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4856252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7736572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312636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8816692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3" name="54 CuadroTexto"/>
          <p:cNvSpPr txBox="1"/>
          <p:nvPr/>
        </p:nvSpPr>
        <p:spPr>
          <a:xfrm>
            <a:off x="5144284" y="1772817"/>
            <a:ext cx="360040" cy="64633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14" name="55 CuadroTexto"/>
          <p:cNvSpPr txBox="1"/>
          <p:nvPr/>
        </p:nvSpPr>
        <p:spPr>
          <a:xfrm>
            <a:off x="3128060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5" name="56 CuadroTexto"/>
          <p:cNvSpPr txBox="1"/>
          <p:nvPr/>
        </p:nvSpPr>
        <p:spPr>
          <a:xfrm>
            <a:off x="5936372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6" name="57 CuadroTexto"/>
          <p:cNvSpPr txBox="1"/>
          <p:nvPr/>
        </p:nvSpPr>
        <p:spPr>
          <a:xfrm>
            <a:off x="8600668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0" name="67 CuadroTexto"/>
          <p:cNvSpPr txBox="1"/>
          <p:nvPr/>
        </p:nvSpPr>
        <p:spPr>
          <a:xfrm>
            <a:off x="1974112" y="5730323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839723" y="5785100"/>
            <a:ext cx="2152433" cy="2944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7" name="Rectángulo 116"/>
          <p:cNvSpPr/>
          <p:nvPr/>
        </p:nvSpPr>
        <p:spPr>
          <a:xfrm>
            <a:off x="4644131" y="5785100"/>
            <a:ext cx="2152433" cy="2944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8" name="70 CuadroTexto"/>
          <p:cNvSpPr txBox="1"/>
          <p:nvPr/>
        </p:nvSpPr>
        <p:spPr>
          <a:xfrm>
            <a:off x="4784244" y="5728719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19" name="75 CuadroTexto"/>
          <p:cNvSpPr txBox="1"/>
          <p:nvPr/>
        </p:nvSpPr>
        <p:spPr>
          <a:xfrm>
            <a:off x="9032716" y="57349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20" name="Rectángulo 119"/>
          <p:cNvSpPr/>
          <p:nvPr/>
        </p:nvSpPr>
        <p:spPr>
          <a:xfrm>
            <a:off x="7312331" y="5785100"/>
            <a:ext cx="2152433" cy="2944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55 CuadroTexto"/>
          <p:cNvSpPr txBox="1"/>
          <p:nvPr/>
        </p:nvSpPr>
        <p:spPr>
          <a:xfrm>
            <a:off x="3128060" y="3661959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21" name="Rectángulo 120"/>
          <p:cNvSpPr/>
          <p:nvPr/>
        </p:nvSpPr>
        <p:spPr>
          <a:xfrm>
            <a:off x="3128060" y="3651193"/>
            <a:ext cx="5820937" cy="4554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24" name="20 Conector recto de flecha"/>
          <p:cNvCxnSpPr/>
          <p:nvPr/>
        </p:nvCxnSpPr>
        <p:spPr>
          <a:xfrm flipH="1">
            <a:off x="2155952" y="4303070"/>
            <a:ext cx="792088" cy="782114"/>
          </a:xfrm>
          <a:prstGeom prst="straightConnector1">
            <a:avLst/>
          </a:prstGeom>
          <a:ln w="3810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8 Triángulo isósceles"/>
          <p:cNvSpPr/>
          <p:nvPr/>
        </p:nvSpPr>
        <p:spPr>
          <a:xfrm>
            <a:off x="1821313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256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4" grpId="0" animBg="1"/>
      <p:bldP spid="115" grpId="0" animBg="1"/>
      <p:bldP spid="116" grpId="0" animBg="1"/>
      <p:bldP spid="60" grpId="0"/>
      <p:bldP spid="2" grpId="0" animBg="1"/>
      <p:bldP spid="117" grpId="0" animBg="1"/>
      <p:bldP spid="118" grpId="0"/>
      <p:bldP spid="119" grpId="0"/>
      <p:bldP spid="120" grpId="0" animBg="1"/>
      <p:bldP spid="122" grpId="0" animBg="1"/>
      <p:bldP spid="1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Árbol de Juegos – Poda Alfa-Beta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41911" y="1877478"/>
            <a:ext cx="6407247" cy="269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Poda del Árbol de Búsqueda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¿Por qué es necesaria?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El algoritmo MIN-MAX requiere expandir todo el árbol de búsqueda para obtener el resultado.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En la práctica solo es posible expansión limitada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Si el árbol es más pequeño → es posible más profundidad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Operación de Poda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Eliminar búsquedas innecesarias sin cambiar el resultado del juego.</a:t>
            </a:r>
          </a:p>
          <a:p>
            <a:pPr lvl="2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Eliminando incluso subárboles enteros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Podar si el valor actual ya no puede superar ALFA-BETA.</a:t>
            </a:r>
          </a:p>
        </p:txBody>
      </p:sp>
      <p:pic>
        <p:nvPicPr>
          <p:cNvPr id="6" name="podaalfabeta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8255237" y="2299753"/>
            <a:ext cx="3710267" cy="27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0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Árbol de Juegos – Poda Alfa-Beta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1970764"/>
            <a:ext cx="6808900" cy="356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de Poda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ALFA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Mejor Valor - Más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Alto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encontrado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en puntos de decisión a lo largo de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caminos para un nodo MAX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BETA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Mejor Valor - Más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Bajo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encontrado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en puntos de decisión a lo largo de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caminos para un nodo MIN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Regla de Poda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Si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una rama es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peor que el Mejor Valor</a:t>
            </a:r>
          </a:p>
          <a:p>
            <a:pPr marL="457200" lvl="1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	</a:t>
            </a:r>
            <a:r>
              <a:rPr kumimoji="0" lang="es-ES" altLang="es-CO" sz="2000" b="0" dirty="0">
                <a:solidFill>
                  <a:srgbClr val="0070C0"/>
                </a:solidFill>
              </a:rPr>
              <a:t>entonces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la rama se puede podar</a:t>
            </a:r>
            <a:endParaRPr kumimoji="0" lang="es-ES" altLang="es-CO" sz="2000" b="0" dirty="0">
              <a:solidFill>
                <a:srgbClr val="7030A0"/>
              </a:solidFill>
            </a:endParaRPr>
          </a:p>
        </p:txBody>
      </p:sp>
      <p:pic>
        <p:nvPicPr>
          <p:cNvPr id="8" name="podaalfabeta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8255237" y="2299753"/>
            <a:ext cx="3710267" cy="27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1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3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6" name="17 Triángulo isósceles"/>
          <p:cNvSpPr/>
          <p:nvPr/>
        </p:nvSpPr>
        <p:spPr>
          <a:xfrm rot="10800000">
            <a:off x="6023992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stCxn id="65" idx="0"/>
            <a:endCxn id="64" idx="0"/>
          </p:cNvCxnSpPr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37 Triángulo isósceles"/>
          <p:cNvSpPr/>
          <p:nvPr/>
        </p:nvSpPr>
        <p:spPr>
          <a:xfrm>
            <a:off x="602399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38 Triángulo isósceles"/>
          <p:cNvSpPr/>
          <p:nvPr/>
        </p:nvSpPr>
        <p:spPr>
          <a:xfrm>
            <a:off x="674407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0 Conector recto"/>
          <p:cNvCxnSpPr>
            <a:stCxn id="66" idx="0"/>
            <a:endCxn id="75" idx="0"/>
          </p:cNvCxnSpPr>
          <p:nvPr/>
        </p:nvCxnSpPr>
        <p:spPr>
          <a:xfrm>
            <a:off x="6348028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41 Conector recto"/>
          <p:cNvCxnSpPr>
            <a:stCxn id="66" idx="0"/>
            <a:endCxn id="76" idx="0"/>
          </p:cNvCxnSpPr>
          <p:nvPr/>
        </p:nvCxnSpPr>
        <p:spPr>
          <a:xfrm>
            <a:off x="6348028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7" name="82 CuadroTexto"/>
          <p:cNvSpPr txBox="1"/>
          <p:nvPr/>
        </p:nvSpPr>
        <p:spPr>
          <a:xfrm>
            <a:off x="6744072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108" name="83 CuadroTexto"/>
          <p:cNvSpPr txBox="1"/>
          <p:nvPr/>
        </p:nvSpPr>
        <p:spPr>
          <a:xfrm>
            <a:off x="6023992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7" name="55 CuadroTexto"/>
          <p:cNvSpPr txBox="1"/>
          <p:nvPr/>
        </p:nvSpPr>
        <p:spPr>
          <a:xfrm>
            <a:off x="4885509" y="1844825"/>
            <a:ext cx="1215056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solidFill>
                  <a:srgbClr val="7030A0"/>
                </a:solidFill>
              </a:rPr>
              <a:t>α</a:t>
            </a:r>
            <a:r>
              <a:rPr lang="es-ES" sz="1600" dirty="0">
                <a:solidFill>
                  <a:srgbClr val="7030A0"/>
                </a:solidFill>
              </a:rPr>
              <a:t> </a:t>
            </a:r>
            <a:r>
              <a:rPr lang="el-GR" sz="1600" dirty="0">
                <a:solidFill>
                  <a:srgbClr val="7030A0"/>
                </a:solidFill>
              </a:rPr>
              <a:t>=</a:t>
            </a:r>
            <a:r>
              <a:rPr lang="es-ES" sz="1600" dirty="0">
                <a:solidFill>
                  <a:srgbClr val="7030A0"/>
                </a:solidFill>
              </a:rPr>
              <a:t> </a:t>
            </a:r>
            <a:r>
              <a:rPr lang="es-CO" sz="1600" dirty="0">
                <a:solidFill>
                  <a:srgbClr val="7030A0"/>
                </a:solidFill>
              </a:rPr>
              <a:t>[-∞,+∞]</a:t>
            </a:r>
          </a:p>
        </p:txBody>
      </p:sp>
      <p:sp>
        <p:nvSpPr>
          <p:cNvPr id="50" name="7 Triángulo isósceles"/>
          <p:cNvSpPr/>
          <p:nvPr/>
        </p:nvSpPr>
        <p:spPr>
          <a:xfrm>
            <a:off x="2423592" y="5088732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16 Triángulo isósceles"/>
          <p:cNvSpPr/>
          <p:nvPr/>
        </p:nvSpPr>
        <p:spPr>
          <a:xfrm rot="10800000">
            <a:off x="3209713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cxnSp>
        <p:nvCxnSpPr>
          <p:cNvPr id="56" name="23 Conector recto de flecha"/>
          <p:cNvCxnSpPr>
            <a:stCxn id="61" idx="2"/>
            <a:endCxn id="55" idx="3"/>
          </p:cNvCxnSpPr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  <p:sp>
        <p:nvSpPr>
          <p:cNvPr id="51" name="55 CuadroTexto">
            <a:extLst>
              <a:ext uri="{FF2B5EF4-FFF2-40B4-BE49-F238E27FC236}">
                <a16:creationId xmlns:a16="http://schemas.microsoft.com/office/drawing/2014/main" id="{BEA42E1D-594A-472E-8DF8-17237806F408}"/>
              </a:ext>
            </a:extLst>
          </p:cNvPr>
          <p:cNvSpPr txBox="1"/>
          <p:nvPr/>
        </p:nvSpPr>
        <p:spPr>
          <a:xfrm>
            <a:off x="1919103" y="3433471"/>
            <a:ext cx="1266108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solidFill>
                  <a:srgbClr val="7030A0"/>
                </a:solidFill>
              </a:rPr>
              <a:t>β</a:t>
            </a:r>
            <a:r>
              <a:rPr lang="es-ES" sz="1600" dirty="0">
                <a:solidFill>
                  <a:srgbClr val="7030A0"/>
                </a:solidFill>
              </a:rPr>
              <a:t> </a:t>
            </a:r>
            <a:r>
              <a:rPr lang="es-CO" sz="1600" dirty="0">
                <a:solidFill>
                  <a:srgbClr val="7030A0"/>
                </a:solidFill>
              </a:rPr>
              <a:t>= [-∞, +∞]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1919103" y="3441860"/>
            <a:ext cx="1266904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  [-∞, 3]     </a:t>
            </a:r>
          </a:p>
        </p:txBody>
      </p:sp>
    </p:spTree>
    <p:extLst>
      <p:ext uri="{BB962C8B-B14F-4D97-AF65-F5344CB8AC3E}">
        <p14:creationId xmlns:p14="http://schemas.microsoft.com/office/powerpoint/2010/main" val="151019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117" grpId="0" animBg="1"/>
      <p:bldP spid="62" grpId="0" animBg="1"/>
      <p:bldP spid="55" grpId="0" animBg="1"/>
      <p:bldP spid="59" grpId="0" animBg="1"/>
      <p:bldP spid="51" grpId="0" animBg="1"/>
      <p:bldP spid="1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6" name="17 Triángulo isósceles"/>
          <p:cNvSpPr/>
          <p:nvPr/>
        </p:nvSpPr>
        <p:spPr>
          <a:xfrm rot="10800000">
            <a:off x="6023992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cxnSpLocks/>
            <a:stCxn id="65" idx="0"/>
            <a:endCxn id="53" idx="0"/>
          </p:cNvCxnSpPr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37 Triángulo isósceles"/>
          <p:cNvSpPr/>
          <p:nvPr/>
        </p:nvSpPr>
        <p:spPr>
          <a:xfrm>
            <a:off x="602399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38 Triángulo isósceles"/>
          <p:cNvSpPr/>
          <p:nvPr/>
        </p:nvSpPr>
        <p:spPr>
          <a:xfrm>
            <a:off x="674407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0 Conector recto"/>
          <p:cNvCxnSpPr>
            <a:stCxn id="66" idx="0"/>
            <a:endCxn id="75" idx="0"/>
          </p:cNvCxnSpPr>
          <p:nvPr/>
        </p:nvCxnSpPr>
        <p:spPr>
          <a:xfrm>
            <a:off x="6348028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41 Conector recto"/>
          <p:cNvCxnSpPr>
            <a:stCxn id="66" idx="0"/>
            <a:endCxn id="76" idx="0"/>
          </p:cNvCxnSpPr>
          <p:nvPr/>
        </p:nvCxnSpPr>
        <p:spPr>
          <a:xfrm>
            <a:off x="6348028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7" name="82 CuadroTexto"/>
          <p:cNvSpPr txBox="1"/>
          <p:nvPr/>
        </p:nvSpPr>
        <p:spPr>
          <a:xfrm>
            <a:off x="6744072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108" name="83 CuadroTexto"/>
          <p:cNvSpPr txBox="1"/>
          <p:nvPr/>
        </p:nvSpPr>
        <p:spPr>
          <a:xfrm>
            <a:off x="6023992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50" name="68 CuadroTexto"/>
          <p:cNvSpPr txBox="1"/>
          <p:nvPr/>
        </p:nvSpPr>
        <p:spPr>
          <a:xfrm>
            <a:off x="335969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51" name="69 CuadroTexto"/>
          <p:cNvSpPr txBox="1"/>
          <p:nvPr/>
        </p:nvSpPr>
        <p:spPr>
          <a:xfrm>
            <a:off x="415178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54" name="55 CuadroTexto"/>
          <p:cNvSpPr txBox="1"/>
          <p:nvPr/>
        </p:nvSpPr>
        <p:spPr>
          <a:xfrm>
            <a:off x="3719736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55" name="23 Conector recto de flecha"/>
          <p:cNvCxnSpPr/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8 Triángulo isósceles"/>
          <p:cNvSpPr/>
          <p:nvPr/>
        </p:nvSpPr>
        <p:spPr>
          <a:xfrm>
            <a:off x="3215680" y="5078501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7" name="9 Triángulo isósceles"/>
          <p:cNvSpPr/>
          <p:nvPr/>
        </p:nvSpPr>
        <p:spPr>
          <a:xfrm>
            <a:off x="3935760" y="5078501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55 CuadroTexto"/>
          <p:cNvSpPr txBox="1"/>
          <p:nvPr/>
        </p:nvSpPr>
        <p:spPr>
          <a:xfrm>
            <a:off x="5153114" y="1844825"/>
            <a:ext cx="947450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+∞]</a:t>
            </a:r>
          </a:p>
        </p:txBody>
      </p:sp>
      <p:sp>
        <p:nvSpPr>
          <p:cNvPr id="59" name="55 CuadroTexto"/>
          <p:cNvSpPr txBox="1"/>
          <p:nvPr/>
        </p:nvSpPr>
        <p:spPr>
          <a:xfrm>
            <a:off x="2238557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3]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2247103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60" name="Rectángulo 59"/>
          <p:cNvSpPr/>
          <p:nvPr/>
        </p:nvSpPr>
        <p:spPr>
          <a:xfrm>
            <a:off x="2431399" y="5785100"/>
            <a:ext cx="2152433" cy="2944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55 CuadroTexto"/>
          <p:cNvSpPr txBox="1"/>
          <p:nvPr/>
        </p:nvSpPr>
        <p:spPr>
          <a:xfrm>
            <a:off x="4905286" y="1844825"/>
            <a:ext cx="11952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</a:t>
            </a:r>
            <a:r>
              <a:rPr lang="el-GR" dirty="0">
                <a:solidFill>
                  <a:srgbClr val="FF66FF"/>
                </a:solidFill>
              </a:rPr>
              <a:t>α</a:t>
            </a:r>
            <a:r>
              <a:rPr lang="es-CO" dirty="0">
                <a:solidFill>
                  <a:srgbClr val="FF66FF"/>
                </a:solidFill>
              </a:rPr>
              <a:t>=3</a:t>
            </a:r>
            <a:r>
              <a:rPr lang="es-CO" sz="1600" dirty="0">
                <a:solidFill>
                  <a:srgbClr val="7030A0"/>
                </a:solidFill>
              </a:rPr>
              <a:t>, +∞]</a:t>
            </a:r>
          </a:p>
        </p:txBody>
      </p:sp>
      <p:sp>
        <p:nvSpPr>
          <p:cNvPr id="64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</p:spTree>
    <p:extLst>
      <p:ext uri="{BB962C8B-B14F-4D97-AF65-F5344CB8AC3E}">
        <p14:creationId xmlns:p14="http://schemas.microsoft.com/office/powerpoint/2010/main" val="356040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 animBg="1"/>
      <p:bldP spid="52" grpId="0" animBg="1"/>
      <p:bldP spid="53" grpId="0" animBg="1"/>
      <p:bldP spid="119" grpId="0" animBg="1"/>
      <p:bldP spid="60" grpId="0" animBg="1"/>
      <p:bldP spid="6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6" name="17 Triángulo isósceles"/>
          <p:cNvSpPr/>
          <p:nvPr/>
        </p:nvSpPr>
        <p:spPr>
          <a:xfrm rot="10800000">
            <a:off x="6023992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stCxn id="65" idx="0"/>
          </p:cNvCxnSpPr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37 Triángulo isósceles"/>
          <p:cNvSpPr/>
          <p:nvPr/>
        </p:nvSpPr>
        <p:spPr>
          <a:xfrm>
            <a:off x="602399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38 Triángulo isósceles"/>
          <p:cNvSpPr/>
          <p:nvPr/>
        </p:nvSpPr>
        <p:spPr>
          <a:xfrm>
            <a:off x="674407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6345650" y="4293096"/>
            <a:ext cx="23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0 Conector recto"/>
          <p:cNvCxnSpPr>
            <a:stCxn id="66" idx="0"/>
            <a:endCxn id="75" idx="0"/>
          </p:cNvCxnSpPr>
          <p:nvPr/>
        </p:nvCxnSpPr>
        <p:spPr>
          <a:xfrm>
            <a:off x="6348028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41 Conector recto"/>
          <p:cNvCxnSpPr>
            <a:stCxn id="66" idx="0"/>
            <a:endCxn id="76" idx="0"/>
          </p:cNvCxnSpPr>
          <p:nvPr/>
        </p:nvCxnSpPr>
        <p:spPr>
          <a:xfrm>
            <a:off x="6348028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7" name="82 CuadroTexto"/>
          <p:cNvSpPr txBox="1"/>
          <p:nvPr/>
        </p:nvSpPr>
        <p:spPr>
          <a:xfrm>
            <a:off x="6744072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108" name="83 CuadroTexto"/>
          <p:cNvSpPr txBox="1"/>
          <p:nvPr/>
        </p:nvSpPr>
        <p:spPr>
          <a:xfrm>
            <a:off x="6023992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2238557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50" name="68 CuadroTexto"/>
          <p:cNvSpPr txBox="1"/>
          <p:nvPr/>
        </p:nvSpPr>
        <p:spPr>
          <a:xfrm>
            <a:off x="335969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51" name="69 CuadroTexto"/>
          <p:cNvSpPr txBox="1"/>
          <p:nvPr/>
        </p:nvSpPr>
        <p:spPr>
          <a:xfrm>
            <a:off x="415178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52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55 CuadroTexto"/>
          <p:cNvSpPr txBox="1"/>
          <p:nvPr/>
        </p:nvSpPr>
        <p:spPr>
          <a:xfrm>
            <a:off x="3719736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5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70 CuadroTexto"/>
          <p:cNvSpPr txBox="1"/>
          <p:nvPr/>
        </p:nvSpPr>
        <p:spPr>
          <a:xfrm>
            <a:off x="5375920" y="572396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66FF"/>
                </a:solidFill>
              </a:rPr>
              <a:t>2</a:t>
            </a:r>
          </a:p>
        </p:txBody>
      </p:sp>
      <p:sp>
        <p:nvSpPr>
          <p:cNvPr id="57" name="55 CuadroTexto"/>
          <p:cNvSpPr txBox="1"/>
          <p:nvPr/>
        </p:nvSpPr>
        <p:spPr>
          <a:xfrm>
            <a:off x="5092094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2]</a:t>
            </a:r>
          </a:p>
        </p:txBody>
      </p:sp>
      <p:sp>
        <p:nvSpPr>
          <p:cNvPr id="58" name="37 Triángulo isósceles"/>
          <p:cNvSpPr/>
          <p:nvPr/>
        </p:nvSpPr>
        <p:spPr>
          <a:xfrm>
            <a:off x="6245526" y="4950460"/>
            <a:ext cx="836420" cy="836420"/>
          </a:xfrm>
          <a:prstGeom prst="triangle">
            <a:avLst/>
          </a:prstGeom>
          <a:solidFill>
            <a:srgbClr val="00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71 CuadroTexto"/>
          <p:cNvSpPr txBox="1"/>
          <p:nvPr/>
        </p:nvSpPr>
        <p:spPr>
          <a:xfrm>
            <a:off x="6496791" y="57602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accent6">
                    <a:lumMod val="75000"/>
                  </a:schemeClr>
                </a:solidFill>
              </a:rPr>
              <a:t>40</a:t>
            </a:r>
          </a:p>
        </p:txBody>
      </p:sp>
      <p:sp>
        <p:nvSpPr>
          <p:cNvPr id="90" name="54 CuadroTexto"/>
          <p:cNvSpPr txBox="1"/>
          <p:nvPr/>
        </p:nvSpPr>
        <p:spPr>
          <a:xfrm>
            <a:off x="6528048" y="1628801"/>
            <a:ext cx="360040" cy="646331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chemeClr val="accent6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91" name="36 Triángulo isósceles"/>
          <p:cNvSpPr/>
          <p:nvPr/>
        </p:nvSpPr>
        <p:spPr>
          <a:xfrm>
            <a:off x="5231904" y="5097017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4" name="55 CuadroTexto"/>
          <p:cNvSpPr txBox="1"/>
          <p:nvPr/>
        </p:nvSpPr>
        <p:spPr>
          <a:xfrm>
            <a:off x="4905286" y="1844825"/>
            <a:ext cx="11952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</a:t>
            </a:r>
            <a:r>
              <a:rPr lang="el-GR" dirty="0">
                <a:solidFill>
                  <a:srgbClr val="FF66FF"/>
                </a:solidFill>
              </a:rPr>
              <a:t>α</a:t>
            </a:r>
            <a:r>
              <a:rPr lang="es-CO" dirty="0">
                <a:solidFill>
                  <a:srgbClr val="FF66FF"/>
                </a:solidFill>
              </a:rPr>
              <a:t>=3</a:t>
            </a:r>
            <a:r>
              <a:rPr lang="es-CO" sz="1600" dirty="0">
                <a:solidFill>
                  <a:srgbClr val="7030A0"/>
                </a:solidFill>
              </a:rPr>
              <a:t>, +∞]</a:t>
            </a:r>
          </a:p>
        </p:txBody>
      </p:sp>
      <p:sp>
        <p:nvSpPr>
          <p:cNvPr id="95" name="70 CuadroTexto"/>
          <p:cNvSpPr txBox="1"/>
          <p:nvPr/>
        </p:nvSpPr>
        <p:spPr>
          <a:xfrm>
            <a:off x="5339916" y="601635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&lt;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cxnSp>
        <p:nvCxnSpPr>
          <p:cNvPr id="60" name="23 Conector recto de flecha"/>
          <p:cNvCxnSpPr/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16 Triángulo isósceles"/>
          <p:cNvSpPr/>
          <p:nvPr/>
        </p:nvSpPr>
        <p:spPr>
          <a:xfrm rot="10800000">
            <a:off x="6021614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cxnSp>
        <p:nvCxnSpPr>
          <p:cNvPr id="93" name="39 Conector recto"/>
          <p:cNvCxnSpPr/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56 CuadroTexto"/>
          <p:cNvSpPr txBox="1"/>
          <p:nvPr/>
        </p:nvSpPr>
        <p:spPr>
          <a:xfrm>
            <a:off x="6528048" y="3645025"/>
            <a:ext cx="360040" cy="461665"/>
          </a:xfrm>
          <a:prstGeom prst="rect">
            <a:avLst/>
          </a:prstGeom>
          <a:solidFill>
            <a:srgbClr val="00FFFF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96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</p:spTree>
    <p:extLst>
      <p:ext uri="{BB962C8B-B14F-4D97-AF65-F5344CB8AC3E}">
        <p14:creationId xmlns:p14="http://schemas.microsoft.com/office/powerpoint/2010/main" val="39741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 animBg="1"/>
      <p:bldP spid="58" grpId="0" animBg="1"/>
      <p:bldP spid="59" grpId="0"/>
      <p:bldP spid="90" grpId="0" animBg="1"/>
      <p:bldP spid="91" grpId="0" animBg="1"/>
      <p:bldP spid="95" grpId="0"/>
      <p:bldP spid="74" grpId="0" animBg="1"/>
      <p:bldP spid="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91" name="55 CuadroTexto"/>
          <p:cNvSpPr txBox="1"/>
          <p:nvPr/>
        </p:nvSpPr>
        <p:spPr>
          <a:xfrm>
            <a:off x="5089629" y="3737030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2]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stCxn id="65" idx="0"/>
            <a:endCxn id="64" idx="0"/>
          </p:cNvCxnSpPr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37 Triángulo isósceles"/>
          <p:cNvSpPr/>
          <p:nvPr/>
        </p:nvSpPr>
        <p:spPr>
          <a:xfrm>
            <a:off x="602399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6" name="38 Triángulo isósceles"/>
          <p:cNvSpPr/>
          <p:nvPr/>
        </p:nvSpPr>
        <p:spPr>
          <a:xfrm>
            <a:off x="6744072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endCxn id="74" idx="0"/>
          </p:cNvCxnSpPr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40 Conector recto"/>
          <p:cNvCxnSpPr>
            <a:endCxn id="75" idx="0"/>
          </p:cNvCxnSpPr>
          <p:nvPr/>
        </p:nvCxnSpPr>
        <p:spPr>
          <a:xfrm>
            <a:off x="6348028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41 Conector recto"/>
          <p:cNvCxnSpPr>
            <a:endCxn id="76" idx="0"/>
          </p:cNvCxnSpPr>
          <p:nvPr/>
        </p:nvCxnSpPr>
        <p:spPr>
          <a:xfrm>
            <a:off x="6348028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7" name="82 CuadroTexto"/>
          <p:cNvSpPr txBox="1"/>
          <p:nvPr/>
        </p:nvSpPr>
        <p:spPr>
          <a:xfrm>
            <a:off x="6744072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108" name="83 CuadroTexto"/>
          <p:cNvSpPr txBox="1"/>
          <p:nvPr/>
        </p:nvSpPr>
        <p:spPr>
          <a:xfrm>
            <a:off x="6023992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2238557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50" name="68 CuadroTexto"/>
          <p:cNvSpPr txBox="1"/>
          <p:nvPr/>
        </p:nvSpPr>
        <p:spPr>
          <a:xfrm>
            <a:off x="335969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51" name="69 CuadroTexto"/>
          <p:cNvSpPr txBox="1"/>
          <p:nvPr/>
        </p:nvSpPr>
        <p:spPr>
          <a:xfrm>
            <a:off x="415178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52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55 CuadroTexto"/>
          <p:cNvSpPr txBox="1"/>
          <p:nvPr/>
        </p:nvSpPr>
        <p:spPr>
          <a:xfrm>
            <a:off x="3719736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5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6" name="70 CuadroTexto"/>
          <p:cNvSpPr txBox="1"/>
          <p:nvPr/>
        </p:nvSpPr>
        <p:spPr>
          <a:xfrm>
            <a:off x="5375920" y="572396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66FF"/>
                </a:solidFill>
              </a:rPr>
              <a:t>2</a:t>
            </a:r>
          </a:p>
        </p:txBody>
      </p:sp>
      <p:sp>
        <p:nvSpPr>
          <p:cNvPr id="57" name="55 CuadroTexto"/>
          <p:cNvSpPr txBox="1"/>
          <p:nvPr/>
        </p:nvSpPr>
        <p:spPr>
          <a:xfrm>
            <a:off x="5092094" y="3732214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</a:t>
            </a:r>
            <a:r>
              <a:rPr lang="es-CO" sz="16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es-CO" sz="1600" dirty="0">
                <a:solidFill>
                  <a:srgbClr val="7030A0"/>
                </a:solidFill>
              </a:rPr>
              <a:t>]</a:t>
            </a:r>
          </a:p>
        </p:txBody>
      </p:sp>
      <p:sp>
        <p:nvSpPr>
          <p:cNvPr id="90" name="54 CuadroTexto"/>
          <p:cNvSpPr txBox="1"/>
          <p:nvPr/>
        </p:nvSpPr>
        <p:spPr>
          <a:xfrm>
            <a:off x="6528048" y="1628801"/>
            <a:ext cx="36004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chemeClr val="accent2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64" name="37 Triángulo isósceles"/>
          <p:cNvSpPr/>
          <p:nvPr/>
        </p:nvSpPr>
        <p:spPr>
          <a:xfrm>
            <a:off x="6245526" y="4950460"/>
            <a:ext cx="836420" cy="836420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4" name="71 CuadroTexto"/>
          <p:cNvSpPr txBox="1"/>
          <p:nvPr/>
        </p:nvSpPr>
        <p:spPr>
          <a:xfrm>
            <a:off x="6496791" y="576022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3" name="55 CuadroTexto"/>
          <p:cNvSpPr txBox="1"/>
          <p:nvPr/>
        </p:nvSpPr>
        <p:spPr>
          <a:xfrm>
            <a:off x="4905286" y="1844825"/>
            <a:ext cx="11952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</a:t>
            </a:r>
            <a:r>
              <a:rPr lang="el-GR" dirty="0">
                <a:solidFill>
                  <a:srgbClr val="FF66FF"/>
                </a:solidFill>
              </a:rPr>
              <a:t>α</a:t>
            </a:r>
            <a:r>
              <a:rPr lang="es-CO" dirty="0">
                <a:solidFill>
                  <a:srgbClr val="FF66FF"/>
                </a:solidFill>
              </a:rPr>
              <a:t>=3</a:t>
            </a:r>
            <a:r>
              <a:rPr lang="es-CO" sz="1600" dirty="0">
                <a:solidFill>
                  <a:srgbClr val="7030A0"/>
                </a:solidFill>
              </a:rPr>
              <a:t>, +∞]</a:t>
            </a:r>
          </a:p>
        </p:txBody>
      </p:sp>
      <p:sp>
        <p:nvSpPr>
          <p:cNvPr id="94" name="70 CuadroTexto"/>
          <p:cNvSpPr txBox="1"/>
          <p:nvPr/>
        </p:nvSpPr>
        <p:spPr>
          <a:xfrm>
            <a:off x="5339916" y="601635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&lt;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cxnSp>
        <p:nvCxnSpPr>
          <p:cNvPr id="59" name="23 Conector recto de flecha"/>
          <p:cNvCxnSpPr/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16 Triángulo isósceles"/>
          <p:cNvSpPr/>
          <p:nvPr/>
        </p:nvSpPr>
        <p:spPr>
          <a:xfrm rot="10800000">
            <a:off x="602810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63" name="56 CuadroTexto"/>
          <p:cNvSpPr txBox="1"/>
          <p:nvPr/>
        </p:nvSpPr>
        <p:spPr>
          <a:xfrm>
            <a:off x="6528048" y="3645025"/>
            <a:ext cx="36004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chemeClr val="accent2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96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</p:spTree>
    <p:extLst>
      <p:ext uri="{BB962C8B-B14F-4D97-AF65-F5344CB8AC3E}">
        <p14:creationId xmlns:p14="http://schemas.microsoft.com/office/powerpoint/2010/main" val="269420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90" grpId="0" animBg="1"/>
      <p:bldP spid="64" grpId="0" animBg="1"/>
      <p:bldP spid="74" grpId="0"/>
      <p:bldP spid="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58" name="17 Triángulo isósceles"/>
          <p:cNvSpPr/>
          <p:nvPr/>
        </p:nvSpPr>
        <p:spPr>
          <a:xfrm rot="10800000">
            <a:off x="6023992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55 CuadroTexto"/>
          <p:cNvSpPr txBox="1"/>
          <p:nvPr/>
        </p:nvSpPr>
        <p:spPr>
          <a:xfrm>
            <a:off x="5089629" y="3737030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[2, 2]</a:t>
            </a:r>
          </a:p>
        </p:txBody>
      </p:sp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2238557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50" name="68 CuadroTexto"/>
          <p:cNvSpPr txBox="1"/>
          <p:nvPr/>
        </p:nvSpPr>
        <p:spPr>
          <a:xfrm>
            <a:off x="335969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51" name="69 CuadroTexto"/>
          <p:cNvSpPr txBox="1"/>
          <p:nvPr/>
        </p:nvSpPr>
        <p:spPr>
          <a:xfrm>
            <a:off x="415178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52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55 CuadroTexto"/>
          <p:cNvSpPr txBox="1"/>
          <p:nvPr/>
        </p:nvSpPr>
        <p:spPr>
          <a:xfrm>
            <a:off x="3719736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5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56 CuadroTexto"/>
          <p:cNvSpPr txBox="1"/>
          <p:nvPr/>
        </p:nvSpPr>
        <p:spPr>
          <a:xfrm>
            <a:off x="6528048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3" name="73 CuadroTexto"/>
          <p:cNvSpPr txBox="1"/>
          <p:nvPr/>
        </p:nvSpPr>
        <p:spPr>
          <a:xfrm>
            <a:off x="7964680" y="5733256"/>
            <a:ext cx="507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66FF"/>
                </a:solidFill>
              </a:rPr>
              <a:t>14</a:t>
            </a:r>
          </a:p>
        </p:txBody>
      </p:sp>
      <p:sp>
        <p:nvSpPr>
          <p:cNvPr id="94" name="55 CuadroTexto"/>
          <p:cNvSpPr txBox="1"/>
          <p:nvPr/>
        </p:nvSpPr>
        <p:spPr>
          <a:xfrm>
            <a:off x="7746511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14]</a:t>
            </a:r>
          </a:p>
        </p:txBody>
      </p:sp>
      <p:sp>
        <p:nvSpPr>
          <p:cNvPr id="95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74 CuadroTexto"/>
          <p:cNvSpPr txBox="1"/>
          <p:nvPr/>
        </p:nvSpPr>
        <p:spPr>
          <a:xfrm>
            <a:off x="8904312" y="5733256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66FF"/>
                </a:solidFill>
              </a:rPr>
              <a:t>5</a:t>
            </a:r>
          </a:p>
        </p:txBody>
      </p:sp>
      <p:sp>
        <p:nvSpPr>
          <p:cNvPr id="97" name="55 CuadroTexto"/>
          <p:cNvSpPr txBox="1"/>
          <p:nvPr/>
        </p:nvSpPr>
        <p:spPr>
          <a:xfrm>
            <a:off x="7746511" y="3736611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[-∞, 5]</a:t>
            </a:r>
          </a:p>
        </p:txBody>
      </p:sp>
      <p:sp>
        <p:nvSpPr>
          <p:cNvPr id="98" name="55 CuadroTexto"/>
          <p:cNvSpPr txBox="1"/>
          <p:nvPr/>
        </p:nvSpPr>
        <p:spPr>
          <a:xfrm>
            <a:off x="4905286" y="1844825"/>
            <a:ext cx="11952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</a:t>
            </a:r>
            <a:r>
              <a:rPr lang="el-GR" dirty="0">
                <a:solidFill>
                  <a:srgbClr val="FF66FF"/>
                </a:solidFill>
              </a:rPr>
              <a:t>α</a:t>
            </a:r>
            <a:r>
              <a:rPr lang="es-CO" dirty="0">
                <a:solidFill>
                  <a:srgbClr val="FF66FF"/>
                </a:solidFill>
              </a:rPr>
              <a:t>=3</a:t>
            </a:r>
            <a:r>
              <a:rPr lang="es-CO" sz="1600" dirty="0">
                <a:solidFill>
                  <a:srgbClr val="7030A0"/>
                </a:solidFill>
              </a:rPr>
              <a:t>, +∞]</a:t>
            </a:r>
          </a:p>
        </p:txBody>
      </p:sp>
      <p:sp>
        <p:nvSpPr>
          <p:cNvPr id="100" name="70 CuadroTexto"/>
          <p:cNvSpPr txBox="1"/>
          <p:nvPr/>
        </p:nvSpPr>
        <p:spPr>
          <a:xfrm>
            <a:off x="8013329" y="599783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&gt;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sp>
        <p:nvSpPr>
          <p:cNvPr id="113" name="70 CuadroTexto"/>
          <p:cNvSpPr txBox="1"/>
          <p:nvPr/>
        </p:nvSpPr>
        <p:spPr>
          <a:xfrm>
            <a:off x="8877425" y="599783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&gt;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cxnSp>
        <p:nvCxnSpPr>
          <p:cNvPr id="63" name="23 Conector recto de flecha"/>
          <p:cNvCxnSpPr/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17 Triángulo isósceles"/>
          <p:cNvSpPr/>
          <p:nvPr/>
        </p:nvSpPr>
        <p:spPr>
          <a:xfrm rot="10800000">
            <a:off x="8689175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cxnSp>
        <p:nvCxnSpPr>
          <p:cNvPr id="66" name="33 Conector recto"/>
          <p:cNvCxnSpPr/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70 CuadroTexto"/>
          <p:cNvSpPr txBox="1"/>
          <p:nvPr/>
        </p:nvSpPr>
        <p:spPr>
          <a:xfrm>
            <a:off x="5375920" y="572396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66FF"/>
                </a:solidFill>
              </a:rPr>
              <a:t>2</a:t>
            </a:r>
          </a:p>
        </p:txBody>
      </p:sp>
      <p:sp>
        <p:nvSpPr>
          <p:cNvPr id="75" name="70 CuadroTexto"/>
          <p:cNvSpPr txBox="1"/>
          <p:nvPr/>
        </p:nvSpPr>
        <p:spPr>
          <a:xfrm>
            <a:off x="5339916" y="6016352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&lt;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sp>
        <p:nvSpPr>
          <p:cNvPr id="76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75 CuadroTexto"/>
          <p:cNvSpPr txBox="1"/>
          <p:nvPr/>
        </p:nvSpPr>
        <p:spPr>
          <a:xfrm>
            <a:off x="962439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79" name="Rectángulo 78"/>
          <p:cNvSpPr/>
          <p:nvPr/>
        </p:nvSpPr>
        <p:spPr>
          <a:xfrm>
            <a:off x="7909260" y="5785100"/>
            <a:ext cx="2152433" cy="2944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0" name="57 CuadroTexto"/>
          <p:cNvSpPr txBox="1"/>
          <p:nvPr/>
        </p:nvSpPr>
        <p:spPr>
          <a:xfrm>
            <a:off x="9192344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7" name="54 CuadroTexto"/>
          <p:cNvSpPr txBox="1"/>
          <p:nvPr/>
        </p:nvSpPr>
        <p:spPr>
          <a:xfrm>
            <a:off x="6528048" y="1628801"/>
            <a:ext cx="360040" cy="64633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08" name="55 CuadroTexto"/>
          <p:cNvSpPr txBox="1"/>
          <p:nvPr/>
        </p:nvSpPr>
        <p:spPr>
          <a:xfrm>
            <a:off x="7753629" y="3728134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[2, 2]</a:t>
            </a:r>
          </a:p>
        </p:txBody>
      </p:sp>
      <p:sp>
        <p:nvSpPr>
          <p:cNvPr id="114" name="Rectángulo 113"/>
          <p:cNvSpPr/>
          <p:nvPr/>
        </p:nvSpPr>
        <p:spPr>
          <a:xfrm>
            <a:off x="3719736" y="3651193"/>
            <a:ext cx="5820937" cy="4554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15" name="20 Conector recto de flecha"/>
          <p:cNvCxnSpPr/>
          <p:nvPr/>
        </p:nvCxnSpPr>
        <p:spPr>
          <a:xfrm flipH="1">
            <a:off x="3539716" y="2708920"/>
            <a:ext cx="2484276" cy="93610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</p:spTree>
    <p:extLst>
      <p:ext uri="{BB962C8B-B14F-4D97-AF65-F5344CB8AC3E}">
        <p14:creationId xmlns:p14="http://schemas.microsoft.com/office/powerpoint/2010/main" val="309106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93" grpId="0"/>
      <p:bldP spid="94" grpId="0" animBg="1"/>
      <p:bldP spid="95" grpId="0" animBg="1"/>
      <p:bldP spid="96" grpId="0"/>
      <p:bldP spid="97" grpId="0" animBg="1"/>
      <p:bldP spid="100" grpId="0"/>
      <p:bldP spid="113" grpId="0"/>
      <p:bldP spid="64" grpId="0" animBg="1"/>
      <p:bldP spid="76" grpId="0" animBg="1"/>
      <p:bldP spid="78" grpId="0"/>
      <p:bldP spid="79" grpId="0" animBg="1"/>
      <p:bldP spid="90" grpId="0" animBg="1"/>
      <p:bldP spid="107" grpId="0" animBg="1"/>
      <p:bldP spid="108" grpId="0" animBg="1"/>
      <p:bldP spid="1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Poda Alfa-Beta</a:t>
            </a:r>
          </a:p>
        </p:txBody>
      </p:sp>
      <p:sp>
        <p:nvSpPr>
          <p:cNvPr id="61" name="6 Triángulo isósceles"/>
          <p:cNvSpPr/>
          <p:nvPr/>
        </p:nvSpPr>
        <p:spPr>
          <a:xfrm>
            <a:off x="6023992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62" name="7 Triángulo isósceles"/>
          <p:cNvSpPr/>
          <p:nvPr/>
        </p:nvSpPr>
        <p:spPr>
          <a:xfrm>
            <a:off x="242359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8 Triángulo isósceles"/>
          <p:cNvSpPr/>
          <p:nvPr/>
        </p:nvSpPr>
        <p:spPr>
          <a:xfrm>
            <a:off x="321568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9 Triángulo isósceles"/>
          <p:cNvSpPr/>
          <p:nvPr/>
        </p:nvSpPr>
        <p:spPr>
          <a:xfrm>
            <a:off x="393576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5" name="16 Triángulo isósceles"/>
          <p:cNvSpPr/>
          <p:nvPr/>
        </p:nvSpPr>
        <p:spPr>
          <a:xfrm rot="10800000">
            <a:off x="321568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6" name="17 Triángulo isósceles"/>
          <p:cNvSpPr/>
          <p:nvPr/>
        </p:nvSpPr>
        <p:spPr>
          <a:xfrm rot="10800000">
            <a:off x="6023992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18 Triángulo isósceles"/>
          <p:cNvSpPr/>
          <p:nvPr/>
        </p:nvSpPr>
        <p:spPr>
          <a:xfrm rot="10800000">
            <a:off x="8688288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9" name="23 Conector recto de flecha"/>
          <p:cNvCxnSpPr>
            <a:stCxn id="61" idx="3"/>
            <a:endCxn id="66" idx="3"/>
          </p:cNvCxnSpPr>
          <p:nvPr/>
        </p:nvCxnSpPr>
        <p:spPr>
          <a:xfrm>
            <a:off x="6348028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25 Conector recto de flecha"/>
          <p:cNvCxnSpPr>
            <a:stCxn id="61" idx="4"/>
            <a:endCxn id="67" idx="3"/>
          </p:cNvCxnSpPr>
          <p:nvPr/>
        </p:nvCxnSpPr>
        <p:spPr>
          <a:xfrm>
            <a:off x="6672064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29 Conector recto"/>
          <p:cNvCxnSpPr>
            <a:stCxn id="65" idx="0"/>
            <a:endCxn id="62" idx="0"/>
          </p:cNvCxnSpPr>
          <p:nvPr/>
        </p:nvCxnSpPr>
        <p:spPr>
          <a:xfrm flipH="1">
            <a:off x="274762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30 Conector recto"/>
          <p:cNvCxnSpPr>
            <a:stCxn id="65" idx="0"/>
            <a:endCxn id="63" idx="0"/>
          </p:cNvCxnSpPr>
          <p:nvPr/>
        </p:nvCxnSpPr>
        <p:spPr>
          <a:xfrm>
            <a:off x="353971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33 Conector recto"/>
          <p:cNvCxnSpPr>
            <a:stCxn id="65" idx="0"/>
            <a:endCxn id="64" idx="0"/>
          </p:cNvCxnSpPr>
          <p:nvPr/>
        </p:nvCxnSpPr>
        <p:spPr>
          <a:xfrm>
            <a:off x="353971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36 Triángulo isósceles"/>
          <p:cNvSpPr/>
          <p:nvPr/>
        </p:nvSpPr>
        <p:spPr>
          <a:xfrm>
            <a:off x="5231904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7" name="39 Conector recto"/>
          <p:cNvCxnSpPr>
            <a:stCxn id="66" idx="0"/>
            <a:endCxn id="74" idx="0"/>
          </p:cNvCxnSpPr>
          <p:nvPr/>
        </p:nvCxnSpPr>
        <p:spPr>
          <a:xfrm flipH="1">
            <a:off x="5555940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45 Triángulo isósceles"/>
          <p:cNvSpPr/>
          <p:nvPr/>
        </p:nvSpPr>
        <p:spPr>
          <a:xfrm>
            <a:off x="78962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46 Triángulo isósceles"/>
          <p:cNvSpPr/>
          <p:nvPr/>
        </p:nvSpPr>
        <p:spPr>
          <a:xfrm>
            <a:off x="86882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2" name="47 Triángulo isósceles"/>
          <p:cNvSpPr/>
          <p:nvPr/>
        </p:nvSpPr>
        <p:spPr>
          <a:xfrm>
            <a:off x="940836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3" name="48 Conector recto"/>
          <p:cNvCxnSpPr>
            <a:stCxn id="67" idx="0"/>
            <a:endCxn id="80" idx="0"/>
          </p:cNvCxnSpPr>
          <p:nvPr/>
        </p:nvCxnSpPr>
        <p:spPr>
          <a:xfrm flipH="1">
            <a:off x="822023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49 Conector recto"/>
          <p:cNvCxnSpPr>
            <a:stCxn id="67" idx="0"/>
            <a:endCxn id="81" idx="0"/>
          </p:cNvCxnSpPr>
          <p:nvPr/>
        </p:nvCxnSpPr>
        <p:spPr>
          <a:xfrm>
            <a:off x="901232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50 Conector recto"/>
          <p:cNvCxnSpPr>
            <a:stCxn id="67" idx="0"/>
            <a:endCxn id="82" idx="0"/>
          </p:cNvCxnSpPr>
          <p:nvPr/>
        </p:nvCxnSpPr>
        <p:spPr>
          <a:xfrm>
            <a:off x="901232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58 CuadroTexto"/>
          <p:cNvSpPr txBox="1"/>
          <p:nvPr/>
        </p:nvSpPr>
        <p:spPr>
          <a:xfrm>
            <a:off x="335969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87" name="59 CuadroTexto"/>
          <p:cNvSpPr txBox="1"/>
          <p:nvPr/>
        </p:nvSpPr>
        <p:spPr>
          <a:xfrm>
            <a:off x="6168008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88" name="60 CuadroTexto"/>
          <p:cNvSpPr txBox="1"/>
          <p:nvPr/>
        </p:nvSpPr>
        <p:spPr>
          <a:xfrm>
            <a:off x="883230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sp>
        <p:nvSpPr>
          <p:cNvPr id="92" name="67 CuadroTexto"/>
          <p:cNvSpPr txBox="1"/>
          <p:nvPr/>
        </p:nvSpPr>
        <p:spPr>
          <a:xfrm>
            <a:off x="2567608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93" name="68 CuadroTexto"/>
          <p:cNvSpPr txBox="1"/>
          <p:nvPr/>
        </p:nvSpPr>
        <p:spPr>
          <a:xfrm>
            <a:off x="335969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94" name="69 CuadroTexto"/>
          <p:cNvSpPr txBox="1"/>
          <p:nvPr/>
        </p:nvSpPr>
        <p:spPr>
          <a:xfrm>
            <a:off x="415178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95" name="70 CuadroTexto"/>
          <p:cNvSpPr txBox="1"/>
          <p:nvPr/>
        </p:nvSpPr>
        <p:spPr>
          <a:xfrm>
            <a:off x="5375920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F66FF"/>
                </a:solidFill>
              </a:rPr>
              <a:t>2</a:t>
            </a:r>
          </a:p>
        </p:txBody>
      </p:sp>
      <p:sp>
        <p:nvSpPr>
          <p:cNvPr id="98" name="73 CuadroTexto"/>
          <p:cNvSpPr txBox="1"/>
          <p:nvPr/>
        </p:nvSpPr>
        <p:spPr>
          <a:xfrm>
            <a:off x="80402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F66FF"/>
                </a:solidFill>
              </a:rPr>
              <a:t>14</a:t>
            </a:r>
          </a:p>
        </p:txBody>
      </p:sp>
      <p:sp>
        <p:nvSpPr>
          <p:cNvPr id="99" name="74 CuadroTexto"/>
          <p:cNvSpPr txBox="1"/>
          <p:nvPr/>
        </p:nvSpPr>
        <p:spPr>
          <a:xfrm>
            <a:off x="89043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F66FF"/>
                </a:solidFill>
              </a:rPr>
              <a:t>5</a:t>
            </a:r>
          </a:p>
        </p:txBody>
      </p:sp>
      <p:sp>
        <p:nvSpPr>
          <p:cNvPr id="100" name="75 CuadroTexto"/>
          <p:cNvSpPr txBox="1"/>
          <p:nvPr/>
        </p:nvSpPr>
        <p:spPr>
          <a:xfrm>
            <a:off x="962439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101" name="76 CuadroTexto"/>
          <p:cNvSpPr txBox="1"/>
          <p:nvPr/>
        </p:nvSpPr>
        <p:spPr>
          <a:xfrm>
            <a:off x="472784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102" name="77 CuadroTexto"/>
          <p:cNvSpPr txBox="1"/>
          <p:nvPr/>
        </p:nvSpPr>
        <p:spPr>
          <a:xfrm>
            <a:off x="6312024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103" name="78 CuadroTexto"/>
          <p:cNvSpPr txBox="1"/>
          <p:nvPr/>
        </p:nvSpPr>
        <p:spPr>
          <a:xfrm>
            <a:off x="7536160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104" name="79 CuadroTexto"/>
          <p:cNvSpPr txBox="1"/>
          <p:nvPr/>
        </p:nvSpPr>
        <p:spPr>
          <a:xfrm>
            <a:off x="263961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105" name="80 CuadroTexto"/>
          <p:cNvSpPr txBox="1"/>
          <p:nvPr/>
        </p:nvSpPr>
        <p:spPr>
          <a:xfrm>
            <a:off x="321568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106" name="81 CuadroTexto"/>
          <p:cNvSpPr txBox="1"/>
          <p:nvPr/>
        </p:nvSpPr>
        <p:spPr>
          <a:xfrm>
            <a:off x="4079776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109" name="84 CuadroTexto"/>
          <p:cNvSpPr txBox="1"/>
          <p:nvPr/>
        </p:nvSpPr>
        <p:spPr>
          <a:xfrm>
            <a:off x="5447928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110" name="85 CuadroTexto"/>
          <p:cNvSpPr txBox="1"/>
          <p:nvPr/>
        </p:nvSpPr>
        <p:spPr>
          <a:xfrm>
            <a:off x="8328248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111" name="86 CuadroTexto"/>
          <p:cNvSpPr txBox="1"/>
          <p:nvPr/>
        </p:nvSpPr>
        <p:spPr>
          <a:xfrm>
            <a:off x="8904312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112" name="87 CuadroTexto"/>
          <p:cNvSpPr txBox="1"/>
          <p:nvPr/>
        </p:nvSpPr>
        <p:spPr>
          <a:xfrm>
            <a:off x="9408368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113" name="54 CuadroTexto"/>
          <p:cNvSpPr txBox="1"/>
          <p:nvPr/>
        </p:nvSpPr>
        <p:spPr>
          <a:xfrm>
            <a:off x="6528048" y="1628801"/>
            <a:ext cx="360040" cy="64633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4" name="55 CuadroTexto"/>
          <p:cNvSpPr txBox="1"/>
          <p:nvPr/>
        </p:nvSpPr>
        <p:spPr>
          <a:xfrm>
            <a:off x="3719736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5" name="56 CuadroTexto"/>
          <p:cNvSpPr txBox="1"/>
          <p:nvPr/>
        </p:nvSpPr>
        <p:spPr>
          <a:xfrm>
            <a:off x="6528048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6" name="57 CuadroTexto"/>
          <p:cNvSpPr txBox="1"/>
          <p:nvPr/>
        </p:nvSpPr>
        <p:spPr>
          <a:xfrm>
            <a:off x="9192344" y="3645025"/>
            <a:ext cx="360040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s-CO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7" name="55 CuadroTexto"/>
          <p:cNvSpPr txBox="1"/>
          <p:nvPr/>
        </p:nvSpPr>
        <p:spPr>
          <a:xfrm>
            <a:off x="5153114" y="1844825"/>
            <a:ext cx="947450" cy="3385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119" name="55 CuadroTexto"/>
          <p:cNvSpPr txBox="1"/>
          <p:nvPr/>
        </p:nvSpPr>
        <p:spPr>
          <a:xfrm>
            <a:off x="2238557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[3, 3]</a:t>
            </a:r>
          </a:p>
        </p:txBody>
      </p:sp>
      <p:sp>
        <p:nvSpPr>
          <p:cNvPr id="121" name="55 CuadroTexto"/>
          <p:cNvSpPr txBox="1"/>
          <p:nvPr/>
        </p:nvSpPr>
        <p:spPr>
          <a:xfrm>
            <a:off x="5092094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[2, 2]</a:t>
            </a:r>
          </a:p>
        </p:txBody>
      </p:sp>
      <p:sp>
        <p:nvSpPr>
          <p:cNvPr id="122" name="55 CuadroTexto"/>
          <p:cNvSpPr txBox="1"/>
          <p:nvPr/>
        </p:nvSpPr>
        <p:spPr>
          <a:xfrm>
            <a:off x="7746511" y="3729562"/>
            <a:ext cx="947450" cy="338554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[2, 2]</a:t>
            </a:r>
          </a:p>
        </p:txBody>
      </p:sp>
      <p:sp>
        <p:nvSpPr>
          <p:cNvPr id="90" name="70 CuadroTexto"/>
          <p:cNvSpPr txBox="1"/>
          <p:nvPr/>
        </p:nvSpPr>
        <p:spPr>
          <a:xfrm>
            <a:off x="5339916" y="592234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&lt;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sp>
        <p:nvSpPr>
          <p:cNvPr id="91" name="70 CuadroTexto"/>
          <p:cNvSpPr txBox="1"/>
          <p:nvPr/>
        </p:nvSpPr>
        <p:spPr>
          <a:xfrm>
            <a:off x="8040216" y="592234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&gt;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sp>
        <p:nvSpPr>
          <p:cNvPr id="120" name="70 CuadroTexto"/>
          <p:cNvSpPr txBox="1"/>
          <p:nvPr/>
        </p:nvSpPr>
        <p:spPr>
          <a:xfrm>
            <a:off x="8850093" y="5922346"/>
            <a:ext cx="432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rgbClr val="FF66FF"/>
                </a:solidFill>
              </a:rPr>
              <a:t>&gt;</a:t>
            </a:r>
            <a:r>
              <a:rPr lang="el-GR" sz="1600" dirty="0">
                <a:solidFill>
                  <a:srgbClr val="FF66FF"/>
                </a:solidFill>
              </a:rPr>
              <a:t>α</a:t>
            </a:r>
            <a:endParaRPr lang="es-CO" sz="1600" dirty="0">
              <a:solidFill>
                <a:srgbClr val="FF66FF"/>
              </a:solidFill>
            </a:endParaRPr>
          </a:p>
        </p:txBody>
      </p:sp>
      <p:cxnSp>
        <p:nvCxnSpPr>
          <p:cNvPr id="57" name="23 Conector recto de flecha"/>
          <p:cNvCxnSpPr/>
          <p:nvPr/>
        </p:nvCxnSpPr>
        <p:spPr>
          <a:xfrm flipH="1">
            <a:off x="3533749" y="2708920"/>
            <a:ext cx="2490243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55 CuadroTexto"/>
          <p:cNvSpPr txBox="1"/>
          <p:nvPr/>
        </p:nvSpPr>
        <p:spPr>
          <a:xfrm>
            <a:off x="5143857" y="6228943"/>
            <a:ext cx="947450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7030A0"/>
                </a:solidFill>
              </a:rPr>
              <a:t>SÍ</a:t>
            </a:r>
            <a:r>
              <a:rPr lang="es-CO" sz="1600" dirty="0">
                <a:solidFill>
                  <a:srgbClr val="7030A0"/>
                </a:solidFill>
              </a:rPr>
              <a:t> Podar</a:t>
            </a:r>
          </a:p>
        </p:txBody>
      </p:sp>
      <p:sp>
        <p:nvSpPr>
          <p:cNvPr id="59" name="55 CuadroTexto"/>
          <p:cNvSpPr txBox="1"/>
          <p:nvPr/>
        </p:nvSpPr>
        <p:spPr>
          <a:xfrm>
            <a:off x="8057308" y="6228943"/>
            <a:ext cx="1152128" cy="338554"/>
          </a:xfrm>
          <a:prstGeom prst="rect">
            <a:avLst/>
          </a:prstGeom>
          <a:solidFill>
            <a:srgbClr val="FF99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7030A0"/>
                </a:solidFill>
              </a:rPr>
              <a:t>NO</a:t>
            </a:r>
            <a:r>
              <a:rPr lang="es-CO" sz="1600" dirty="0">
                <a:solidFill>
                  <a:srgbClr val="7030A0"/>
                </a:solidFill>
              </a:rPr>
              <a:t> Podar</a:t>
            </a:r>
          </a:p>
        </p:txBody>
      </p:sp>
      <p:sp>
        <p:nvSpPr>
          <p:cNvPr id="60" name="55 CuadroTexto"/>
          <p:cNvSpPr txBox="1"/>
          <p:nvPr/>
        </p:nvSpPr>
        <p:spPr>
          <a:xfrm>
            <a:off x="604753" y="1920469"/>
            <a:ext cx="2230435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</a:rPr>
              <a:t>El Árbol se Explora en Profundidad Limitada</a:t>
            </a:r>
          </a:p>
        </p:txBody>
      </p:sp>
      <p:sp>
        <p:nvSpPr>
          <p:cNvPr id="68" name="55 CuadroTexto"/>
          <p:cNvSpPr txBox="1"/>
          <p:nvPr/>
        </p:nvSpPr>
        <p:spPr>
          <a:xfrm>
            <a:off x="5003901" y="1432442"/>
            <a:ext cx="11952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rgbClr val="7030A0"/>
                </a:solidFill>
              </a:rPr>
              <a:t>[</a:t>
            </a:r>
            <a:r>
              <a:rPr lang="el-GR" dirty="0">
                <a:solidFill>
                  <a:srgbClr val="FF66FF"/>
                </a:solidFill>
              </a:rPr>
              <a:t>α</a:t>
            </a:r>
            <a:r>
              <a:rPr lang="es-CO" dirty="0">
                <a:solidFill>
                  <a:srgbClr val="FF66FF"/>
                </a:solidFill>
              </a:rPr>
              <a:t>=3</a:t>
            </a:r>
            <a:r>
              <a:rPr lang="es-CO" sz="1600" dirty="0">
                <a:solidFill>
                  <a:srgbClr val="7030A0"/>
                </a:solidFill>
              </a:rPr>
              <a:t>, +∞]</a:t>
            </a:r>
          </a:p>
        </p:txBody>
      </p:sp>
    </p:spTree>
    <p:extLst>
      <p:ext uri="{BB962C8B-B14F-4D97-AF65-F5344CB8AC3E}">
        <p14:creationId xmlns:p14="http://schemas.microsoft.com/office/powerpoint/2010/main" val="281910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8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Juegos en Tiempo Real – RTMM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7"/>
            <a:ext cx="10475046" cy="17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Tiempo Real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Cómo representar un árbol de juego cuando los jugadores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no juegan por turnos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Cómo tratar con el problema que el </a:t>
            </a:r>
            <a:r>
              <a:rPr kumimoji="0" lang="es-ES" altLang="es-CO" sz="2000" b="0" dirty="0">
                <a:solidFill>
                  <a:srgbClr val="7030A0"/>
                </a:solidFill>
              </a:rPr>
              <a:t>juego sigue avanzando 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mientras la IA esta gastando tiempo en la búsqueda del árbol?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8174" t="5812" r="6727" b="13568"/>
          <a:stretch/>
        </p:blipFill>
        <p:spPr bwMode="auto">
          <a:xfrm>
            <a:off x="2401367" y="3127759"/>
            <a:ext cx="7494663" cy="336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4 Marcador de contenido"/>
          <p:cNvSpPr txBox="1">
            <a:spLocks/>
          </p:cNvSpPr>
          <p:nvPr/>
        </p:nvSpPr>
        <p:spPr>
          <a:xfrm>
            <a:off x="316904" y="3620242"/>
            <a:ext cx="2084464" cy="2190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dirty="0">
                <a:solidFill>
                  <a:srgbClr val="7030A0"/>
                </a:solidFill>
              </a:rPr>
              <a:t>Orden</a:t>
            </a:r>
          </a:p>
          <a:p>
            <a:pPr marL="457200" lvl="1" indent="0">
              <a:buNone/>
            </a:pPr>
            <a:r>
              <a:rPr lang="es-CO" sz="1600" dirty="0"/>
              <a:t>por profundidad de los nodos</a:t>
            </a:r>
          </a:p>
          <a:p>
            <a:r>
              <a:rPr lang="es-CO" sz="1600" b="1" dirty="0">
                <a:solidFill>
                  <a:srgbClr val="7030A0"/>
                </a:solidFill>
              </a:rPr>
              <a:t>Capas Alternas</a:t>
            </a:r>
            <a:r>
              <a:rPr lang="es-CO" sz="1600" dirty="0">
                <a:solidFill>
                  <a:srgbClr val="7030A0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s-CO" sz="1600" dirty="0"/>
              <a:t>Min </a:t>
            </a:r>
          </a:p>
          <a:p>
            <a:pPr marL="457200" lvl="1" indent="0">
              <a:buNone/>
            </a:pPr>
            <a:r>
              <a:rPr lang="es-CO" sz="1600" dirty="0"/>
              <a:t>Max</a:t>
            </a:r>
          </a:p>
        </p:txBody>
      </p:sp>
      <p:pic>
        <p:nvPicPr>
          <p:cNvPr id="11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795" y="0"/>
            <a:ext cx="12201128" cy="6863135"/>
          </a:xfrm>
          <a:prstGeom prst="rect">
            <a:avLst/>
          </a:prstGeom>
        </p:spPr>
      </p:pic>
      <p:sp>
        <p:nvSpPr>
          <p:cNvPr id="12" name="4 Marcador de contenido"/>
          <p:cNvSpPr txBox="1">
            <a:spLocks/>
          </p:cNvSpPr>
          <p:nvPr/>
        </p:nvSpPr>
        <p:spPr>
          <a:xfrm>
            <a:off x="9896030" y="3218589"/>
            <a:ext cx="2153541" cy="2994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600" b="1" dirty="0">
                <a:solidFill>
                  <a:srgbClr val="7030A0"/>
                </a:solidFill>
              </a:rPr>
              <a:t>Orden</a:t>
            </a:r>
          </a:p>
          <a:p>
            <a:pPr marL="0" indent="0">
              <a:buNone/>
            </a:pPr>
            <a:r>
              <a:rPr lang="es-ES" sz="1600" dirty="0"/>
              <a:t>por tiempo de los nodos</a:t>
            </a:r>
          </a:p>
          <a:p>
            <a:r>
              <a:rPr lang="es-CO" sz="1600" b="1" dirty="0">
                <a:solidFill>
                  <a:srgbClr val="7030A0"/>
                </a:solidFill>
              </a:rPr>
              <a:t>Capas </a:t>
            </a:r>
            <a:r>
              <a:rPr lang="es-ES" sz="1600" b="1" dirty="0">
                <a:solidFill>
                  <a:srgbClr val="7030A0"/>
                </a:solidFill>
              </a:rPr>
              <a:t>Min-Max</a:t>
            </a:r>
          </a:p>
          <a:p>
            <a:pPr marL="0" indent="0">
              <a:buNone/>
            </a:pPr>
            <a:r>
              <a:rPr lang="es-ES" sz="1600" dirty="0"/>
              <a:t>nodos pueden aparecer en cualquier orden</a:t>
            </a:r>
          </a:p>
          <a:p>
            <a:r>
              <a:rPr lang="es-CO" sz="1600" b="1" dirty="0">
                <a:solidFill>
                  <a:srgbClr val="7030A0"/>
                </a:solidFill>
              </a:rPr>
              <a:t>Tiempo</a:t>
            </a:r>
          </a:p>
          <a:p>
            <a:pPr marL="0" indent="0">
              <a:buNone/>
            </a:pPr>
            <a:r>
              <a:rPr lang="es-ES" sz="1600" dirty="0"/>
              <a:t>Independiente de las acciones de los jugadores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2BECB8-C39E-4C4D-A01B-7A995B8B9914}"/>
              </a:ext>
            </a:extLst>
          </p:cNvPr>
          <p:cNvSpPr/>
          <p:nvPr/>
        </p:nvSpPr>
        <p:spPr>
          <a:xfrm>
            <a:off x="1272179" y="6488668"/>
            <a:ext cx="109562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Ontañón, S. (2012). Experiments with game tree search in real-time strategy games. </a:t>
            </a:r>
            <a:r>
              <a:rPr lang="es-CO" sz="1600" i="1" dirty="0">
                <a:solidFill>
                  <a:schemeClr val="bg1">
                    <a:lumMod val="50000"/>
                  </a:schemeClr>
                </a:solidFill>
              </a:rPr>
              <a:t>arXiv preprint arXiv:1208.1940</a:t>
            </a:r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65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8" y="0"/>
            <a:ext cx="12201128" cy="6863135"/>
          </a:xfrm>
        </p:spPr>
      </p:pic>
      <p:pic>
        <p:nvPicPr>
          <p:cNvPr id="11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795" y="0"/>
            <a:ext cx="12201128" cy="6863135"/>
          </a:xfrm>
          <a:prstGeom prst="rect">
            <a:avLst/>
          </a:prstGeom>
        </p:spPr>
      </p:pic>
      <p:pic>
        <p:nvPicPr>
          <p:cNvPr id="13" name="Picture 2" descr="C:\Users\MAPA\Desktop\AI_Games_SI\GOtabler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7110741" y="2209031"/>
            <a:ext cx="4066208" cy="2846346"/>
          </a:xfrm>
          <a:prstGeom prst="rect">
            <a:avLst/>
          </a:prstGeom>
          <a:noFill/>
        </p:spPr>
      </p:pic>
      <p:sp>
        <p:nvSpPr>
          <p:cNvPr id="31" name="Rectángulo 30"/>
          <p:cNvSpPr/>
          <p:nvPr/>
        </p:nvSpPr>
        <p:spPr>
          <a:xfrm>
            <a:off x="1341911" y="284181"/>
            <a:ext cx="81518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Juegos Complejos – MCTS</a:t>
            </a:r>
          </a:p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Árboles de Montecarlo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7"/>
            <a:ext cx="10475046" cy="179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Árbol de Gran Tamaño – Algoritmo MCTS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Cómo buscar en un árbol de gran profundidad, con alto grado de ramificación y alta aleatoriedad?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Ej. Juego </a:t>
            </a:r>
            <a:r>
              <a:rPr kumimoji="0" lang="es-ES" altLang="es-CO" sz="2000" b="0" dirty="0" err="1">
                <a:solidFill>
                  <a:schemeClr val="accent1">
                    <a:lumMod val="50000"/>
                  </a:schemeClr>
                </a:solidFill>
              </a:rPr>
              <a:t>Go</a:t>
            </a: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0960" y="4524997"/>
            <a:ext cx="5037150" cy="226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8902" y="4876114"/>
            <a:ext cx="3904755" cy="164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6 CuadroTexto"/>
          <p:cNvSpPr txBox="1"/>
          <p:nvPr/>
        </p:nvSpPr>
        <p:spPr>
          <a:xfrm>
            <a:off x="7720671" y="6368809"/>
            <a:ext cx="3528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/>
              <a:t>Contenido Asociado al Juego GO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224147" y="2711969"/>
            <a:ext cx="5424481" cy="2116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Estructura del Árbol de Montecarlo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Nodo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Vi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Valor actual de la posición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Ni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Contador de visitas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dirty="0">
                <a:solidFill>
                  <a:schemeClr val="accent1">
                    <a:lumMod val="50000"/>
                  </a:schemeClr>
                </a:solidFill>
              </a:rPr>
              <a:t>Ci →</a:t>
            </a: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 Contenido asociado al problema</a:t>
            </a:r>
          </a:p>
        </p:txBody>
      </p:sp>
    </p:spTree>
    <p:extLst>
      <p:ext uri="{BB962C8B-B14F-4D97-AF65-F5344CB8AC3E}">
        <p14:creationId xmlns:p14="http://schemas.microsoft.com/office/powerpoint/2010/main" val="66698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8" y="0"/>
            <a:ext cx="12201128" cy="6863135"/>
          </a:xfrm>
        </p:spPr>
      </p:pic>
      <p:pic>
        <p:nvPicPr>
          <p:cNvPr id="11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3795" y="0"/>
            <a:ext cx="12201128" cy="6863135"/>
          </a:xfrm>
          <a:prstGeom prst="rect">
            <a:avLst/>
          </a:prstGeom>
        </p:spPr>
      </p:pic>
      <p:sp>
        <p:nvSpPr>
          <p:cNvPr id="31" name="Rectángulo 30"/>
          <p:cNvSpPr/>
          <p:nvPr/>
        </p:nvSpPr>
        <p:spPr>
          <a:xfrm>
            <a:off x="1341911" y="284181"/>
            <a:ext cx="81518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Juegos Complejos – MCTS</a:t>
            </a:r>
          </a:p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Árboles de Montecarlo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7"/>
            <a:ext cx="10475046" cy="1336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 MTCS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Avanzar por una rama (Vi/Ni) hasta una hoja y realizar expansión.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kumimoji="0" lang="es-ES" altLang="es-CO" sz="2000" b="0" dirty="0">
                <a:solidFill>
                  <a:schemeClr val="accent1">
                    <a:lumMod val="50000"/>
                  </a:schemeClr>
                </a:solidFill>
              </a:rPr>
              <a:t>Simular movimientos aleatorios y propagar MIN-MAX hacia atrás.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20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2733588"/>
            <a:ext cx="8229600" cy="4091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8585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Dirigido 4 –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789140" y="1440156"/>
            <a:ext cx="10384076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del Triqui-Móvil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En un tablero de tamaño 3x3, dos jugadores se alternan para poner símbolos ‘X’ y ‘O’.</a:t>
            </a:r>
            <a:br>
              <a:rPr kumimoji="0" lang="es-ES" altLang="es-CO" sz="2000" b="0" dirty="0">
                <a:solidFill>
                  <a:srgbClr val="0070C0"/>
                </a:solidFill>
              </a:rPr>
            </a:br>
            <a:r>
              <a:rPr kumimoji="0" lang="es-ES" altLang="es-CO" sz="2000" b="0" dirty="0">
                <a:solidFill>
                  <a:srgbClr val="0070C0"/>
                </a:solidFill>
              </a:rPr>
              <a:t>En su turno un jugador puede poner una ficha en un sitio libre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o mover horizontal o verticalmente una de sus fichas que ya está en el tablero hacia un sitio libre adyacente.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Gana el que logre poner tres en línea.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2000" b="0" dirty="0">
              <a:solidFill>
                <a:srgbClr val="C00000"/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dirty="0">
                <a:solidFill>
                  <a:srgbClr val="00B050"/>
                </a:solidFill>
              </a:rPr>
              <a:t>Análisis y Diseño de la Solución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Analizar y definir cómo representar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que genera los sucesores de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para determinar que el juego ha terminado.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heurística para valorar un estado.</a:t>
            </a:r>
            <a:endParaRPr kumimoji="0" lang="es-ES" altLang="es-CO" sz="1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1096" b="51329"/>
          <a:stretch/>
        </p:blipFill>
        <p:spPr bwMode="auto">
          <a:xfrm>
            <a:off x="6127973" y="3994890"/>
            <a:ext cx="5274887" cy="165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2646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Análisis y Diseño – Juego Triqui</a:t>
            </a:r>
          </a:p>
        </p:txBody>
      </p:sp>
      <p:sp>
        <p:nvSpPr>
          <p:cNvPr id="199" name="Rectangle 4">
            <a:extLst>
              <a:ext uri="{FF2B5EF4-FFF2-40B4-BE49-F238E27FC236}">
                <a16:creationId xmlns:a16="http://schemas.microsoft.com/office/drawing/2014/main" id="{C8E94B07-101F-4411-BB47-6795E149E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147" y="1531643"/>
            <a:ext cx="10544300" cy="51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4E915BBD-D4E1-48C0-8C50-B5AC9202D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147" y="1531643"/>
            <a:ext cx="10544300" cy="51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4" name="Rectangle 1027">
            <a:extLst>
              <a:ext uri="{FF2B5EF4-FFF2-40B4-BE49-F238E27FC236}">
                <a16:creationId xmlns:a16="http://schemas.microsoft.com/office/drawing/2014/main" id="{1D66055A-C5D7-4D5B-B555-A659EF363057}"/>
              </a:ext>
            </a:extLst>
          </p:cNvPr>
          <p:cNvSpPr txBox="1">
            <a:spLocks noChangeArrowheads="1"/>
          </p:cNvSpPr>
          <p:nvPr/>
        </p:nvSpPr>
        <p:spPr>
          <a:xfrm>
            <a:off x="6845598" y="1543963"/>
            <a:ext cx="5369374" cy="4977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chemeClr val="accent1"/>
                </a:solidFill>
              </a:rPr>
              <a:t>Función Heurística – </a:t>
            </a:r>
            <a:r>
              <a:rPr lang="es-ES" altLang="es-CO" sz="1800" b="1" dirty="0">
                <a:solidFill>
                  <a:srgbClr val="C00000"/>
                </a:solidFill>
              </a:rPr>
              <a:t>Ho para el jugador O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0070C0"/>
                </a:solidFill>
              </a:rPr>
              <a:t>Indicadores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B050"/>
                </a:solidFill>
              </a:rPr>
              <a:t>Ind1</a:t>
            </a:r>
            <a:r>
              <a:rPr lang="es-CO" altLang="es-CO" sz="1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s-ES" altLang="es-CO" sz="1600" dirty="0">
                <a:solidFill>
                  <a:srgbClr val="00B050"/>
                </a:solidFill>
              </a:rPr>
              <a:t> 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Ind2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Ind3 </a:t>
            </a:r>
            <a:r>
              <a:rPr lang="es-ES" altLang="es-CO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Ind4 </a:t>
            </a:r>
            <a:r>
              <a:rPr lang="es-ES" altLang="es-CO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Ind5 </a:t>
            </a:r>
            <a:r>
              <a:rPr lang="es-ES" altLang="es-CO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Ind6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0070C0"/>
                </a:solidFill>
              </a:rPr>
              <a:t>Ponderación Indicadores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u="sng" dirty="0">
              <a:solidFill>
                <a:srgbClr val="0070C0"/>
              </a:solidFill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70C0"/>
                </a:solidFill>
              </a:rPr>
              <a:t>Ho = </a:t>
            </a:r>
            <a:r>
              <a:rPr lang="es-ES" altLang="es-CO" sz="1600" dirty="0">
                <a:solidFill>
                  <a:srgbClr val="00B050"/>
                </a:solidFill>
              </a:rPr>
              <a:t>w1 x Ind1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 + w2 x Ind2 </a:t>
            </a:r>
            <a:r>
              <a:rPr lang="es-ES" altLang="es-CO" sz="1600" dirty="0">
                <a:solidFill>
                  <a:srgbClr val="7030A0"/>
                </a:solidFill>
              </a:rPr>
              <a:t>+ w3 x Ind3</a:t>
            </a:r>
            <a:r>
              <a:rPr lang="es-ES" altLang="es-CO" sz="1600" dirty="0"/>
              <a:t> + ….</a:t>
            </a:r>
          </a:p>
          <a:p>
            <a:pPr marL="457200" lvl="1" indent="0">
              <a:lnSpc>
                <a:spcPct val="83000"/>
              </a:lnSpc>
              <a:buNone/>
            </a:pPr>
            <a:endParaRPr lang="es-ES" altLang="es-CO" sz="1600" dirty="0"/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B050"/>
                </a:solidFill>
              </a:rPr>
              <a:t>w1 = </a:t>
            </a: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w2 = </a:t>
            </a: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w3 = </a:t>
            </a: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w4 = </a:t>
            </a:r>
            <a:endParaRPr lang="es-ES" altLang="es-CO" sz="1600" dirty="0"/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w5 = </a:t>
            </a:r>
            <a:endParaRPr lang="es-ES" altLang="es-CO" sz="1600" dirty="0"/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w6 = </a:t>
            </a:r>
          </a:p>
        </p:txBody>
      </p:sp>
      <p:sp>
        <p:nvSpPr>
          <p:cNvPr id="255" name="CuadroTexto 254">
            <a:extLst>
              <a:ext uri="{FF2B5EF4-FFF2-40B4-BE49-F238E27FC236}">
                <a16:creationId xmlns:a16="http://schemas.microsoft.com/office/drawing/2014/main" id="{46ABA913-47EA-423F-8241-1E2C004DB8A1}"/>
              </a:ext>
            </a:extLst>
          </p:cNvPr>
          <p:cNvSpPr txBox="1"/>
          <p:nvPr/>
        </p:nvSpPr>
        <p:spPr>
          <a:xfrm>
            <a:off x="1519325" y="362359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727BBA3B-9A2D-4703-832D-08DF6904B68D}"/>
              </a:ext>
            </a:extLst>
          </p:cNvPr>
          <p:cNvGrpSpPr/>
          <p:nvPr/>
        </p:nvGrpSpPr>
        <p:grpSpPr>
          <a:xfrm>
            <a:off x="1550296" y="3650534"/>
            <a:ext cx="748146" cy="748146"/>
            <a:chOff x="1341912" y="2501375"/>
            <a:chExt cx="748146" cy="748146"/>
          </a:xfrm>
        </p:grpSpPr>
        <p:sp>
          <p:nvSpPr>
            <p:cNvPr id="257" name="Rectángulo 256">
              <a:extLst>
                <a:ext uri="{FF2B5EF4-FFF2-40B4-BE49-F238E27FC236}">
                  <a16:creationId xmlns:a16="http://schemas.microsoft.com/office/drawing/2014/main" id="{6AA8961A-8532-48CB-AEF2-89E7AF1E0474}"/>
                </a:ext>
              </a:extLst>
            </p:cNvPr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8" name="Rectángulo 257">
              <a:extLst>
                <a:ext uri="{FF2B5EF4-FFF2-40B4-BE49-F238E27FC236}">
                  <a16:creationId xmlns:a16="http://schemas.microsoft.com/office/drawing/2014/main" id="{AF63448E-1B8A-4A30-8B63-5E445DE29840}"/>
                </a:ext>
              </a:extLst>
            </p:cNvPr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9" name="Rectángulo 258">
              <a:extLst>
                <a:ext uri="{FF2B5EF4-FFF2-40B4-BE49-F238E27FC236}">
                  <a16:creationId xmlns:a16="http://schemas.microsoft.com/office/drawing/2014/main" id="{274EB617-007A-41BA-8712-958596A78793}"/>
                </a:ext>
              </a:extLst>
            </p:cNvPr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0" name="Rectángulo 259">
              <a:extLst>
                <a:ext uri="{FF2B5EF4-FFF2-40B4-BE49-F238E27FC236}">
                  <a16:creationId xmlns:a16="http://schemas.microsoft.com/office/drawing/2014/main" id="{7BF54690-2BD7-435F-B19D-ECC75E0D8C31}"/>
                </a:ext>
              </a:extLst>
            </p:cNvPr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1" name="Rectángulo 260">
              <a:extLst>
                <a:ext uri="{FF2B5EF4-FFF2-40B4-BE49-F238E27FC236}">
                  <a16:creationId xmlns:a16="http://schemas.microsoft.com/office/drawing/2014/main" id="{351D7D41-FDCB-496E-B78B-BC08E28027BA}"/>
                </a:ext>
              </a:extLst>
            </p:cNvPr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2" name="Rectángulo 261">
              <a:extLst>
                <a:ext uri="{FF2B5EF4-FFF2-40B4-BE49-F238E27FC236}">
                  <a16:creationId xmlns:a16="http://schemas.microsoft.com/office/drawing/2014/main" id="{C9C9AAD7-BFF5-40D7-BE77-09A65D1F659D}"/>
                </a:ext>
              </a:extLst>
            </p:cNvPr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544E4ABF-5AC5-43B7-AAB4-ACE7AEC4C576}"/>
              </a:ext>
            </a:extLst>
          </p:cNvPr>
          <p:cNvSpPr txBox="1"/>
          <p:nvPr/>
        </p:nvSpPr>
        <p:spPr>
          <a:xfrm>
            <a:off x="2041122" y="409090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88B8C91D-BD37-4F30-AA00-A949727E60FC}"/>
              </a:ext>
            </a:extLst>
          </p:cNvPr>
          <p:cNvSpPr txBox="1"/>
          <p:nvPr/>
        </p:nvSpPr>
        <p:spPr>
          <a:xfrm>
            <a:off x="1529460" y="4108269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cxnSp>
        <p:nvCxnSpPr>
          <p:cNvPr id="265" name="Conector recto de flecha 264">
            <a:extLst>
              <a:ext uri="{FF2B5EF4-FFF2-40B4-BE49-F238E27FC236}">
                <a16:creationId xmlns:a16="http://schemas.microsoft.com/office/drawing/2014/main" id="{C5F14EBC-1C8C-41AC-BD5C-94C991CAD733}"/>
              </a:ext>
            </a:extLst>
          </p:cNvPr>
          <p:cNvCxnSpPr>
            <a:stCxn id="262" idx="0"/>
          </p:cNvCxnSpPr>
          <p:nvPr/>
        </p:nvCxnSpPr>
        <p:spPr>
          <a:xfrm flipV="1">
            <a:off x="2298442" y="2913558"/>
            <a:ext cx="951468" cy="1111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ctor recto de flecha 265">
            <a:extLst>
              <a:ext uri="{FF2B5EF4-FFF2-40B4-BE49-F238E27FC236}">
                <a16:creationId xmlns:a16="http://schemas.microsoft.com/office/drawing/2014/main" id="{68D634AB-ED03-4D52-A93F-0306EB535FFA}"/>
              </a:ext>
            </a:extLst>
          </p:cNvPr>
          <p:cNvCxnSpPr/>
          <p:nvPr/>
        </p:nvCxnSpPr>
        <p:spPr>
          <a:xfrm>
            <a:off x="2313434" y="4032164"/>
            <a:ext cx="9364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recto de flecha 266">
            <a:extLst>
              <a:ext uri="{FF2B5EF4-FFF2-40B4-BE49-F238E27FC236}">
                <a16:creationId xmlns:a16="http://schemas.microsoft.com/office/drawing/2014/main" id="{4BE4DA26-3459-4C09-BC35-4E5266663544}"/>
              </a:ext>
            </a:extLst>
          </p:cNvPr>
          <p:cNvCxnSpPr>
            <a:stCxn id="262" idx="0"/>
          </p:cNvCxnSpPr>
          <p:nvPr/>
        </p:nvCxnSpPr>
        <p:spPr>
          <a:xfrm>
            <a:off x="2298442" y="4024607"/>
            <a:ext cx="938570" cy="1259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8" name="Grupo 267">
            <a:extLst>
              <a:ext uri="{FF2B5EF4-FFF2-40B4-BE49-F238E27FC236}">
                <a16:creationId xmlns:a16="http://schemas.microsoft.com/office/drawing/2014/main" id="{F28C88D9-933D-4920-95CD-E3DB44020161}"/>
              </a:ext>
            </a:extLst>
          </p:cNvPr>
          <p:cNvGrpSpPr/>
          <p:nvPr/>
        </p:nvGrpSpPr>
        <p:grpSpPr>
          <a:xfrm>
            <a:off x="3218939" y="4870332"/>
            <a:ext cx="805849" cy="792449"/>
            <a:chOff x="4016799" y="4870332"/>
            <a:chExt cx="805849" cy="792449"/>
          </a:xfrm>
        </p:grpSpPr>
        <p:sp>
          <p:nvSpPr>
            <p:cNvPr id="269" name="CuadroTexto 268">
              <a:extLst>
                <a:ext uri="{FF2B5EF4-FFF2-40B4-BE49-F238E27FC236}">
                  <a16:creationId xmlns:a16="http://schemas.microsoft.com/office/drawing/2014/main" id="{5BAB64CD-B479-4937-8134-068B7B39BA51}"/>
                </a:ext>
              </a:extLst>
            </p:cNvPr>
            <p:cNvSpPr txBox="1"/>
            <p:nvPr/>
          </p:nvSpPr>
          <p:spPr>
            <a:xfrm>
              <a:off x="4016799" y="487033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270" name="Grupo 269">
              <a:extLst>
                <a:ext uri="{FF2B5EF4-FFF2-40B4-BE49-F238E27FC236}">
                  <a16:creationId xmlns:a16="http://schemas.microsoft.com/office/drawing/2014/main" id="{DBFC179C-7904-4429-9127-D396D2F58445}"/>
                </a:ext>
              </a:extLst>
            </p:cNvPr>
            <p:cNvGrpSpPr/>
            <p:nvPr/>
          </p:nvGrpSpPr>
          <p:grpSpPr>
            <a:xfrm>
              <a:off x="4047770" y="4897269"/>
              <a:ext cx="748146" cy="748146"/>
              <a:chOff x="1341912" y="2501375"/>
              <a:chExt cx="748146" cy="748146"/>
            </a:xfrm>
          </p:grpSpPr>
          <p:sp>
            <p:nvSpPr>
              <p:cNvPr id="274" name="Rectángulo 273">
                <a:extLst>
                  <a:ext uri="{FF2B5EF4-FFF2-40B4-BE49-F238E27FC236}">
                    <a16:creationId xmlns:a16="http://schemas.microsoft.com/office/drawing/2014/main" id="{C9430909-FC15-4ED6-B908-97635F1D17B2}"/>
                  </a:ext>
                </a:extLst>
              </p:cNvPr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5" name="Rectángulo 274">
                <a:extLst>
                  <a:ext uri="{FF2B5EF4-FFF2-40B4-BE49-F238E27FC236}">
                    <a16:creationId xmlns:a16="http://schemas.microsoft.com/office/drawing/2014/main" id="{F09E8769-988D-41F9-A307-62239469BB5F}"/>
                  </a:ext>
                </a:extLst>
              </p:cNvPr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6" name="Rectángulo 275">
                <a:extLst>
                  <a:ext uri="{FF2B5EF4-FFF2-40B4-BE49-F238E27FC236}">
                    <a16:creationId xmlns:a16="http://schemas.microsoft.com/office/drawing/2014/main" id="{2B9E1F26-1F91-4ECB-A367-1EA88F8C76C2}"/>
                  </a:ext>
                </a:extLst>
              </p:cNvPr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7" name="Rectángulo 276">
                <a:extLst>
                  <a:ext uri="{FF2B5EF4-FFF2-40B4-BE49-F238E27FC236}">
                    <a16:creationId xmlns:a16="http://schemas.microsoft.com/office/drawing/2014/main" id="{AF129BCA-5F6D-4CAD-8BC3-E6ABED402EDB}"/>
                  </a:ext>
                </a:extLst>
              </p:cNvPr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8" name="Rectángulo 277">
                <a:extLst>
                  <a:ext uri="{FF2B5EF4-FFF2-40B4-BE49-F238E27FC236}">
                    <a16:creationId xmlns:a16="http://schemas.microsoft.com/office/drawing/2014/main" id="{D3B2A0B2-41D6-40C7-94BE-5C07C21B4EC8}"/>
                  </a:ext>
                </a:extLst>
              </p:cNvPr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79" name="Rectángulo 278">
                <a:extLst>
                  <a:ext uri="{FF2B5EF4-FFF2-40B4-BE49-F238E27FC236}">
                    <a16:creationId xmlns:a16="http://schemas.microsoft.com/office/drawing/2014/main" id="{F32D629F-95BE-4183-A67E-3F4D0458EDEC}"/>
                  </a:ext>
                </a:extLst>
              </p:cNvPr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71" name="CuadroTexto 270">
              <a:extLst>
                <a:ext uri="{FF2B5EF4-FFF2-40B4-BE49-F238E27FC236}">
                  <a16:creationId xmlns:a16="http://schemas.microsoft.com/office/drawing/2014/main" id="{DA97177C-B163-4C6C-BF30-0E2F846718F2}"/>
                </a:ext>
              </a:extLst>
            </p:cNvPr>
            <p:cNvSpPr txBox="1"/>
            <p:nvPr/>
          </p:nvSpPr>
          <p:spPr>
            <a:xfrm>
              <a:off x="4538596" y="533763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272" name="CuadroTexto 271">
              <a:extLst>
                <a:ext uri="{FF2B5EF4-FFF2-40B4-BE49-F238E27FC236}">
                  <a16:creationId xmlns:a16="http://schemas.microsoft.com/office/drawing/2014/main" id="{B1600485-E35E-4008-AFEB-7C1FCD600395}"/>
                </a:ext>
              </a:extLst>
            </p:cNvPr>
            <p:cNvSpPr txBox="1"/>
            <p:nvPr/>
          </p:nvSpPr>
          <p:spPr>
            <a:xfrm>
              <a:off x="4026934" y="535500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273" name="CuadroTexto 272">
              <a:extLst>
                <a:ext uri="{FF2B5EF4-FFF2-40B4-BE49-F238E27FC236}">
                  <a16:creationId xmlns:a16="http://schemas.microsoft.com/office/drawing/2014/main" id="{D03EC929-3DA1-4E14-907E-A8EF8AA7039B}"/>
                </a:ext>
              </a:extLst>
            </p:cNvPr>
            <p:cNvSpPr txBox="1"/>
            <p:nvPr/>
          </p:nvSpPr>
          <p:spPr>
            <a:xfrm>
              <a:off x="4261100" y="5089776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</p:grpSp>
      <p:grpSp>
        <p:nvGrpSpPr>
          <p:cNvPr id="280" name="Grupo 279">
            <a:extLst>
              <a:ext uri="{FF2B5EF4-FFF2-40B4-BE49-F238E27FC236}">
                <a16:creationId xmlns:a16="http://schemas.microsoft.com/office/drawing/2014/main" id="{9721F3D7-F946-4759-AC8E-D78DF0987E42}"/>
              </a:ext>
            </a:extLst>
          </p:cNvPr>
          <p:cNvGrpSpPr/>
          <p:nvPr/>
        </p:nvGrpSpPr>
        <p:grpSpPr>
          <a:xfrm>
            <a:off x="3218939" y="3631395"/>
            <a:ext cx="807673" cy="807322"/>
            <a:chOff x="4016799" y="3631395"/>
            <a:chExt cx="807673" cy="807322"/>
          </a:xfrm>
        </p:grpSpPr>
        <p:sp>
          <p:nvSpPr>
            <p:cNvPr id="281" name="CuadroTexto 280">
              <a:extLst>
                <a:ext uri="{FF2B5EF4-FFF2-40B4-BE49-F238E27FC236}">
                  <a16:creationId xmlns:a16="http://schemas.microsoft.com/office/drawing/2014/main" id="{C05CC0E6-E6D3-4EA9-A816-C53D50A79659}"/>
                </a:ext>
              </a:extLst>
            </p:cNvPr>
            <p:cNvSpPr txBox="1"/>
            <p:nvPr/>
          </p:nvSpPr>
          <p:spPr>
            <a:xfrm>
              <a:off x="4016799" y="364626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282" name="Grupo 281">
              <a:extLst>
                <a:ext uri="{FF2B5EF4-FFF2-40B4-BE49-F238E27FC236}">
                  <a16:creationId xmlns:a16="http://schemas.microsoft.com/office/drawing/2014/main" id="{8FB54C6E-7F89-4C14-9439-33CC69E3BD48}"/>
                </a:ext>
              </a:extLst>
            </p:cNvPr>
            <p:cNvGrpSpPr/>
            <p:nvPr/>
          </p:nvGrpSpPr>
          <p:grpSpPr>
            <a:xfrm>
              <a:off x="4047770" y="3673205"/>
              <a:ext cx="748146" cy="748146"/>
              <a:chOff x="1341912" y="2501375"/>
              <a:chExt cx="748146" cy="748146"/>
            </a:xfrm>
          </p:grpSpPr>
          <p:sp>
            <p:nvSpPr>
              <p:cNvPr id="286" name="Rectángulo 285">
                <a:extLst>
                  <a:ext uri="{FF2B5EF4-FFF2-40B4-BE49-F238E27FC236}">
                    <a16:creationId xmlns:a16="http://schemas.microsoft.com/office/drawing/2014/main" id="{6FDACAB7-016E-4412-A653-1AEA92DCF699}"/>
                  </a:ext>
                </a:extLst>
              </p:cNvPr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87" name="Rectángulo 286">
                <a:extLst>
                  <a:ext uri="{FF2B5EF4-FFF2-40B4-BE49-F238E27FC236}">
                    <a16:creationId xmlns:a16="http://schemas.microsoft.com/office/drawing/2014/main" id="{F15AF77F-C77E-4DCD-ACD2-918B940FF4B2}"/>
                  </a:ext>
                </a:extLst>
              </p:cNvPr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88" name="Rectángulo 287">
                <a:extLst>
                  <a:ext uri="{FF2B5EF4-FFF2-40B4-BE49-F238E27FC236}">
                    <a16:creationId xmlns:a16="http://schemas.microsoft.com/office/drawing/2014/main" id="{296ACAC3-2308-4552-9D40-86BCE9F025CF}"/>
                  </a:ext>
                </a:extLst>
              </p:cNvPr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89" name="Rectángulo 288">
                <a:extLst>
                  <a:ext uri="{FF2B5EF4-FFF2-40B4-BE49-F238E27FC236}">
                    <a16:creationId xmlns:a16="http://schemas.microsoft.com/office/drawing/2014/main" id="{C16DAB9F-56FE-467B-9FAA-8C45DB33040E}"/>
                  </a:ext>
                </a:extLst>
              </p:cNvPr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90" name="Rectángulo 289">
                <a:extLst>
                  <a:ext uri="{FF2B5EF4-FFF2-40B4-BE49-F238E27FC236}">
                    <a16:creationId xmlns:a16="http://schemas.microsoft.com/office/drawing/2014/main" id="{88624FFF-091E-4B1F-B90B-94212D5F0F84}"/>
                  </a:ext>
                </a:extLst>
              </p:cNvPr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91" name="Rectángulo 290">
                <a:extLst>
                  <a:ext uri="{FF2B5EF4-FFF2-40B4-BE49-F238E27FC236}">
                    <a16:creationId xmlns:a16="http://schemas.microsoft.com/office/drawing/2014/main" id="{979884E0-6F9B-4D21-B851-CC30F5EA5927}"/>
                  </a:ext>
                </a:extLst>
              </p:cNvPr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83" name="CuadroTexto 282">
              <a:extLst>
                <a:ext uri="{FF2B5EF4-FFF2-40B4-BE49-F238E27FC236}">
                  <a16:creationId xmlns:a16="http://schemas.microsoft.com/office/drawing/2014/main" id="{B131A7D0-FB8E-4675-A7C3-D1A04BAF5A95}"/>
                </a:ext>
              </a:extLst>
            </p:cNvPr>
            <p:cNvSpPr txBox="1"/>
            <p:nvPr/>
          </p:nvSpPr>
          <p:spPr>
            <a:xfrm>
              <a:off x="4538596" y="411357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284" name="CuadroTexto 283">
              <a:extLst>
                <a:ext uri="{FF2B5EF4-FFF2-40B4-BE49-F238E27FC236}">
                  <a16:creationId xmlns:a16="http://schemas.microsoft.com/office/drawing/2014/main" id="{982B4C00-DB03-4A82-ACD6-E8C1514D7822}"/>
                </a:ext>
              </a:extLst>
            </p:cNvPr>
            <p:cNvSpPr txBox="1"/>
            <p:nvPr/>
          </p:nvSpPr>
          <p:spPr>
            <a:xfrm>
              <a:off x="4026934" y="4130940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285" name="CuadroTexto 284">
              <a:extLst>
                <a:ext uri="{FF2B5EF4-FFF2-40B4-BE49-F238E27FC236}">
                  <a16:creationId xmlns:a16="http://schemas.microsoft.com/office/drawing/2014/main" id="{91A7B9C6-FBDA-475D-9107-8FB9A07E9C0B}"/>
                </a:ext>
              </a:extLst>
            </p:cNvPr>
            <p:cNvSpPr txBox="1"/>
            <p:nvPr/>
          </p:nvSpPr>
          <p:spPr>
            <a:xfrm>
              <a:off x="4517978" y="3631395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</p:grpSp>
      <p:grpSp>
        <p:nvGrpSpPr>
          <p:cNvPr id="292" name="Grupo 291">
            <a:extLst>
              <a:ext uri="{FF2B5EF4-FFF2-40B4-BE49-F238E27FC236}">
                <a16:creationId xmlns:a16="http://schemas.microsoft.com/office/drawing/2014/main" id="{A716DE22-7649-412E-939A-BA0EED5356BB}"/>
              </a:ext>
            </a:extLst>
          </p:cNvPr>
          <p:cNvGrpSpPr/>
          <p:nvPr/>
        </p:nvGrpSpPr>
        <p:grpSpPr>
          <a:xfrm>
            <a:off x="3218939" y="2422081"/>
            <a:ext cx="805849" cy="792449"/>
            <a:chOff x="4016799" y="2422081"/>
            <a:chExt cx="805849" cy="792449"/>
          </a:xfrm>
        </p:grpSpPr>
        <p:sp>
          <p:nvSpPr>
            <p:cNvPr id="293" name="CuadroTexto 292">
              <a:extLst>
                <a:ext uri="{FF2B5EF4-FFF2-40B4-BE49-F238E27FC236}">
                  <a16:creationId xmlns:a16="http://schemas.microsoft.com/office/drawing/2014/main" id="{959B3B73-1C6C-4F13-9206-8791AEDDAC57}"/>
                </a:ext>
              </a:extLst>
            </p:cNvPr>
            <p:cNvSpPr txBox="1"/>
            <p:nvPr/>
          </p:nvSpPr>
          <p:spPr>
            <a:xfrm>
              <a:off x="4016799" y="24220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294" name="Grupo 293">
              <a:extLst>
                <a:ext uri="{FF2B5EF4-FFF2-40B4-BE49-F238E27FC236}">
                  <a16:creationId xmlns:a16="http://schemas.microsoft.com/office/drawing/2014/main" id="{D7916CB4-D20F-491A-B51C-DEEDB952ADFF}"/>
                </a:ext>
              </a:extLst>
            </p:cNvPr>
            <p:cNvGrpSpPr/>
            <p:nvPr/>
          </p:nvGrpSpPr>
          <p:grpSpPr>
            <a:xfrm>
              <a:off x="4047770" y="2449018"/>
              <a:ext cx="748146" cy="748146"/>
              <a:chOff x="1341912" y="2501375"/>
              <a:chExt cx="748146" cy="748146"/>
            </a:xfrm>
          </p:grpSpPr>
          <p:sp>
            <p:nvSpPr>
              <p:cNvPr id="298" name="Rectángulo 297">
                <a:extLst>
                  <a:ext uri="{FF2B5EF4-FFF2-40B4-BE49-F238E27FC236}">
                    <a16:creationId xmlns:a16="http://schemas.microsoft.com/office/drawing/2014/main" id="{A4822599-E126-4C17-8F2B-723A36C1B2DF}"/>
                  </a:ext>
                </a:extLst>
              </p:cNvPr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299" name="Rectángulo 298">
                <a:extLst>
                  <a:ext uri="{FF2B5EF4-FFF2-40B4-BE49-F238E27FC236}">
                    <a16:creationId xmlns:a16="http://schemas.microsoft.com/office/drawing/2014/main" id="{A4BEA9C9-C2D3-4130-B0D3-1A878186547A}"/>
                  </a:ext>
                </a:extLst>
              </p:cNvPr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0" name="Rectángulo 299">
                <a:extLst>
                  <a:ext uri="{FF2B5EF4-FFF2-40B4-BE49-F238E27FC236}">
                    <a16:creationId xmlns:a16="http://schemas.microsoft.com/office/drawing/2014/main" id="{8DBCA468-8942-44A0-985B-B5E3CD376907}"/>
                  </a:ext>
                </a:extLst>
              </p:cNvPr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1" name="Rectángulo 300">
                <a:extLst>
                  <a:ext uri="{FF2B5EF4-FFF2-40B4-BE49-F238E27FC236}">
                    <a16:creationId xmlns:a16="http://schemas.microsoft.com/office/drawing/2014/main" id="{CC0A49EA-88AD-4A2B-853F-0072228A550A}"/>
                  </a:ext>
                </a:extLst>
              </p:cNvPr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2" name="Rectángulo 301">
                <a:extLst>
                  <a:ext uri="{FF2B5EF4-FFF2-40B4-BE49-F238E27FC236}">
                    <a16:creationId xmlns:a16="http://schemas.microsoft.com/office/drawing/2014/main" id="{3FD4B2C0-6276-46BD-8B44-65285EC999F1}"/>
                  </a:ext>
                </a:extLst>
              </p:cNvPr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03" name="Rectángulo 302">
                <a:extLst>
                  <a:ext uri="{FF2B5EF4-FFF2-40B4-BE49-F238E27FC236}">
                    <a16:creationId xmlns:a16="http://schemas.microsoft.com/office/drawing/2014/main" id="{865730F7-EB38-4847-B69A-35531A2C9CEB}"/>
                  </a:ext>
                </a:extLst>
              </p:cNvPr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295" name="CuadroTexto 294">
              <a:extLst>
                <a:ext uri="{FF2B5EF4-FFF2-40B4-BE49-F238E27FC236}">
                  <a16:creationId xmlns:a16="http://schemas.microsoft.com/office/drawing/2014/main" id="{89F342F5-9865-440C-A458-413AF9B8073E}"/>
                </a:ext>
              </a:extLst>
            </p:cNvPr>
            <p:cNvSpPr txBox="1"/>
            <p:nvPr/>
          </p:nvSpPr>
          <p:spPr>
            <a:xfrm>
              <a:off x="4538596" y="288938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296" name="CuadroTexto 295">
              <a:extLst>
                <a:ext uri="{FF2B5EF4-FFF2-40B4-BE49-F238E27FC236}">
                  <a16:creationId xmlns:a16="http://schemas.microsoft.com/office/drawing/2014/main" id="{D93975FC-C7DE-42D8-818D-5C2AB2B24C75}"/>
                </a:ext>
              </a:extLst>
            </p:cNvPr>
            <p:cNvSpPr txBox="1"/>
            <p:nvPr/>
          </p:nvSpPr>
          <p:spPr>
            <a:xfrm>
              <a:off x="4026934" y="2906753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297" name="CuadroTexto 296">
              <a:extLst>
                <a:ext uri="{FF2B5EF4-FFF2-40B4-BE49-F238E27FC236}">
                  <a16:creationId xmlns:a16="http://schemas.microsoft.com/office/drawing/2014/main" id="{D6710094-F0E3-4579-AF71-A110992F5263}"/>
                </a:ext>
              </a:extLst>
            </p:cNvPr>
            <p:cNvSpPr txBox="1"/>
            <p:nvPr/>
          </p:nvSpPr>
          <p:spPr>
            <a:xfrm>
              <a:off x="4034872" y="2688828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</p:grpSp>
      <p:sp>
        <p:nvSpPr>
          <p:cNvPr id="304" name="CuadroTexto 303">
            <a:extLst>
              <a:ext uri="{FF2B5EF4-FFF2-40B4-BE49-F238E27FC236}">
                <a16:creationId xmlns:a16="http://schemas.microsoft.com/office/drawing/2014/main" id="{8A55968A-4633-42B8-A528-974A1569F92B}"/>
              </a:ext>
            </a:extLst>
          </p:cNvPr>
          <p:cNvSpPr txBox="1"/>
          <p:nvPr/>
        </p:nvSpPr>
        <p:spPr>
          <a:xfrm>
            <a:off x="4098567" y="4891019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00B050"/>
                </a:solidFill>
              </a:rPr>
              <a:t>Ind1-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 =   </a:t>
            </a:r>
          </a:p>
        </p:txBody>
      </p:sp>
      <p:sp>
        <p:nvSpPr>
          <p:cNvPr id="305" name="CuadroTexto 304">
            <a:extLst>
              <a:ext uri="{FF2B5EF4-FFF2-40B4-BE49-F238E27FC236}">
                <a16:creationId xmlns:a16="http://schemas.microsoft.com/office/drawing/2014/main" id="{E03D8665-7F21-4787-AB62-E5778B786383}"/>
              </a:ext>
            </a:extLst>
          </p:cNvPr>
          <p:cNvSpPr txBox="1"/>
          <p:nvPr/>
        </p:nvSpPr>
        <p:spPr>
          <a:xfrm>
            <a:off x="4111708" y="3646268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00B050"/>
                </a:solidFill>
              </a:rPr>
              <a:t>Ind1-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 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H= </a:t>
            </a:r>
          </a:p>
        </p:txBody>
      </p:sp>
      <p:sp>
        <p:nvSpPr>
          <p:cNvPr id="306" name="CuadroTexto 305">
            <a:extLst>
              <a:ext uri="{FF2B5EF4-FFF2-40B4-BE49-F238E27FC236}">
                <a16:creationId xmlns:a16="http://schemas.microsoft.com/office/drawing/2014/main" id="{E574DCAD-4DE5-4ADD-AFD6-1DA4FF084381}"/>
              </a:ext>
            </a:extLst>
          </p:cNvPr>
          <p:cNvSpPr txBox="1"/>
          <p:nvPr/>
        </p:nvSpPr>
        <p:spPr>
          <a:xfrm>
            <a:off x="4116379" y="2449018"/>
            <a:ext cx="72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00B050"/>
                </a:solidFill>
              </a:rPr>
              <a:t>Ind1-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H=  </a:t>
            </a:r>
          </a:p>
        </p:txBody>
      </p: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26B6DD49-BA26-46BC-AB37-05A2767E6B40}"/>
              </a:ext>
            </a:extLst>
          </p:cNvPr>
          <p:cNvSpPr txBox="1"/>
          <p:nvPr/>
        </p:nvSpPr>
        <p:spPr>
          <a:xfrm>
            <a:off x="1661351" y="6023899"/>
            <a:ext cx="407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C00000"/>
                </a:solidFill>
              </a:rPr>
              <a:t>Cuál jugada es mejor para el jugador O ??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53A39920-AD78-413C-B860-AE4E62DC34E4}"/>
              </a:ext>
            </a:extLst>
          </p:cNvPr>
          <p:cNvGrpSpPr/>
          <p:nvPr/>
        </p:nvGrpSpPr>
        <p:grpSpPr>
          <a:xfrm>
            <a:off x="611386" y="5035334"/>
            <a:ext cx="805849" cy="792449"/>
            <a:chOff x="4016799" y="2422081"/>
            <a:chExt cx="805849" cy="792449"/>
          </a:xfrm>
        </p:grpSpPr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39EE433A-532C-42D1-B98A-5A3F20469E10}"/>
                </a:ext>
              </a:extLst>
            </p:cNvPr>
            <p:cNvSpPr txBox="1"/>
            <p:nvPr/>
          </p:nvSpPr>
          <p:spPr>
            <a:xfrm>
              <a:off x="4016799" y="242208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F18E5BDA-D2B5-4B12-889F-9510E5E11DA0}"/>
                </a:ext>
              </a:extLst>
            </p:cNvPr>
            <p:cNvGrpSpPr/>
            <p:nvPr/>
          </p:nvGrpSpPr>
          <p:grpSpPr>
            <a:xfrm>
              <a:off x="4047770" y="2449018"/>
              <a:ext cx="748146" cy="748146"/>
              <a:chOff x="1341912" y="2501375"/>
              <a:chExt cx="748146" cy="748146"/>
            </a:xfrm>
          </p:grpSpPr>
          <p:sp>
            <p:nvSpPr>
              <p:cNvPr id="78" name="Rectángulo 77">
                <a:extLst>
                  <a:ext uri="{FF2B5EF4-FFF2-40B4-BE49-F238E27FC236}">
                    <a16:creationId xmlns:a16="http://schemas.microsoft.com/office/drawing/2014/main" id="{9668A740-5572-48B9-832F-90F39308B1E0}"/>
                  </a:ext>
                </a:extLst>
              </p:cNvPr>
              <p:cNvSpPr/>
              <p:nvPr/>
            </p:nvSpPr>
            <p:spPr>
              <a:xfrm>
                <a:off x="1341912" y="2501375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B11FC48C-1A3E-4D5A-89B5-AE676498D5D3}"/>
                  </a:ext>
                </a:extLst>
              </p:cNvPr>
              <p:cNvSpPr/>
              <p:nvPr/>
            </p:nvSpPr>
            <p:spPr>
              <a:xfrm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0" name="Rectángulo 79">
                <a:extLst>
                  <a:ext uri="{FF2B5EF4-FFF2-40B4-BE49-F238E27FC236}">
                    <a16:creationId xmlns:a16="http://schemas.microsoft.com/office/drawing/2014/main" id="{D6EC5978-175E-419D-A467-AF74EC28AA13}"/>
                  </a:ext>
                </a:extLst>
              </p:cNvPr>
              <p:cNvSpPr/>
              <p:nvPr/>
            </p:nvSpPr>
            <p:spPr>
              <a:xfrm>
                <a:off x="1341912" y="3000139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1" name="Rectángulo 80">
                <a:extLst>
                  <a:ext uri="{FF2B5EF4-FFF2-40B4-BE49-F238E27FC236}">
                    <a16:creationId xmlns:a16="http://schemas.microsoft.com/office/drawing/2014/main" id="{20597D9F-2EAD-4707-A0C7-1F3D083B5734}"/>
                  </a:ext>
                </a:extLst>
              </p:cNvPr>
              <p:cNvSpPr/>
              <p:nvPr/>
            </p:nvSpPr>
            <p:spPr>
              <a:xfrm rot="5400000">
                <a:off x="1092530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28525729-F4BA-42CD-ACD3-523F2760E16F}"/>
                  </a:ext>
                </a:extLst>
              </p:cNvPr>
              <p:cNvSpPr/>
              <p:nvPr/>
            </p:nvSpPr>
            <p:spPr>
              <a:xfrm rot="5400000">
                <a:off x="1341912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A8075CBC-1E50-4544-ABE5-E657EB096B09}"/>
                  </a:ext>
                </a:extLst>
              </p:cNvPr>
              <p:cNvSpPr/>
              <p:nvPr/>
            </p:nvSpPr>
            <p:spPr>
              <a:xfrm rot="5400000">
                <a:off x="1591294" y="2750757"/>
                <a:ext cx="748146" cy="24938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5D204D00-29B5-4BA5-AD93-7A2B952F57F4}"/>
                </a:ext>
              </a:extLst>
            </p:cNvPr>
            <p:cNvSpPr txBox="1"/>
            <p:nvPr/>
          </p:nvSpPr>
          <p:spPr>
            <a:xfrm>
              <a:off x="4538596" y="288938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006666"/>
                  </a:solidFill>
                </a:rPr>
                <a:t>X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5AD54EEF-95E8-4F1E-AC80-81AB4A9B4C7A}"/>
                </a:ext>
              </a:extLst>
            </p:cNvPr>
            <p:cNvSpPr txBox="1"/>
            <p:nvPr/>
          </p:nvSpPr>
          <p:spPr>
            <a:xfrm>
              <a:off x="4026934" y="2906753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CD152DCC-B1BB-4AFC-9B3C-87B4E7A3A2BD}"/>
                </a:ext>
              </a:extLst>
            </p:cNvPr>
            <p:cNvSpPr txBox="1"/>
            <p:nvPr/>
          </p:nvSpPr>
          <p:spPr>
            <a:xfrm>
              <a:off x="4268036" y="2424095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>
                  <a:solidFill>
                    <a:srgbClr val="C00000"/>
                  </a:solidFill>
                </a:rPr>
                <a:t>O</a:t>
              </a:r>
            </a:p>
          </p:txBody>
        </p:sp>
      </p:grpSp>
      <p:sp>
        <p:nvSpPr>
          <p:cNvPr id="84" name="CuadroTexto 83">
            <a:extLst>
              <a:ext uri="{FF2B5EF4-FFF2-40B4-BE49-F238E27FC236}">
                <a16:creationId xmlns:a16="http://schemas.microsoft.com/office/drawing/2014/main" id="{47F5EF26-8B47-4279-9313-88E78EBAD84A}"/>
              </a:ext>
            </a:extLst>
          </p:cNvPr>
          <p:cNvSpPr txBox="1"/>
          <p:nvPr/>
        </p:nvSpPr>
        <p:spPr>
          <a:xfrm>
            <a:off x="1508826" y="5062271"/>
            <a:ext cx="72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00B050"/>
                </a:solidFill>
              </a:rPr>
              <a:t>Ind1-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H=  </a:t>
            </a: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3DC6111C-8452-4E5F-A94E-DAD3FA3F625A}"/>
              </a:ext>
            </a:extLst>
          </p:cNvPr>
          <p:cNvCxnSpPr>
            <a:cxnSpLocks/>
            <a:stCxn id="261" idx="3"/>
            <a:endCxn id="82" idx="1"/>
          </p:cNvCxnSpPr>
          <p:nvPr/>
        </p:nvCxnSpPr>
        <p:spPr>
          <a:xfrm flipH="1">
            <a:off x="1016430" y="4398680"/>
            <a:ext cx="907939" cy="6635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B12490C-7B14-4742-9810-EAB67E0A8B18}"/>
              </a:ext>
            </a:extLst>
          </p:cNvPr>
          <p:cNvSpPr txBox="1"/>
          <p:nvPr/>
        </p:nvSpPr>
        <p:spPr>
          <a:xfrm>
            <a:off x="188513" y="2262466"/>
            <a:ext cx="2473819" cy="82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sz="1400" dirty="0">
                <a:solidFill>
                  <a:srgbClr val="C00000"/>
                </a:solidFill>
              </a:rPr>
              <a:t>Cómo representar un estado?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sz="1400" dirty="0">
                <a:solidFill>
                  <a:srgbClr val="C00000"/>
                </a:solidFill>
              </a:rPr>
              <a:t>Cuáles son los sucesores?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sz="1400" dirty="0">
                <a:solidFill>
                  <a:srgbClr val="C00000"/>
                </a:solidFill>
              </a:rPr>
              <a:t>Cuándo ha terminado el juego?</a:t>
            </a:r>
          </a:p>
        </p:txBody>
      </p:sp>
    </p:spTree>
    <p:extLst>
      <p:ext uri="{BB962C8B-B14F-4D97-AF65-F5344CB8AC3E}">
        <p14:creationId xmlns:p14="http://schemas.microsoft.com/office/powerpoint/2010/main" val="189869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 uiExpand="1" build="p"/>
      <p:bldP spid="304" grpId="0"/>
      <p:bldP spid="305" grpId="0"/>
      <p:bldP spid="306" grpId="0"/>
      <p:bldP spid="307" grpId="0"/>
      <p:bldP spid="8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4"/>
            <a:ext cx="12194136" cy="1624859"/>
          </a:xfrm>
          <a:prstGeom prst="rect">
            <a:avLst/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1531643"/>
            <a:ext cx="10544300" cy="51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2317185" y="362359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56" name="Grupo 55"/>
          <p:cNvGrpSpPr/>
          <p:nvPr/>
        </p:nvGrpSpPr>
        <p:grpSpPr>
          <a:xfrm>
            <a:off x="2348156" y="3650534"/>
            <a:ext cx="748146" cy="748146"/>
            <a:chOff x="1341912" y="2501375"/>
            <a:chExt cx="748146" cy="748146"/>
          </a:xfrm>
        </p:grpSpPr>
        <p:sp>
          <p:nvSpPr>
            <p:cNvPr id="57" name="Rectángulo 56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Rectángulo 58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0" name="Rectángulo 59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1" name="Rectángulo 60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2" name="Rectángulo 61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63" name="CuadroTexto 62"/>
          <p:cNvSpPr txBox="1"/>
          <p:nvPr/>
        </p:nvSpPr>
        <p:spPr>
          <a:xfrm>
            <a:off x="2838982" y="409090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2327320" y="4108269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cxnSp>
        <p:nvCxnSpPr>
          <p:cNvPr id="121" name="Conector recto de flecha 120"/>
          <p:cNvCxnSpPr>
            <a:stCxn id="62" idx="0"/>
            <a:endCxn id="110" idx="2"/>
          </p:cNvCxnSpPr>
          <p:nvPr/>
        </p:nvCxnSpPr>
        <p:spPr>
          <a:xfrm flipV="1">
            <a:off x="3096302" y="2913558"/>
            <a:ext cx="951468" cy="1111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/>
          <p:cNvCxnSpPr>
            <a:endCxn id="90" idx="2"/>
          </p:cNvCxnSpPr>
          <p:nvPr/>
        </p:nvCxnSpPr>
        <p:spPr>
          <a:xfrm>
            <a:off x="3111294" y="4032164"/>
            <a:ext cx="9364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62" idx="0"/>
            <a:endCxn id="117" idx="1"/>
          </p:cNvCxnSpPr>
          <p:nvPr/>
        </p:nvCxnSpPr>
        <p:spPr>
          <a:xfrm>
            <a:off x="3096302" y="4024607"/>
            <a:ext cx="938570" cy="1259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/>
          <p:cNvSpPr txBox="1"/>
          <p:nvPr/>
        </p:nvSpPr>
        <p:spPr>
          <a:xfrm>
            <a:off x="4016799" y="36462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30" name="Grupo 129"/>
          <p:cNvGrpSpPr/>
          <p:nvPr/>
        </p:nvGrpSpPr>
        <p:grpSpPr>
          <a:xfrm>
            <a:off x="4047770" y="3673205"/>
            <a:ext cx="748146" cy="748146"/>
            <a:chOff x="1341912" y="2501375"/>
            <a:chExt cx="748146" cy="748146"/>
          </a:xfrm>
        </p:grpSpPr>
        <p:sp>
          <p:nvSpPr>
            <p:cNvPr id="131" name="Rectángulo 13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Rectángulo 13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3" name="Rectángulo 13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Rectángulo 13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5" name="Rectángulo 13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Rectángulo 13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37" name="CuadroTexto 136"/>
          <p:cNvSpPr txBox="1"/>
          <p:nvPr/>
        </p:nvSpPr>
        <p:spPr>
          <a:xfrm>
            <a:off x="4538596" y="4113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38" name="CuadroTexto 137"/>
          <p:cNvSpPr txBox="1"/>
          <p:nvPr/>
        </p:nvSpPr>
        <p:spPr>
          <a:xfrm>
            <a:off x="4026934" y="4130940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39" name="CuadroTexto 138"/>
          <p:cNvSpPr txBox="1"/>
          <p:nvPr/>
        </p:nvSpPr>
        <p:spPr>
          <a:xfrm>
            <a:off x="4016799" y="242208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40" name="Grupo 139"/>
          <p:cNvGrpSpPr/>
          <p:nvPr/>
        </p:nvGrpSpPr>
        <p:grpSpPr>
          <a:xfrm>
            <a:off x="4047770" y="2449018"/>
            <a:ext cx="748146" cy="748146"/>
            <a:chOff x="1341912" y="2501375"/>
            <a:chExt cx="748146" cy="748146"/>
          </a:xfrm>
        </p:grpSpPr>
        <p:sp>
          <p:nvSpPr>
            <p:cNvPr id="141" name="Rectángulo 14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2" name="Rectángulo 14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3" name="Rectángulo 14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4" name="Rectángulo 14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5" name="Rectángulo 14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6" name="Rectángulo 14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47" name="CuadroTexto 146"/>
          <p:cNvSpPr txBox="1"/>
          <p:nvPr/>
        </p:nvSpPr>
        <p:spPr>
          <a:xfrm>
            <a:off x="4538596" y="288938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48" name="CuadroTexto 147"/>
          <p:cNvSpPr txBox="1"/>
          <p:nvPr/>
        </p:nvSpPr>
        <p:spPr>
          <a:xfrm>
            <a:off x="4026934" y="2906753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49" name="CuadroTexto 148"/>
          <p:cNvSpPr txBox="1"/>
          <p:nvPr/>
        </p:nvSpPr>
        <p:spPr>
          <a:xfrm>
            <a:off x="4016799" y="487033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50" name="Grupo 149"/>
          <p:cNvGrpSpPr/>
          <p:nvPr/>
        </p:nvGrpSpPr>
        <p:grpSpPr>
          <a:xfrm>
            <a:off x="4047770" y="4897269"/>
            <a:ext cx="748146" cy="748146"/>
            <a:chOff x="1341912" y="2501375"/>
            <a:chExt cx="748146" cy="748146"/>
          </a:xfrm>
        </p:grpSpPr>
        <p:sp>
          <p:nvSpPr>
            <p:cNvPr id="151" name="Rectángulo 15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2" name="Rectángulo 15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3" name="Rectángulo 15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4" name="Rectángulo 15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5" name="Rectángulo 15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Rectángulo 15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57" name="CuadroTexto 156"/>
          <p:cNvSpPr txBox="1"/>
          <p:nvPr/>
        </p:nvSpPr>
        <p:spPr>
          <a:xfrm>
            <a:off x="4538596" y="533763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58" name="CuadroTexto 157"/>
          <p:cNvSpPr txBox="1"/>
          <p:nvPr/>
        </p:nvSpPr>
        <p:spPr>
          <a:xfrm>
            <a:off x="4026934" y="5355004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59" name="CuadroTexto 158"/>
          <p:cNvSpPr txBox="1"/>
          <p:nvPr/>
        </p:nvSpPr>
        <p:spPr>
          <a:xfrm>
            <a:off x="4261100" y="5089776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0" name="CuadroTexto 159"/>
          <p:cNvSpPr txBox="1"/>
          <p:nvPr/>
        </p:nvSpPr>
        <p:spPr>
          <a:xfrm>
            <a:off x="4517978" y="3631395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1" name="CuadroTexto 160"/>
          <p:cNvSpPr txBox="1"/>
          <p:nvPr/>
        </p:nvSpPr>
        <p:spPr>
          <a:xfrm>
            <a:off x="4034872" y="2688828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2" name="CuadroTexto 161"/>
          <p:cNvSpPr txBox="1"/>
          <p:nvPr/>
        </p:nvSpPr>
        <p:spPr>
          <a:xfrm>
            <a:off x="4896427" y="4891019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 =  </a:t>
            </a:r>
          </a:p>
        </p:txBody>
      </p:sp>
      <p:sp>
        <p:nvSpPr>
          <p:cNvPr id="163" name="CuadroTexto 162"/>
          <p:cNvSpPr txBox="1"/>
          <p:nvPr/>
        </p:nvSpPr>
        <p:spPr>
          <a:xfrm>
            <a:off x="4909568" y="3646268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  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H= 0</a:t>
            </a:r>
          </a:p>
        </p:txBody>
      </p:sp>
      <p:sp>
        <p:nvSpPr>
          <p:cNvPr id="164" name="CuadroTexto 163"/>
          <p:cNvSpPr txBox="1"/>
          <p:nvPr/>
        </p:nvSpPr>
        <p:spPr>
          <a:xfrm>
            <a:off x="4914239" y="2449018"/>
            <a:ext cx="72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H=  </a:t>
            </a:r>
          </a:p>
        </p:txBody>
      </p:sp>
      <p:sp>
        <p:nvSpPr>
          <p:cNvPr id="166" name="Rectangle 1027"/>
          <p:cNvSpPr txBox="1">
            <a:spLocks noChangeArrowheads="1"/>
          </p:cNvSpPr>
          <p:nvPr/>
        </p:nvSpPr>
        <p:spPr>
          <a:xfrm>
            <a:off x="7216832" y="1543964"/>
            <a:ext cx="4998139" cy="2950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chemeClr val="accent1"/>
                </a:solidFill>
              </a:rPr>
              <a:t>Función Heurística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C00000"/>
                </a:solidFill>
              </a:rPr>
              <a:t>Ind1</a:t>
            </a:r>
            <a:r>
              <a:rPr lang="es-CO" altLang="es-CO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rgbClr val="C00000"/>
                </a:solidFill>
              </a:rPr>
              <a:t>= Contar las opciones de triunfo directo del oponente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B050"/>
                </a:solidFill>
              </a:rPr>
              <a:t>Ind2 = Contar las opciones de triunfo directo para mí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70C0"/>
                </a:solidFill>
              </a:rPr>
              <a:t>H = </a:t>
            </a:r>
            <a:r>
              <a:rPr lang="es-ES" altLang="es-CO" sz="1600" dirty="0">
                <a:solidFill>
                  <a:srgbClr val="00B050"/>
                </a:solidFill>
              </a:rPr>
              <a:t>Ind2 </a:t>
            </a:r>
            <a:r>
              <a:rPr lang="es-ES" altLang="es-CO" sz="1600" dirty="0">
                <a:solidFill>
                  <a:srgbClr val="C00000"/>
                </a:solidFill>
              </a:rPr>
              <a:t>– Ind1</a:t>
            </a:r>
            <a:endParaRPr lang="es-ES" altLang="es-CO" sz="1600" dirty="0"/>
          </a:p>
        </p:txBody>
      </p:sp>
    </p:spTree>
    <p:extLst>
      <p:ext uri="{BB962C8B-B14F-4D97-AF65-F5344CB8AC3E}">
        <p14:creationId xmlns:p14="http://schemas.microsoft.com/office/powerpoint/2010/main" val="185986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4"/>
            <a:ext cx="12194136" cy="1624859"/>
          </a:xfrm>
          <a:prstGeom prst="rect">
            <a:avLst/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1531643"/>
            <a:ext cx="10544300" cy="514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Triqui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2317185" y="362359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56" name="Grupo 55"/>
          <p:cNvGrpSpPr/>
          <p:nvPr/>
        </p:nvGrpSpPr>
        <p:grpSpPr>
          <a:xfrm>
            <a:off x="2348156" y="3650534"/>
            <a:ext cx="748146" cy="748146"/>
            <a:chOff x="1341912" y="2501375"/>
            <a:chExt cx="748146" cy="748146"/>
          </a:xfrm>
        </p:grpSpPr>
        <p:sp>
          <p:nvSpPr>
            <p:cNvPr id="57" name="Rectángulo 56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8" name="Rectángulo 57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59" name="Rectángulo 58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0" name="Rectángulo 59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1" name="Rectángulo 60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2" name="Rectángulo 61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63" name="CuadroTexto 62"/>
          <p:cNvSpPr txBox="1"/>
          <p:nvPr/>
        </p:nvSpPr>
        <p:spPr>
          <a:xfrm>
            <a:off x="2838982" y="409090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64" name="CuadroTexto 63"/>
          <p:cNvSpPr txBox="1"/>
          <p:nvPr/>
        </p:nvSpPr>
        <p:spPr>
          <a:xfrm>
            <a:off x="2327320" y="4108269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cxnSp>
        <p:nvCxnSpPr>
          <p:cNvPr id="121" name="Conector recto de flecha 120"/>
          <p:cNvCxnSpPr>
            <a:stCxn id="62" idx="0"/>
            <a:endCxn id="110" idx="2"/>
          </p:cNvCxnSpPr>
          <p:nvPr/>
        </p:nvCxnSpPr>
        <p:spPr>
          <a:xfrm flipV="1">
            <a:off x="3096302" y="2913558"/>
            <a:ext cx="951468" cy="1111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/>
          <p:cNvCxnSpPr>
            <a:endCxn id="90" idx="2"/>
          </p:cNvCxnSpPr>
          <p:nvPr/>
        </p:nvCxnSpPr>
        <p:spPr>
          <a:xfrm>
            <a:off x="3111294" y="4032164"/>
            <a:ext cx="93647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stCxn id="62" idx="0"/>
            <a:endCxn id="117" idx="1"/>
          </p:cNvCxnSpPr>
          <p:nvPr/>
        </p:nvCxnSpPr>
        <p:spPr>
          <a:xfrm>
            <a:off x="3096302" y="4024607"/>
            <a:ext cx="938570" cy="1259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/>
          <p:cNvSpPr txBox="1"/>
          <p:nvPr/>
        </p:nvSpPr>
        <p:spPr>
          <a:xfrm>
            <a:off x="4016799" y="364626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30" name="Grupo 129"/>
          <p:cNvGrpSpPr/>
          <p:nvPr/>
        </p:nvGrpSpPr>
        <p:grpSpPr>
          <a:xfrm>
            <a:off x="4047770" y="3673205"/>
            <a:ext cx="748146" cy="748146"/>
            <a:chOff x="1341912" y="2501375"/>
            <a:chExt cx="748146" cy="748146"/>
          </a:xfrm>
        </p:grpSpPr>
        <p:sp>
          <p:nvSpPr>
            <p:cNvPr id="131" name="Rectángulo 13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2" name="Rectángulo 13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3" name="Rectángulo 13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4" name="Rectángulo 13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5" name="Rectángulo 13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6" name="Rectángulo 13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37" name="CuadroTexto 136"/>
          <p:cNvSpPr txBox="1"/>
          <p:nvPr/>
        </p:nvSpPr>
        <p:spPr>
          <a:xfrm>
            <a:off x="4538596" y="4113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38" name="CuadroTexto 137"/>
          <p:cNvSpPr txBox="1"/>
          <p:nvPr/>
        </p:nvSpPr>
        <p:spPr>
          <a:xfrm>
            <a:off x="4026934" y="4130940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39" name="CuadroTexto 138"/>
          <p:cNvSpPr txBox="1"/>
          <p:nvPr/>
        </p:nvSpPr>
        <p:spPr>
          <a:xfrm>
            <a:off x="4016799" y="242208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40" name="Grupo 139"/>
          <p:cNvGrpSpPr/>
          <p:nvPr/>
        </p:nvGrpSpPr>
        <p:grpSpPr>
          <a:xfrm>
            <a:off x="4047770" y="2449018"/>
            <a:ext cx="748146" cy="748146"/>
            <a:chOff x="1341912" y="2501375"/>
            <a:chExt cx="748146" cy="748146"/>
          </a:xfrm>
        </p:grpSpPr>
        <p:sp>
          <p:nvSpPr>
            <p:cNvPr id="141" name="Rectángulo 14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2" name="Rectángulo 14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3" name="Rectángulo 14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4" name="Rectángulo 14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5" name="Rectángulo 14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6" name="Rectángulo 14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47" name="CuadroTexto 146"/>
          <p:cNvSpPr txBox="1"/>
          <p:nvPr/>
        </p:nvSpPr>
        <p:spPr>
          <a:xfrm>
            <a:off x="4538596" y="288938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48" name="CuadroTexto 147"/>
          <p:cNvSpPr txBox="1"/>
          <p:nvPr/>
        </p:nvSpPr>
        <p:spPr>
          <a:xfrm>
            <a:off x="4026934" y="2906753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49" name="CuadroTexto 148"/>
          <p:cNvSpPr txBox="1"/>
          <p:nvPr/>
        </p:nvSpPr>
        <p:spPr>
          <a:xfrm>
            <a:off x="4016799" y="487033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grpSp>
        <p:nvGrpSpPr>
          <p:cNvPr id="150" name="Grupo 149"/>
          <p:cNvGrpSpPr/>
          <p:nvPr/>
        </p:nvGrpSpPr>
        <p:grpSpPr>
          <a:xfrm>
            <a:off x="4047770" y="4897269"/>
            <a:ext cx="748146" cy="748146"/>
            <a:chOff x="1341912" y="2501375"/>
            <a:chExt cx="748146" cy="748146"/>
          </a:xfrm>
        </p:grpSpPr>
        <p:sp>
          <p:nvSpPr>
            <p:cNvPr id="151" name="Rectángulo 150"/>
            <p:cNvSpPr/>
            <p:nvPr/>
          </p:nvSpPr>
          <p:spPr>
            <a:xfrm>
              <a:off x="1341912" y="2501375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2" name="Rectángulo 151"/>
            <p:cNvSpPr/>
            <p:nvPr/>
          </p:nvSpPr>
          <p:spPr>
            <a:xfrm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3" name="Rectángulo 152"/>
            <p:cNvSpPr/>
            <p:nvPr/>
          </p:nvSpPr>
          <p:spPr>
            <a:xfrm>
              <a:off x="1341912" y="3000139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4" name="Rectángulo 153"/>
            <p:cNvSpPr/>
            <p:nvPr/>
          </p:nvSpPr>
          <p:spPr>
            <a:xfrm rot="5400000">
              <a:off x="1092530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5" name="Rectángulo 154"/>
            <p:cNvSpPr/>
            <p:nvPr/>
          </p:nvSpPr>
          <p:spPr>
            <a:xfrm rot="5400000">
              <a:off x="1341912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6" name="Rectángulo 155"/>
            <p:cNvSpPr/>
            <p:nvPr/>
          </p:nvSpPr>
          <p:spPr>
            <a:xfrm rot="5400000">
              <a:off x="1591294" y="2750757"/>
              <a:ext cx="748146" cy="2493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57" name="CuadroTexto 156"/>
          <p:cNvSpPr txBox="1"/>
          <p:nvPr/>
        </p:nvSpPr>
        <p:spPr>
          <a:xfrm>
            <a:off x="4538596" y="533763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6666"/>
                </a:solidFill>
              </a:rPr>
              <a:t>X</a:t>
            </a:r>
          </a:p>
        </p:txBody>
      </p:sp>
      <p:sp>
        <p:nvSpPr>
          <p:cNvPr id="158" name="CuadroTexto 157"/>
          <p:cNvSpPr txBox="1"/>
          <p:nvPr/>
        </p:nvSpPr>
        <p:spPr>
          <a:xfrm>
            <a:off x="4026934" y="5355004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59" name="CuadroTexto 158"/>
          <p:cNvSpPr txBox="1"/>
          <p:nvPr/>
        </p:nvSpPr>
        <p:spPr>
          <a:xfrm>
            <a:off x="4261100" y="5089776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0" name="CuadroTexto 159"/>
          <p:cNvSpPr txBox="1"/>
          <p:nvPr/>
        </p:nvSpPr>
        <p:spPr>
          <a:xfrm>
            <a:off x="4517978" y="3631395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1" name="CuadroTexto 160"/>
          <p:cNvSpPr txBox="1"/>
          <p:nvPr/>
        </p:nvSpPr>
        <p:spPr>
          <a:xfrm>
            <a:off x="4034872" y="2688828"/>
            <a:ext cx="3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162" name="CuadroTexto 161"/>
          <p:cNvSpPr txBox="1"/>
          <p:nvPr/>
        </p:nvSpPr>
        <p:spPr>
          <a:xfrm>
            <a:off x="4896427" y="4891019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 +1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Ind2- 0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 = -1  </a:t>
            </a:r>
          </a:p>
        </p:txBody>
      </p:sp>
      <p:sp>
        <p:nvSpPr>
          <p:cNvPr id="163" name="CuadroTexto 162"/>
          <p:cNvSpPr txBox="1"/>
          <p:nvPr/>
        </p:nvSpPr>
        <p:spPr>
          <a:xfrm>
            <a:off x="4909568" y="3646268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 +1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 +1  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H= 0</a:t>
            </a:r>
          </a:p>
        </p:txBody>
      </p:sp>
      <p:sp>
        <p:nvSpPr>
          <p:cNvPr id="164" name="CuadroTexto 163"/>
          <p:cNvSpPr txBox="1"/>
          <p:nvPr/>
        </p:nvSpPr>
        <p:spPr>
          <a:xfrm>
            <a:off x="4914239" y="2449018"/>
            <a:ext cx="72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rgbClr val="C00000"/>
                </a:solidFill>
              </a:rPr>
              <a:t>Ind1- 0</a:t>
            </a:r>
          </a:p>
          <a:p>
            <a:r>
              <a:rPr lang="es-CO" sz="1200" dirty="0">
                <a:solidFill>
                  <a:srgbClr val="00B050"/>
                </a:solidFill>
              </a:rPr>
              <a:t>Ind2- +1</a:t>
            </a:r>
          </a:p>
          <a:p>
            <a:endParaRPr lang="es-CO" sz="1200" dirty="0"/>
          </a:p>
          <a:p>
            <a:r>
              <a:rPr lang="es-CO" sz="1200" dirty="0">
                <a:solidFill>
                  <a:srgbClr val="0070C0"/>
                </a:solidFill>
              </a:rPr>
              <a:t>H= +1  </a:t>
            </a:r>
          </a:p>
        </p:txBody>
      </p:sp>
      <p:sp>
        <p:nvSpPr>
          <p:cNvPr id="166" name="Rectangle 1027"/>
          <p:cNvSpPr txBox="1">
            <a:spLocks noChangeArrowheads="1"/>
          </p:cNvSpPr>
          <p:nvPr/>
        </p:nvSpPr>
        <p:spPr>
          <a:xfrm>
            <a:off x="7216832" y="1543964"/>
            <a:ext cx="4998139" cy="2950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chemeClr val="accent1"/>
                </a:solidFill>
              </a:rPr>
              <a:t>Función Heurística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C00000"/>
                </a:solidFill>
              </a:rPr>
              <a:t>Ind1</a:t>
            </a:r>
            <a:r>
              <a:rPr lang="es-CO" altLang="es-CO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rgbClr val="C00000"/>
                </a:solidFill>
              </a:rPr>
              <a:t>= Contar las opciones de triunfo directo del oponente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B050"/>
                </a:solidFill>
              </a:rPr>
              <a:t>Ind2 = Contar las opciones de triunfo directo para mí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70C0"/>
                </a:solidFill>
              </a:rPr>
              <a:t>H = </a:t>
            </a:r>
            <a:r>
              <a:rPr lang="es-ES" altLang="es-CO" sz="1600" dirty="0">
                <a:solidFill>
                  <a:srgbClr val="00B050"/>
                </a:solidFill>
              </a:rPr>
              <a:t>Ind2 </a:t>
            </a:r>
            <a:r>
              <a:rPr lang="es-ES" altLang="es-CO" sz="1600" dirty="0">
                <a:solidFill>
                  <a:srgbClr val="C00000"/>
                </a:solidFill>
              </a:rPr>
              <a:t>– Ind1</a:t>
            </a:r>
            <a:endParaRPr lang="es-ES" altLang="es-CO" sz="1600" dirty="0"/>
          </a:p>
        </p:txBody>
      </p:sp>
    </p:spTree>
    <p:extLst>
      <p:ext uri="{BB962C8B-B14F-4D97-AF65-F5344CB8AC3E}">
        <p14:creationId xmlns:p14="http://schemas.microsoft.com/office/powerpoint/2010/main" val="31270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4 -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789140" y="1440156"/>
            <a:ext cx="10384076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del Triqui-Móvil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En un tablero de tamaño 3x3, dos jugadores se alternan para poner símbolos ‘X’ y ‘O’.</a:t>
            </a:r>
            <a:br>
              <a:rPr kumimoji="0" lang="es-ES" altLang="es-CO" sz="2000" b="0" dirty="0">
                <a:solidFill>
                  <a:srgbClr val="0070C0"/>
                </a:solidFill>
              </a:rPr>
            </a:br>
            <a:r>
              <a:rPr kumimoji="0" lang="es-ES" altLang="es-CO" sz="2000" b="0" dirty="0">
                <a:solidFill>
                  <a:srgbClr val="0070C0"/>
                </a:solidFill>
              </a:rPr>
              <a:t>En su turno un jugador puede poner una ficha en un sitio libre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o mover horizontal o verticalmente una de sus fichas que ya está en el tablero hacia un sitio libre adyacente.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0070C0"/>
                </a:solidFill>
              </a:rPr>
              <a:t>Gana el que logre poner tres en línea.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2000" b="0" dirty="0">
              <a:solidFill>
                <a:srgbClr val="C00000"/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Escriba un programa (en lenguaje C++, Java) que implemente el algoritmo MIN-MAX para el juego de Triqui-Móvil.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Analizar y definir cómo representar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que genera los sucesores de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para determinar que el juego ha terminado.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heurística para valorar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Min-Max con profundidad de 2 niveles.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una interface sencilla que permita efectuar una jugada.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       y dar turno al jugador IA. Se debe mostrar el estado del juego.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1600" b="0" dirty="0">
              <a:solidFill>
                <a:srgbClr val="C00000"/>
              </a:solidFill>
            </a:endParaRP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dirty="0">
                <a:solidFill>
                  <a:srgbClr val="C00000"/>
                </a:solidFill>
              </a:rPr>
              <a:t>Nota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: es obligatorio usar un modelo de programación orientado a objetos para representar el problema y los componentes de la solución Min-Max.</a:t>
            </a:r>
            <a:endParaRPr kumimoji="0" lang="es-ES" altLang="es-CO" sz="105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1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1096" b="51329"/>
          <a:stretch/>
        </p:blipFill>
        <p:spPr bwMode="auto">
          <a:xfrm>
            <a:off x="6808056" y="4312285"/>
            <a:ext cx="5274887" cy="1659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0893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4 -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1224146" y="1440156"/>
            <a:ext cx="10201836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</a:t>
            </a:r>
            <a:r>
              <a:rPr lang="es-ES" altLang="es-CO" b="0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Parchis</a:t>
            </a:r>
            <a:endParaRPr lang="es-ES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El </a:t>
            </a:r>
            <a:r>
              <a:rPr kumimoji="0" lang="es-ES" altLang="es-CO" sz="2000" b="0" dirty="0" err="1">
                <a:solidFill>
                  <a:srgbClr val="C00000"/>
                </a:solidFill>
              </a:rPr>
              <a:t>Parchis</a:t>
            </a:r>
            <a:r>
              <a:rPr kumimoji="0" lang="es-ES" altLang="es-CO" sz="2000" b="0" dirty="0">
                <a:solidFill>
                  <a:srgbClr val="C00000"/>
                </a:solidFill>
              </a:rPr>
              <a:t> es una variante simplificada del juego de Parques colombiano; la principal diferencia es que se juega con un solo dado. Las reglas de juego se pueden consultar en </a:t>
            </a:r>
            <a:r>
              <a:rPr kumimoji="0" lang="es-ES" altLang="es-CO" sz="2000" b="0" dirty="0">
                <a:solidFill>
                  <a:srgbClr val="C00000"/>
                </a:solidFill>
                <a:hlinkClick r:id="rId3"/>
              </a:rPr>
              <a:t>https://enszink.blogspot.com/2019/03/luisa-parchis.html</a:t>
            </a:r>
            <a:r>
              <a:rPr kumimoji="0" lang="es-ES" altLang="es-CO" sz="2000" b="0" dirty="0">
                <a:solidFill>
                  <a:srgbClr val="C00000"/>
                </a:solidFill>
              </a:rPr>
              <a:t>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Realizar el análisis para la implementación del algoritmo MIN-MAX para el juego de </a:t>
            </a:r>
            <a:r>
              <a:rPr kumimoji="0" lang="es-ES" altLang="es-CO" sz="2000" b="0" dirty="0" err="1">
                <a:solidFill>
                  <a:srgbClr val="C00000"/>
                </a:solidFill>
              </a:rPr>
              <a:t>Parchis</a:t>
            </a:r>
            <a:r>
              <a:rPr kumimoji="0" lang="es-ES" altLang="es-CO" sz="2000" b="0" dirty="0">
                <a:solidFill>
                  <a:srgbClr val="C00000"/>
                </a:solidFill>
              </a:rPr>
              <a:t>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- Analizar y definir cómo representar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- Definir una función heurística para valorar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- Suponer que hay una función que genera los posibles sucesores de un estado.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- Desarrollar dos niveles del árbol para el análisis: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2000" b="0" dirty="0">
                <a:solidFill>
                  <a:srgbClr val="C00000"/>
                </a:solidFill>
              </a:rPr>
              <a:t>     - </a:t>
            </a:r>
            <a:r>
              <a:rPr kumimoji="0" lang="es-ES" altLang="es-CO" sz="2000" b="0" dirty="0" err="1">
                <a:solidFill>
                  <a:srgbClr val="C00000"/>
                </a:solidFill>
              </a:rPr>
              <a:t>Aplicaando</a:t>
            </a:r>
            <a:r>
              <a:rPr kumimoji="0" lang="es-ES" altLang="es-CO" sz="2000" b="0" dirty="0">
                <a:solidFill>
                  <a:srgbClr val="C00000"/>
                </a:solidFill>
              </a:rPr>
              <a:t> el algoritmo MIN-MAX.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2000" b="0" dirty="0">
              <a:solidFill>
                <a:srgbClr val="C00000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1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312" y="3796937"/>
            <a:ext cx="2409444" cy="240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10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Calificable 4 -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789139" y="1440156"/>
            <a:ext cx="11402861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de </a:t>
            </a:r>
            <a:r>
              <a:rPr lang="es-ES" altLang="es-CO" b="0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Backgamon</a:t>
            </a: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1 Solo Dado – Sin Apuestas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En el </a:t>
            </a:r>
            <a:r>
              <a:rPr kumimoji="0" lang="es-ES" altLang="es-CO" sz="1600" b="0" dirty="0" err="1">
                <a:solidFill>
                  <a:srgbClr val="0070C0"/>
                </a:solidFill>
              </a:rPr>
              <a:t>Backgammon</a:t>
            </a:r>
            <a:r>
              <a:rPr kumimoji="0" lang="es-ES" altLang="es-CO" sz="1600" b="0" dirty="0">
                <a:solidFill>
                  <a:srgbClr val="0070C0"/>
                </a:solidFill>
              </a:rPr>
              <a:t> se enfrentan dos jugadores en un tablero cuyas casillas son unos triángulos alargados repartidos en cuatro cuadrantes (6 triángulos por cuadrante). El tablero está dividido longitudinalmente por una zona denominada barra.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Cada jugador dispone de 15 piezas de color diferente a las de su adversario. Se inicia el juego tal y como se ve en la figura.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Se trata de un juego de “carreras” cuyo objetivo inmediato es sacar todas las fichas del tablero antes que el adversario.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Para ello sus fichas deben realizar un recorrido sobre las casillas del tablero, las de un jugador en sentido de las agujas del reloj y las del otro en sentido contrario, de modo que los recorridos de uno y otro se cruzan.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Conozca las reglas completas en </a:t>
            </a:r>
            <a:r>
              <a:rPr kumimoji="0" lang="es-ES" altLang="es-CO" sz="1600" b="0" dirty="0">
                <a:solidFill>
                  <a:srgbClr val="0070C0"/>
                </a:solidFill>
                <a:hlinkClick r:id="rId3"/>
              </a:rPr>
              <a:t>https://www.ludoteka.com/clasika/backgammon-es.html</a:t>
            </a:r>
            <a:r>
              <a:rPr kumimoji="0" lang="es-ES" altLang="es-CO" sz="1600" b="0" dirty="0">
                <a:solidFill>
                  <a:srgbClr val="0070C0"/>
                </a:solidFill>
              </a:rPr>
              <a:t>. Para simplificar, el juego será con </a:t>
            </a:r>
            <a:r>
              <a:rPr kumimoji="0" lang="es-ES" altLang="es-CO" sz="1600" b="0" u="sng" dirty="0">
                <a:solidFill>
                  <a:srgbClr val="0070C0"/>
                </a:solidFill>
              </a:rPr>
              <a:t>un solo dado</a:t>
            </a:r>
            <a:r>
              <a:rPr kumimoji="0" lang="es-ES" altLang="es-CO" sz="1600" b="0" dirty="0">
                <a:solidFill>
                  <a:srgbClr val="0070C0"/>
                </a:solidFill>
              </a:rPr>
              <a:t>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800" b="0" dirty="0">
              <a:solidFill>
                <a:srgbClr val="C00000"/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Escriba un programa (en lenguaje C++, Java) que implemente el algoritmo MIN-MAX para el juego de </a:t>
            </a:r>
            <a:r>
              <a:rPr kumimoji="0" lang="es-ES" altLang="es-CO" sz="1600" b="0" dirty="0" err="1">
                <a:solidFill>
                  <a:srgbClr val="C00000"/>
                </a:solidFill>
              </a:rPr>
              <a:t>Backgamon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Analizar y definir cómo representar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que genera los sucesores de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para determinar que el juego ha terminado.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heurística para valorar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Min-Max con profundidad de 2 niveles.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una interface sencilla que permita a un jugador humano efectuar una jugada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       y realizar el turno del jugador IA. Se debe mostrar en forma sencilla el estado del juego.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900" b="0" dirty="0">
              <a:solidFill>
                <a:srgbClr val="C00000"/>
              </a:solidFill>
            </a:endParaRP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dirty="0">
                <a:solidFill>
                  <a:srgbClr val="C00000"/>
                </a:solidFill>
              </a:rPr>
              <a:t>Nota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: es obligatorio usar un modelo de </a:t>
            </a:r>
            <a:r>
              <a:rPr kumimoji="0" lang="es-ES" altLang="es-CO" sz="1600" b="0" u="sng" dirty="0">
                <a:solidFill>
                  <a:srgbClr val="C00000"/>
                </a:solidFill>
              </a:rPr>
              <a:t>programación orientado a objetos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 para representar el problema y los componentes de la solución Min-Max.</a:t>
            </a:r>
            <a:endParaRPr kumimoji="0" lang="es-ES" altLang="es-CO" sz="105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1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EE22DF9-4EF0-4940-8CBB-815B72E82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543" y="4368951"/>
            <a:ext cx="2560393" cy="196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96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281281"/>
            <a:ext cx="7172696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Juegos</a:t>
            </a:r>
          </a:p>
          <a:p>
            <a:pPr algn="ctr"/>
            <a:r>
              <a:rPr lang="es-ES_tradnl" sz="28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Material Complementario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24147" y="1440156"/>
            <a:ext cx="10544300" cy="5422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– Lectura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MX" altLang="es-CO" b="0" dirty="0" err="1">
                <a:solidFill>
                  <a:schemeClr val="accent1">
                    <a:lumMod val="50000"/>
                  </a:schemeClr>
                </a:solidFill>
              </a:rPr>
              <a:t>Rusell</a:t>
            </a:r>
            <a:r>
              <a:rPr kumimoji="0" lang="es-MX" altLang="es-CO" b="0" dirty="0">
                <a:solidFill>
                  <a:schemeClr val="accent1">
                    <a:lumMod val="50000"/>
                  </a:schemeClr>
                </a:solidFill>
              </a:rPr>
              <a:t> N., Inteligencia Artificial: Un Enfoque Moderno, Prentice Hall, 2004.</a:t>
            </a:r>
          </a:p>
          <a:p>
            <a:pPr marL="400050" lvl="1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</a:rPr>
              <a:t>- Sección 6.5 – Juegos que incluyen un elemento de posibilidad.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MX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– Videos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Arthur Samuel: pionero olvidado de la informática</a:t>
            </a:r>
            <a:r>
              <a:rPr kumimoji="0" lang="en-US" altLang="es-CO" b="0" dirty="0">
                <a:solidFill>
                  <a:schemeClr val="accent1">
                    <a:lumMod val="50000"/>
                  </a:schemeClr>
                </a:solidFill>
              </a:rPr>
              <a:t> | Max Nadeau</a:t>
            </a:r>
            <a:r>
              <a:rPr kumimoji="0" lang="es-MX" altLang="es-CO" b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CO" altLang="es-CO" b="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https://www.youtube.com/watch?v=t0sSFFs5jAw</a:t>
            </a:r>
            <a:endParaRPr kumimoji="0" lang="es-MX" altLang="es-CO" b="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n-US" altLang="es-CO" b="0" dirty="0">
                <a:solidFill>
                  <a:schemeClr val="accent1">
                    <a:lumMod val="50000"/>
                  </a:schemeClr>
                </a:solidFill>
              </a:rPr>
              <a:t>Don't fear intelligent machines. Work with them | Garry Kasparov | TED</a:t>
            </a:r>
            <a:r>
              <a:rPr kumimoji="0" lang="es-MX" altLang="es-CO" b="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lvl="1" indent="-342900"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MX" altLang="es-CO" b="0" dirty="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https://www.youtube.com/watch?v=NP8xt8o4_5Q</a:t>
            </a:r>
            <a:r>
              <a:rPr kumimoji="0" lang="es-MX" altLang="es-CO" b="0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CO" altLang="es-CO" b="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19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Bibliografía</a:t>
            </a:r>
          </a:p>
        </p:txBody>
      </p:sp>
      <p:sp>
        <p:nvSpPr>
          <p:cNvPr id="5" name="1 Marcador de contenido"/>
          <p:cNvSpPr txBox="1">
            <a:spLocks/>
          </p:cNvSpPr>
          <p:nvPr/>
        </p:nvSpPr>
        <p:spPr>
          <a:xfrm>
            <a:off x="815413" y="1629721"/>
            <a:ext cx="10972800" cy="4933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 err="1"/>
              <a:t>Rusell</a:t>
            </a:r>
            <a:r>
              <a:rPr lang="es-ES" sz="1800" dirty="0"/>
              <a:t> N., Inteligencia Artificial: Un Enfoque Moderno, Prentice Hall, 2020.</a:t>
            </a:r>
            <a:br>
              <a:rPr lang="es-ES" sz="1800" dirty="0"/>
            </a:br>
            <a:endParaRPr lang="es-ES" sz="1800" dirty="0"/>
          </a:p>
          <a:p>
            <a:r>
              <a:rPr lang="es-ES" sz="1800" dirty="0"/>
              <a:t>Santiago </a:t>
            </a:r>
            <a:r>
              <a:rPr lang="es-ES" sz="1800" dirty="0" err="1"/>
              <a:t>Ontañon</a:t>
            </a:r>
            <a:r>
              <a:rPr lang="es-ES" sz="1800" dirty="0"/>
              <a:t>, </a:t>
            </a:r>
            <a:r>
              <a:rPr lang="es-ES" sz="1800" dirty="0" err="1"/>
              <a:t>Experiments</a:t>
            </a:r>
            <a:r>
              <a:rPr lang="es-ES" sz="1800" dirty="0"/>
              <a:t> </a:t>
            </a:r>
            <a:r>
              <a:rPr lang="es-ES" sz="1800" dirty="0" err="1"/>
              <a:t>with</a:t>
            </a:r>
            <a:r>
              <a:rPr lang="es-ES" sz="1800" dirty="0"/>
              <a:t> </a:t>
            </a:r>
            <a:r>
              <a:rPr lang="es-ES" sz="1800" dirty="0" err="1"/>
              <a:t>Game</a:t>
            </a:r>
            <a:r>
              <a:rPr lang="es-ES" sz="1800" dirty="0"/>
              <a:t> </a:t>
            </a:r>
            <a:r>
              <a:rPr lang="es-ES" sz="1800" dirty="0" err="1"/>
              <a:t>Tree</a:t>
            </a:r>
            <a:r>
              <a:rPr lang="es-ES" sz="1800" dirty="0"/>
              <a:t> </a:t>
            </a:r>
            <a:r>
              <a:rPr lang="es-ES" sz="1800" dirty="0" err="1"/>
              <a:t>Search</a:t>
            </a:r>
            <a:r>
              <a:rPr lang="es-ES" sz="1800" dirty="0"/>
              <a:t> in Real-Time </a:t>
            </a:r>
            <a:r>
              <a:rPr lang="es-ES" sz="1800" dirty="0" err="1"/>
              <a:t>Strategy</a:t>
            </a:r>
            <a:r>
              <a:rPr lang="es-ES" sz="1800" dirty="0"/>
              <a:t> </a:t>
            </a:r>
            <a:r>
              <a:rPr lang="es-ES" sz="1800" dirty="0" err="1"/>
              <a:t>Games</a:t>
            </a:r>
            <a:r>
              <a:rPr lang="es-ES" sz="1800" dirty="0"/>
              <a:t>, </a:t>
            </a:r>
            <a:r>
              <a:rPr lang="es-ES" sz="1800" dirty="0" err="1"/>
              <a:t>Drexel</a:t>
            </a:r>
            <a:r>
              <a:rPr lang="es-ES" sz="1800" dirty="0"/>
              <a:t> </a:t>
            </a:r>
            <a:r>
              <a:rPr lang="es-ES" sz="1800" dirty="0" err="1"/>
              <a:t>University</a:t>
            </a:r>
            <a:r>
              <a:rPr lang="es-ES" sz="1800" dirty="0"/>
              <a:t>.</a:t>
            </a:r>
            <a:br>
              <a:rPr lang="es-ES" sz="1800" dirty="0"/>
            </a:br>
            <a:endParaRPr lang="es-ES" sz="1800" dirty="0"/>
          </a:p>
          <a:p>
            <a:r>
              <a:rPr lang="es-ES" sz="1800" dirty="0" err="1"/>
              <a:t>Sylvain</a:t>
            </a:r>
            <a:r>
              <a:rPr lang="es-ES" sz="1800" dirty="0"/>
              <a:t> </a:t>
            </a:r>
            <a:r>
              <a:rPr lang="es-ES" sz="1800" dirty="0" err="1"/>
              <a:t>Gelly</a:t>
            </a:r>
            <a:r>
              <a:rPr lang="es-ES" sz="1800" dirty="0"/>
              <a:t>, Levente </a:t>
            </a:r>
            <a:r>
              <a:rPr lang="es-ES" sz="1800" dirty="0" err="1"/>
              <a:t>Kocsis</a:t>
            </a:r>
            <a:r>
              <a:rPr lang="es-ES" sz="1800" dirty="0"/>
              <a:t>, Marc </a:t>
            </a:r>
            <a:r>
              <a:rPr lang="es-ES" sz="1800" dirty="0" err="1"/>
              <a:t>Schoenauer</a:t>
            </a:r>
            <a:r>
              <a:rPr lang="es-ES" sz="1800" dirty="0"/>
              <a:t>, </a:t>
            </a:r>
            <a:r>
              <a:rPr lang="es-ES" sz="1800" dirty="0" err="1"/>
              <a:t>Michèle</a:t>
            </a:r>
            <a:r>
              <a:rPr lang="es-ES" sz="1800" dirty="0"/>
              <a:t> </a:t>
            </a:r>
            <a:r>
              <a:rPr lang="es-ES" sz="1800" dirty="0" err="1"/>
              <a:t>Sebag</a:t>
            </a:r>
            <a:r>
              <a:rPr lang="es-ES" sz="1800" dirty="0"/>
              <a:t>, David </a:t>
            </a:r>
            <a:r>
              <a:rPr lang="es-ES" sz="1800" dirty="0" err="1"/>
              <a:t>Silver</a:t>
            </a:r>
            <a:r>
              <a:rPr lang="es-ES" sz="1800" dirty="0"/>
              <a:t>, </a:t>
            </a:r>
            <a:r>
              <a:rPr lang="es-ES" sz="1800" dirty="0" err="1"/>
              <a:t>Csaba</a:t>
            </a:r>
            <a:r>
              <a:rPr lang="es-ES" sz="1800" dirty="0"/>
              <a:t> </a:t>
            </a:r>
            <a:r>
              <a:rPr lang="es-ES" sz="1800" dirty="0" err="1"/>
              <a:t>Szepesvári</a:t>
            </a:r>
            <a:r>
              <a:rPr lang="es-ES" sz="1800" dirty="0"/>
              <a:t>, and Olivier </a:t>
            </a:r>
            <a:r>
              <a:rPr lang="es-ES" sz="1800" dirty="0" err="1"/>
              <a:t>Teytaud</a:t>
            </a:r>
            <a:r>
              <a:rPr lang="es-ES" sz="1800" dirty="0"/>
              <a:t>, </a:t>
            </a:r>
            <a:r>
              <a:rPr lang="es-ES" sz="1800" dirty="0" err="1"/>
              <a:t>The</a:t>
            </a:r>
            <a:r>
              <a:rPr lang="es-ES" sz="1800" dirty="0"/>
              <a:t> Grand </a:t>
            </a:r>
            <a:r>
              <a:rPr lang="es-ES" sz="1800" dirty="0" err="1"/>
              <a:t>Challenge</a:t>
            </a:r>
            <a:r>
              <a:rPr lang="es-ES" sz="1800" dirty="0"/>
              <a:t> of </a:t>
            </a:r>
            <a:r>
              <a:rPr lang="es-ES" sz="1800" dirty="0" err="1"/>
              <a:t>Computer</a:t>
            </a:r>
            <a:r>
              <a:rPr lang="es-ES" sz="1800" dirty="0"/>
              <a:t> </a:t>
            </a:r>
            <a:r>
              <a:rPr lang="es-ES" sz="1800" dirty="0" err="1"/>
              <a:t>Go</a:t>
            </a:r>
            <a:r>
              <a:rPr lang="es-ES" sz="1800" dirty="0"/>
              <a:t>: Monte Carlo </a:t>
            </a:r>
            <a:r>
              <a:rPr lang="es-ES" sz="1800" dirty="0" err="1"/>
              <a:t>Tree</a:t>
            </a:r>
            <a:r>
              <a:rPr lang="es-ES" sz="1800" dirty="0"/>
              <a:t> </a:t>
            </a:r>
            <a:r>
              <a:rPr lang="es-ES" sz="1800" dirty="0" err="1"/>
              <a:t>Search</a:t>
            </a:r>
            <a:r>
              <a:rPr lang="es-ES" sz="1800" dirty="0"/>
              <a:t> and </a:t>
            </a:r>
            <a:r>
              <a:rPr lang="es-ES" sz="1800" dirty="0" err="1"/>
              <a:t>Extensions</a:t>
            </a:r>
            <a:r>
              <a:rPr lang="es-ES" sz="1800" dirty="0"/>
              <a:t>, </a:t>
            </a:r>
            <a:r>
              <a:rPr lang="es-ES" sz="1800" dirty="0" err="1"/>
              <a:t>communications</a:t>
            </a:r>
            <a:r>
              <a:rPr lang="es-ES" sz="1800" dirty="0"/>
              <a:t> of </a:t>
            </a:r>
            <a:r>
              <a:rPr lang="es-ES" sz="1800" dirty="0" err="1"/>
              <a:t>the</a:t>
            </a:r>
            <a:r>
              <a:rPr lang="es-ES" sz="1800" dirty="0"/>
              <a:t> ACM, 2012.</a:t>
            </a:r>
            <a:br>
              <a:rPr lang="es-ES" sz="1800" dirty="0"/>
            </a:br>
            <a:endParaRPr lang="es-ES" sz="1800" dirty="0"/>
          </a:p>
          <a:p>
            <a:r>
              <a:rPr lang="es-ES" sz="1800" dirty="0"/>
              <a:t>Guillaume </a:t>
            </a:r>
            <a:r>
              <a:rPr lang="es-ES" sz="1800" dirty="0" err="1"/>
              <a:t>Chaslot</a:t>
            </a:r>
            <a:r>
              <a:rPr lang="es-ES" sz="1800" dirty="0"/>
              <a:t>, </a:t>
            </a:r>
            <a:r>
              <a:rPr lang="es-ES" sz="1800" dirty="0" err="1"/>
              <a:t>Sander</a:t>
            </a:r>
            <a:r>
              <a:rPr lang="es-ES" sz="1800" dirty="0"/>
              <a:t> </a:t>
            </a:r>
            <a:r>
              <a:rPr lang="es-ES" sz="1800" dirty="0" err="1"/>
              <a:t>Bakkes</a:t>
            </a:r>
            <a:r>
              <a:rPr lang="es-ES" sz="1800" dirty="0"/>
              <a:t>, </a:t>
            </a:r>
            <a:r>
              <a:rPr lang="es-ES" sz="1800" dirty="0" err="1"/>
              <a:t>Istvan</a:t>
            </a:r>
            <a:r>
              <a:rPr lang="es-ES" sz="1800" dirty="0"/>
              <a:t> </a:t>
            </a:r>
            <a:r>
              <a:rPr lang="es-ES" sz="1800" dirty="0" err="1"/>
              <a:t>Szita</a:t>
            </a:r>
            <a:r>
              <a:rPr lang="es-ES" sz="1800" dirty="0"/>
              <a:t> and </a:t>
            </a:r>
            <a:r>
              <a:rPr lang="es-ES" sz="1800" dirty="0" err="1"/>
              <a:t>Pieter</a:t>
            </a:r>
            <a:r>
              <a:rPr lang="es-ES" sz="1800" dirty="0"/>
              <a:t> </a:t>
            </a:r>
            <a:r>
              <a:rPr lang="es-ES" sz="1800" dirty="0" err="1"/>
              <a:t>Spronck</a:t>
            </a:r>
            <a:r>
              <a:rPr lang="es-ES" sz="1800" dirty="0"/>
              <a:t>, Monte-Carlo </a:t>
            </a:r>
            <a:r>
              <a:rPr lang="es-ES" sz="1800" dirty="0" err="1"/>
              <a:t>Tree</a:t>
            </a:r>
            <a:r>
              <a:rPr lang="es-ES" sz="1800" dirty="0"/>
              <a:t> </a:t>
            </a:r>
            <a:r>
              <a:rPr lang="es-ES" sz="1800" dirty="0" err="1"/>
              <a:t>Search</a:t>
            </a:r>
            <a:r>
              <a:rPr lang="es-ES" sz="1800" dirty="0"/>
              <a:t>: A New Framework </a:t>
            </a:r>
            <a:r>
              <a:rPr lang="es-ES" sz="1800" dirty="0" err="1"/>
              <a:t>for</a:t>
            </a:r>
            <a:r>
              <a:rPr lang="es-ES" sz="1800" dirty="0"/>
              <a:t> </a:t>
            </a:r>
            <a:r>
              <a:rPr lang="es-ES" sz="1800" dirty="0" err="1"/>
              <a:t>Game</a:t>
            </a:r>
            <a:r>
              <a:rPr lang="es-ES" sz="1800" dirty="0"/>
              <a:t> AI, 2008.</a:t>
            </a:r>
            <a:br>
              <a:rPr lang="es-ES" sz="1800" dirty="0"/>
            </a:br>
            <a:endParaRPr lang="es-ES" sz="1800" dirty="0"/>
          </a:p>
          <a:p>
            <a:r>
              <a:rPr lang="es-ES" sz="1800" dirty="0"/>
              <a:t>Beatriz Nasarre </a:t>
            </a:r>
            <a:r>
              <a:rPr lang="es-ES" sz="1800" dirty="0" err="1"/>
              <a:t>Embid</a:t>
            </a:r>
            <a:r>
              <a:rPr lang="es-ES" sz="1800" dirty="0"/>
              <a:t>, </a:t>
            </a:r>
            <a:r>
              <a:rPr lang="es-ES" sz="1800" dirty="0" err="1"/>
              <a:t>Metodo</a:t>
            </a:r>
            <a:r>
              <a:rPr lang="es-ES" sz="1800" dirty="0"/>
              <a:t> de Monte-Carlo </a:t>
            </a:r>
            <a:r>
              <a:rPr lang="es-ES" sz="1800" dirty="0" err="1"/>
              <a:t>Tree</a:t>
            </a:r>
            <a:r>
              <a:rPr lang="es-ES" sz="1800" dirty="0"/>
              <a:t> </a:t>
            </a:r>
            <a:r>
              <a:rPr lang="es-ES" sz="1800" dirty="0" err="1"/>
              <a:t>Search</a:t>
            </a:r>
            <a:r>
              <a:rPr lang="es-ES" sz="1800" dirty="0"/>
              <a:t> (MCTS)para resolver problemas de alta complejidad: Jugador virtual para el juego del </a:t>
            </a:r>
            <a:r>
              <a:rPr lang="es-ES" sz="1800" dirty="0" err="1"/>
              <a:t>Go</a:t>
            </a:r>
            <a:r>
              <a:rPr lang="es-ES" sz="1800" dirty="0"/>
              <a:t>, Universidad de Zaragoza, 2012.</a:t>
            </a:r>
          </a:p>
          <a:p>
            <a:endParaRPr lang="es-ES" sz="1800" dirty="0"/>
          </a:p>
          <a:p>
            <a:r>
              <a:rPr lang="es-ES" sz="1800" dirty="0"/>
              <a:t>E. </a:t>
            </a:r>
            <a:r>
              <a:rPr lang="es-ES" sz="1800" dirty="0" err="1"/>
              <a:t>Rich</a:t>
            </a:r>
            <a:r>
              <a:rPr lang="es-ES" sz="1800" dirty="0"/>
              <a:t>. Inteligencia Artificial. 1994.</a:t>
            </a:r>
          </a:p>
        </p:txBody>
      </p:sp>
    </p:spTree>
    <p:extLst>
      <p:ext uri="{BB962C8B-B14F-4D97-AF65-F5344CB8AC3E}">
        <p14:creationId xmlns:p14="http://schemas.microsoft.com/office/powerpoint/2010/main" val="2531492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2122716"/>
          </a:xfrm>
        </p:spPr>
        <p:txBody>
          <a:bodyPr>
            <a:noAutofit/>
          </a:bodyPr>
          <a:lstStyle/>
          <a:p>
            <a:r>
              <a:rPr lang="es-ES_tradnl" sz="5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Solución de Problemas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</a:t>
            </a:r>
            <a:r>
              <a:rPr lang="es-ES_tradnl" sz="3600" b="1" dirty="0" err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MultiJugador</a:t>
            </a:r>
            <a:endParaRPr lang="es-ES_tradnl" sz="3600" b="1" dirty="0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384468" y="5596850"/>
            <a:ext cx="879548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Andrea Rueda, PhD – </a:t>
            </a:r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hlinkClick r:id="rId4"/>
              </a:rPr>
              <a:t>rueda-andrea@javeriana.edu.co</a:t>
            </a:r>
            <a:b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Enrique González, PhD – </a:t>
            </a:r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  <a:hlinkClick r:id="rId5"/>
              </a:rPr>
              <a:t>egonzal@javeriana.edu.co</a:t>
            </a:r>
            <a:endParaRPr lang="es-ES_tradnl" b="1" dirty="0">
              <a:solidFill>
                <a:schemeClr val="accent1">
                  <a:lumMod val="75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  <p:pic>
        <p:nvPicPr>
          <p:cNvPr id="7" name="Imagen 6" descr="Logo Pontificia Universidad Javeriana">
            <a:extLst>
              <a:ext uri="{FF2B5EF4-FFF2-40B4-BE49-F238E27FC236}">
                <a16:creationId xmlns:a16="http://schemas.microsoft.com/office/drawing/2014/main" id="{D654A47A-EB57-DD44-923A-FC8749DD2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273" y="23139"/>
            <a:ext cx="4473835" cy="188372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051357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CE6E15AAA6D84AAC52E76F6F4DA01C" ma:contentTypeVersion="18" ma:contentTypeDescription="Create a new document." ma:contentTypeScope="" ma:versionID="21a2ea65212a9cca783fb55a4bea438e">
  <xsd:schema xmlns:xsd="http://www.w3.org/2001/XMLSchema" xmlns:xs="http://www.w3.org/2001/XMLSchema" xmlns:p="http://schemas.microsoft.com/office/2006/metadata/properties" xmlns:ns3="0534b563-8bcf-404a-9c05-83830691e24d" xmlns:ns4="b44060d6-3d92-4222-88f4-058ac1ad6e6d" targetNamespace="http://schemas.microsoft.com/office/2006/metadata/properties" ma:root="true" ma:fieldsID="e9cad2d49079c334801c77d6b846ab99" ns3:_="" ns4:_="">
    <xsd:import namespace="0534b563-8bcf-404a-9c05-83830691e24d"/>
    <xsd:import namespace="b44060d6-3d92-4222-88f4-058ac1ad6e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34b563-8bcf-404a-9c05-83830691e2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060d6-3d92-4222-88f4-058ac1ad6e6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34b563-8bcf-404a-9c05-83830691e24d" xsi:nil="true"/>
  </documentManagement>
</p:properties>
</file>

<file path=customXml/itemProps1.xml><?xml version="1.0" encoding="utf-8"?>
<ds:datastoreItem xmlns:ds="http://schemas.openxmlformats.org/officeDocument/2006/customXml" ds:itemID="{A356C800-4559-4B4B-9B97-2E6CF9B9E3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34b563-8bcf-404a-9c05-83830691e24d"/>
    <ds:schemaRef ds:uri="b44060d6-3d92-4222-88f4-058ac1ad6e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6804D7-CF32-4F3B-A2D7-0A82162F6E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7FBEB4-D86B-4E11-9901-925172D013F3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  <ds:schemaRef ds:uri="0534b563-8bcf-404a-9c05-83830691e24d"/>
    <ds:schemaRef ds:uri="b44060d6-3d92-4222-88f4-058ac1ad6e6d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10376</TotalTime>
  <Words>2603</Words>
  <Application>Microsoft Office PowerPoint</Application>
  <PresentationFormat>Panorámica</PresentationFormat>
  <Paragraphs>630</Paragraphs>
  <Slides>31</Slides>
  <Notes>2</Notes>
  <HiddenSlides>5</HiddenSlides>
  <MMClips>2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Arial</vt:lpstr>
      <vt:lpstr>Arial Narrow</vt:lpstr>
      <vt:lpstr>Calibri</vt:lpstr>
      <vt:lpstr>Calibri Light</vt:lpstr>
      <vt:lpstr>Times New Roman</vt:lpstr>
      <vt:lpstr>Wingdings</vt:lpstr>
      <vt:lpstr>Wingdings 2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Enrique Gonzalez Guerrero</cp:lastModifiedBy>
  <cp:revision>443</cp:revision>
  <dcterms:created xsi:type="dcterms:W3CDTF">2017-03-01T15:55:36Z</dcterms:created>
  <dcterms:modified xsi:type="dcterms:W3CDTF">2026-02-25T16:39:25Z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0x01010022CE6E15AAA6D84AAC52E76F6F4DA01C</vt:lpwstr>
  </property>
</Properties>
</file>