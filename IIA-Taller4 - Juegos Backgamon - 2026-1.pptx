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4"/>
  </p:notesMasterIdLst>
  <p:sldIdLst>
    <p:sldId id="445" r:id="rId5"/>
    <p:sldId id="561" r:id="rId6"/>
    <p:sldId id="559" r:id="rId7"/>
    <p:sldId id="563" r:id="rId8"/>
    <p:sldId id="562" r:id="rId9"/>
    <p:sldId id="454" r:id="rId10"/>
    <p:sldId id="462" r:id="rId11"/>
    <p:sldId id="564" r:id="rId12"/>
    <p:sldId id="459" r:id="rId13"/>
  </p:sldIdLst>
  <p:sldSz cx="12192000" cy="6858000"/>
  <p:notesSz cx="6858000" cy="9144000"/>
  <p:defaultTextStyle>
    <a:defPPr>
      <a:defRPr lang="es-ES_trad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driana Diaz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  <a:srgbClr val="FF99FF"/>
    <a:srgbClr val="CC99FF"/>
    <a:srgbClr val="006666"/>
    <a:srgbClr val="FF66FF"/>
    <a:srgbClr val="FFCCFF"/>
    <a:srgbClr val="00FFFF"/>
    <a:srgbClr val="141C35"/>
    <a:srgbClr val="141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163"/>
    <p:restoredTop sz="95331" autoAdjust="0"/>
  </p:normalViewPr>
  <p:slideViewPr>
    <p:cSldViewPr snapToGrid="0" snapToObjects="1">
      <p:cViewPr varScale="1">
        <p:scale>
          <a:sx n="127" d="100"/>
          <a:sy n="127" d="100"/>
        </p:scale>
        <p:origin x="156" y="1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8E539C-DDF3-AC46-8B9D-2E762AE448C0}" type="datetimeFigureOut">
              <a:rPr lang="es-ES_tradnl" smtClean="0"/>
              <a:t>25/02/2026</a:t>
            </a:fld>
            <a:endParaRPr lang="es-ES_tradn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F5C0A5-FBF0-BA4F-A7ED-D301001CE6FC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789541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gestión </a:t>
            </a:r>
            <a:r>
              <a:rPr lang="es-E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academica</a:t>
            </a:r>
            <a:r>
              <a:rPr lang="es-E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s-E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administativa</a:t>
            </a:r>
            <a:r>
              <a:rPr lang="es-E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logros y actividades a destacar.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F5C0A5-FBF0-BA4F-A7ED-D301001CE6FC}" type="slidenum">
              <a:rPr lang="es-ES_tradnl" smtClean="0"/>
              <a:t>1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596859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gestión </a:t>
            </a:r>
            <a:r>
              <a:rPr lang="es-E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academica</a:t>
            </a:r>
            <a:r>
              <a:rPr lang="es-E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s-E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administativa</a:t>
            </a:r>
            <a:r>
              <a:rPr lang="es-E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logros y actividades a destacar.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F5C0A5-FBF0-BA4F-A7ED-D301001CE6FC}" type="slidenum">
              <a:rPr lang="es-ES_tradnl" smtClean="0"/>
              <a:t>9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78792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_tradnl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280E0-7F35-E648-A499-767250BB567F}" type="datetimeFigureOut">
              <a:rPr lang="es-ES_tradnl" smtClean="0"/>
              <a:t>25/02/2026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70117-86FD-5C4E-9449-35DCC7DD46F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75703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280E0-7F35-E648-A499-767250BB567F}" type="datetimeFigureOut">
              <a:rPr lang="es-ES_tradnl" smtClean="0"/>
              <a:t>25/02/2026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70117-86FD-5C4E-9449-35DCC7DD46F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843978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280E0-7F35-E648-A499-767250BB567F}" type="datetimeFigureOut">
              <a:rPr lang="es-ES_tradnl" smtClean="0"/>
              <a:t>25/02/2026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70117-86FD-5C4E-9449-35DCC7DD46F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621261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280E0-7F35-E648-A499-767250BB567F}" type="datetimeFigureOut">
              <a:rPr lang="es-ES_tradnl" smtClean="0"/>
              <a:t>25/02/2026</a:t>
            </a:fld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70117-86FD-5C4E-9449-35DCC7DD46F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84488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280E0-7F35-E648-A499-767250BB567F}" type="datetimeFigureOut">
              <a:rPr lang="es-ES_tradnl" smtClean="0"/>
              <a:t>25/02/2026</a:t>
            </a:fld>
            <a:endParaRPr lang="es-ES_tradnl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70117-86FD-5C4E-9449-35DCC7DD46F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87663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280E0-7F35-E648-A499-767250BB567F}" type="datetimeFigureOut">
              <a:rPr lang="es-ES_tradnl" smtClean="0"/>
              <a:t>25/02/2026</a:t>
            </a:fld>
            <a:endParaRPr lang="es-ES_tradnl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70117-86FD-5C4E-9449-35DCC7DD46F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593107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280E0-7F35-E648-A499-767250BB567F}" type="datetimeFigureOut">
              <a:rPr lang="es-ES_tradnl" smtClean="0"/>
              <a:t>25/02/2026</a:t>
            </a:fld>
            <a:endParaRPr lang="es-ES_tradnl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70117-86FD-5C4E-9449-35DCC7DD46F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8800626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280E0-7F35-E648-A499-767250BB567F}" type="datetimeFigureOut">
              <a:rPr lang="es-ES_tradnl" smtClean="0"/>
              <a:t>25/02/2026</a:t>
            </a:fld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70117-86FD-5C4E-9449-35DCC7DD46F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38391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280E0-7F35-E648-A499-767250BB567F}" type="datetimeFigureOut">
              <a:rPr lang="es-ES_tradnl" smtClean="0"/>
              <a:t>25/02/2026</a:t>
            </a:fld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70117-86FD-5C4E-9449-35DCC7DD46F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24764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280E0-7F35-E648-A499-767250BB567F}" type="datetimeFigureOut">
              <a:rPr lang="es-ES_tradnl" smtClean="0"/>
              <a:t>25/02/2026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70117-86FD-5C4E-9449-35DCC7DD46F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89922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280E0-7F35-E648-A499-767250BB567F}" type="datetimeFigureOut">
              <a:rPr lang="es-ES_tradnl" smtClean="0"/>
              <a:t>25/02/2026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70117-86FD-5C4E-9449-35DCC7DD46F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862640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A280E0-7F35-E648-A499-767250BB567F}" type="datetimeFigureOut">
              <a:rPr lang="es-ES_tradnl" smtClean="0"/>
              <a:t>25/02/2026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770117-86FD-5C4E-9449-35DCC7DD46F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22568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udoteka.com/clasika/backgammon-es.html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hyperlink" Target="https://www.youtube.com/watch?v=yRqGVXbvWy8" TargetMode="Externa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hyperlink" Target="https://www.youtube.com/watch?v=yRqGVXbvWy8" TargetMode="Externa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hyperlink" Target="https://www.youtube.com/watch?v=yRqGVXbvWy8" TargetMode="External"/><Relationship Id="rId7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Subtítulo 2"/>
          <p:cNvSpPr>
            <a:spLocks noGrp="1"/>
          </p:cNvSpPr>
          <p:nvPr>
            <p:ph type="subTitle" idx="1"/>
          </p:nvPr>
        </p:nvSpPr>
        <p:spPr>
          <a:xfrm>
            <a:off x="3384468" y="2812021"/>
            <a:ext cx="8456166" cy="1581096"/>
          </a:xfrm>
        </p:spPr>
        <p:txBody>
          <a:bodyPr>
            <a:noAutofit/>
          </a:bodyPr>
          <a:lstStyle/>
          <a:p>
            <a:r>
              <a:rPr lang="es-ES_tradnl" sz="5400" b="1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Inteligencia Artificial</a:t>
            </a:r>
          </a:p>
          <a:p>
            <a:r>
              <a:rPr lang="es-ES_tradnl" sz="3600" b="1" dirty="0">
                <a:solidFill>
                  <a:srgbClr val="FFC000"/>
                </a:solidFill>
                <a:latin typeface="Arial" charset="0"/>
                <a:ea typeface="Arial" charset="0"/>
                <a:cs typeface="Arial" charset="0"/>
              </a:rPr>
              <a:t>Juegos Multijugador</a:t>
            </a:r>
          </a:p>
          <a:p>
            <a:r>
              <a:rPr lang="es-ES_tradnl" sz="3600" b="1" dirty="0">
                <a:solidFill>
                  <a:srgbClr val="FFC000"/>
                </a:solidFill>
                <a:latin typeface="Arial" charset="0"/>
                <a:ea typeface="Arial" charset="0"/>
                <a:cs typeface="Arial" charset="0"/>
              </a:rPr>
              <a:t>Taller 4 - </a:t>
            </a:r>
            <a:r>
              <a:rPr lang="es-ES_tradnl" sz="3600" b="1" dirty="0" err="1">
                <a:solidFill>
                  <a:srgbClr val="FFC000"/>
                </a:solidFill>
                <a:latin typeface="Arial" charset="0"/>
                <a:ea typeface="Arial" charset="0"/>
                <a:cs typeface="Arial" charset="0"/>
              </a:rPr>
              <a:t>Backgamon</a:t>
            </a:r>
            <a:endParaRPr lang="es-ES_tradnl" sz="3600" b="1" dirty="0">
              <a:solidFill>
                <a:srgbClr val="FFC000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6" name="Subtítulo 2"/>
          <p:cNvSpPr txBox="1">
            <a:spLocks/>
          </p:cNvSpPr>
          <p:nvPr/>
        </p:nvSpPr>
        <p:spPr>
          <a:xfrm>
            <a:off x="3723788" y="5639886"/>
            <a:ext cx="8456166" cy="1002738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b="1" dirty="0">
                <a:solidFill>
                  <a:schemeClr val="accent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Ing. Enrique González PhD</a:t>
            </a:r>
          </a:p>
          <a:p>
            <a:r>
              <a:rPr lang="es-ES_tradnl" b="1" dirty="0">
                <a:solidFill>
                  <a:schemeClr val="accent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Departamento de Ingeniería de Sistemas</a:t>
            </a:r>
          </a:p>
        </p:txBody>
      </p:sp>
      <p:sp>
        <p:nvSpPr>
          <p:cNvPr id="7" name="Subtítulo 2"/>
          <p:cNvSpPr txBox="1">
            <a:spLocks/>
          </p:cNvSpPr>
          <p:nvPr/>
        </p:nvSpPr>
        <p:spPr>
          <a:xfrm>
            <a:off x="1314926" y="170946"/>
            <a:ext cx="3634928" cy="947494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_tradnl" sz="14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Nombre 1</a:t>
            </a:r>
          </a:p>
          <a:p>
            <a:pPr algn="l"/>
            <a:r>
              <a:rPr lang="es-ES_tradnl" sz="14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Nombre 2</a:t>
            </a:r>
          </a:p>
          <a:p>
            <a:pPr algn="l"/>
            <a:r>
              <a:rPr lang="es-ES_tradnl" sz="14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Nombre 3</a:t>
            </a:r>
          </a:p>
        </p:txBody>
      </p:sp>
      <p:sp>
        <p:nvSpPr>
          <p:cNvPr id="8" name="Subtítulo 2"/>
          <p:cNvSpPr txBox="1">
            <a:spLocks/>
          </p:cNvSpPr>
          <p:nvPr/>
        </p:nvSpPr>
        <p:spPr>
          <a:xfrm>
            <a:off x="158702" y="407820"/>
            <a:ext cx="1156224" cy="473746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sz="18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Grupo X</a:t>
            </a:r>
          </a:p>
        </p:txBody>
      </p:sp>
    </p:spTree>
    <p:extLst>
      <p:ext uri="{BB962C8B-B14F-4D97-AF65-F5344CB8AC3E}">
        <p14:creationId xmlns:p14="http://schemas.microsoft.com/office/powerpoint/2010/main" val="328592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01128" cy="6863135"/>
          </a:xfrm>
        </p:spPr>
      </p:pic>
      <p:sp>
        <p:nvSpPr>
          <p:cNvPr id="31" name="Rectángulo 30"/>
          <p:cNvSpPr/>
          <p:nvPr/>
        </p:nvSpPr>
        <p:spPr>
          <a:xfrm>
            <a:off x="1341912" y="583285"/>
            <a:ext cx="717269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_tradnl" sz="3000" b="1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Taller Calificable 4 - Juegos</a:t>
            </a:r>
          </a:p>
        </p:txBody>
      </p:sp>
      <p:sp>
        <p:nvSpPr>
          <p:cNvPr id="118" name="Rectangle 4"/>
          <p:cNvSpPr>
            <a:spLocks noChangeArrowheads="1"/>
          </p:cNvSpPr>
          <p:nvPr/>
        </p:nvSpPr>
        <p:spPr bwMode="auto">
          <a:xfrm>
            <a:off x="789139" y="1440156"/>
            <a:ext cx="11402861" cy="5417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marL="0" indent="0" algn="ctr" eaLnBrk="1" hangingPunct="1"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lang="es-ES" altLang="es-CO" b="0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Juego de </a:t>
            </a:r>
            <a:r>
              <a:rPr lang="es-ES" altLang="es-CO" b="0" dirty="0" err="1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Backgamon</a:t>
            </a:r>
            <a:r>
              <a:rPr lang="es-ES" altLang="es-CO" b="0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– 1 Solo Dado – Sin Apuestas</a:t>
            </a:r>
          </a:p>
          <a:p>
            <a:pPr marL="0" indent="0" algn="ctr" eaLnBrk="1" hangingPunct="1"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kumimoji="0" lang="es-ES" altLang="es-CO" sz="1600" b="0" dirty="0">
                <a:solidFill>
                  <a:srgbClr val="0070C0"/>
                </a:solidFill>
              </a:rPr>
              <a:t>En el </a:t>
            </a:r>
            <a:r>
              <a:rPr kumimoji="0" lang="es-ES" altLang="es-CO" sz="1600" b="0" dirty="0" err="1">
                <a:solidFill>
                  <a:srgbClr val="0070C0"/>
                </a:solidFill>
              </a:rPr>
              <a:t>Backgammon</a:t>
            </a:r>
            <a:r>
              <a:rPr kumimoji="0" lang="es-ES" altLang="es-CO" sz="1600" b="0" dirty="0">
                <a:solidFill>
                  <a:srgbClr val="0070C0"/>
                </a:solidFill>
              </a:rPr>
              <a:t> se enfrentan dos jugadores en un tablero cuyas casillas son unos triángulos alargados repartidos en cuatro cuadrantes (6 triángulos por cuadrante). El tablero está dividido longitudinalmente por una zona denominada barra.</a:t>
            </a:r>
          </a:p>
          <a:p>
            <a:pPr marL="0" indent="0" algn="ctr" eaLnBrk="1" hangingPunct="1"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kumimoji="0" lang="es-ES" altLang="es-CO" sz="1600" b="0" dirty="0">
                <a:solidFill>
                  <a:srgbClr val="0070C0"/>
                </a:solidFill>
              </a:rPr>
              <a:t>Cada jugador dispone de 15 piezas de color diferente a las de su adversario. Se inicia el juego tal y como se ve en la figura.</a:t>
            </a:r>
          </a:p>
          <a:p>
            <a:pPr marL="0" indent="0" algn="ctr" eaLnBrk="1" hangingPunct="1"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kumimoji="0" lang="es-ES" altLang="es-CO" sz="1600" b="0" dirty="0">
                <a:solidFill>
                  <a:srgbClr val="0070C0"/>
                </a:solidFill>
              </a:rPr>
              <a:t>Se trata de un juego de “carreras” cuyo objetivo inmediato es sacar todas las fichas del tablero antes que el adversario.</a:t>
            </a:r>
          </a:p>
          <a:p>
            <a:pPr marL="0" indent="0" algn="ctr" eaLnBrk="1" hangingPunct="1"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kumimoji="0" lang="es-ES" altLang="es-CO" sz="1600" b="0" dirty="0">
                <a:solidFill>
                  <a:srgbClr val="0070C0"/>
                </a:solidFill>
              </a:rPr>
              <a:t>Para ello sus fichas deben realizar un recorrido sobre las casillas del tablero, las de un jugador en sentido de las agujas del reloj y las del otro en sentido contrario, de modo que los recorridos de uno y otro se cruzan.</a:t>
            </a:r>
          </a:p>
          <a:p>
            <a:pPr marL="0" indent="0" algn="ctr" eaLnBrk="1" hangingPunct="1"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kumimoji="0" lang="es-ES" altLang="es-CO" sz="1600" b="0" dirty="0">
                <a:solidFill>
                  <a:srgbClr val="0070C0"/>
                </a:solidFill>
              </a:rPr>
              <a:t>Conozca las reglas completas en </a:t>
            </a:r>
            <a:r>
              <a:rPr kumimoji="0" lang="es-ES" altLang="es-CO" sz="1600" b="0" dirty="0">
                <a:solidFill>
                  <a:srgbClr val="0070C0"/>
                </a:solidFill>
                <a:hlinkClick r:id="rId3"/>
              </a:rPr>
              <a:t>https://www.ludoteka.com/clasika/backgammon-es.html</a:t>
            </a:r>
            <a:r>
              <a:rPr kumimoji="0" lang="es-ES" altLang="es-CO" sz="1600" b="0" dirty="0">
                <a:solidFill>
                  <a:srgbClr val="0070C0"/>
                </a:solidFill>
              </a:rPr>
              <a:t>. Para simplificar, el juego será con un solo dado.</a:t>
            </a:r>
          </a:p>
          <a:p>
            <a:pPr marL="0" indent="0" eaLnBrk="1" hangingPunct="1">
              <a:spcBef>
                <a:spcPct val="20000"/>
              </a:spcBef>
              <a:buClr>
                <a:schemeClr val="hlink"/>
              </a:buClr>
              <a:buSzPct val="55000"/>
            </a:pPr>
            <a:endParaRPr kumimoji="0" lang="es-ES" altLang="es-CO" sz="800" b="0" dirty="0">
              <a:solidFill>
                <a:srgbClr val="C00000"/>
              </a:solidFill>
            </a:endParaRPr>
          </a:p>
          <a:p>
            <a:pPr marL="0" indent="0" eaLnBrk="1" hangingPunct="1"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kumimoji="0" lang="es-ES" altLang="es-CO" sz="1600" b="0" dirty="0">
                <a:solidFill>
                  <a:srgbClr val="C00000"/>
                </a:solidFill>
              </a:rPr>
              <a:t>Escriba un programa (en lenguaje C++, Java) que implemente el algoritmo MIN-MAX para el juego de </a:t>
            </a:r>
            <a:r>
              <a:rPr kumimoji="0" lang="es-ES" altLang="es-CO" sz="1600" b="0" dirty="0" err="1">
                <a:solidFill>
                  <a:srgbClr val="C00000"/>
                </a:solidFill>
              </a:rPr>
              <a:t>Backgamon</a:t>
            </a:r>
            <a:r>
              <a:rPr kumimoji="0" lang="es-ES" altLang="es-CO" sz="1600" b="0" dirty="0">
                <a:solidFill>
                  <a:srgbClr val="C00000"/>
                </a:solidFill>
              </a:rPr>
              <a:t>.</a:t>
            </a: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55000"/>
              <a:buFontTx/>
              <a:buChar char="-"/>
            </a:pPr>
            <a:r>
              <a:rPr kumimoji="0" lang="es-ES" altLang="es-CO" sz="1600" b="0" dirty="0">
                <a:solidFill>
                  <a:srgbClr val="C00000"/>
                </a:solidFill>
              </a:rPr>
              <a:t>Analizar y definir cómo representar un estado.</a:t>
            </a: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55000"/>
              <a:buFontTx/>
              <a:buChar char="-"/>
            </a:pPr>
            <a:r>
              <a:rPr kumimoji="0" lang="es-ES" altLang="es-CO" sz="1600" b="0" dirty="0">
                <a:solidFill>
                  <a:srgbClr val="C00000"/>
                </a:solidFill>
              </a:rPr>
              <a:t>Definir una función que genera los sucesores de un estado.</a:t>
            </a: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55000"/>
              <a:buFontTx/>
              <a:buChar char="-"/>
            </a:pPr>
            <a:r>
              <a:rPr kumimoji="0" lang="es-ES" altLang="es-CO" sz="1600" b="0" dirty="0">
                <a:solidFill>
                  <a:srgbClr val="C00000"/>
                </a:solidFill>
              </a:rPr>
              <a:t>Definir una función para determinar que el juego ha terminado.</a:t>
            </a: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55000"/>
              <a:buFontTx/>
              <a:buChar char="-"/>
            </a:pPr>
            <a:r>
              <a:rPr kumimoji="0" lang="es-ES" altLang="es-CO" sz="1600" b="0" dirty="0">
                <a:solidFill>
                  <a:srgbClr val="C00000"/>
                </a:solidFill>
              </a:rPr>
              <a:t>Definir una función heurística para valorar un estado.</a:t>
            </a: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55000"/>
              <a:buFontTx/>
              <a:buChar char="-"/>
            </a:pPr>
            <a:r>
              <a:rPr kumimoji="0" lang="es-ES" altLang="es-CO" sz="1600" b="0" dirty="0">
                <a:solidFill>
                  <a:srgbClr val="C00000"/>
                </a:solidFill>
              </a:rPr>
              <a:t>Implementar Min-Max con profundidad de 2 niveles.</a:t>
            </a: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55000"/>
              <a:buFontTx/>
              <a:buChar char="-"/>
            </a:pPr>
            <a:r>
              <a:rPr kumimoji="0" lang="es-ES" altLang="es-CO" sz="1600" b="0" dirty="0">
                <a:solidFill>
                  <a:srgbClr val="C00000"/>
                </a:solidFill>
              </a:rPr>
              <a:t>Implementar una interface sencilla que permita a un jugador humano efectuar una jugada</a:t>
            </a:r>
          </a:p>
          <a:p>
            <a:pPr marL="0" indent="0" eaLnBrk="1" hangingPunct="1"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kumimoji="0" lang="es-ES" altLang="es-CO" sz="1600" b="0" dirty="0">
                <a:solidFill>
                  <a:srgbClr val="C00000"/>
                </a:solidFill>
              </a:rPr>
              <a:t>       y realizar el turno del jugador IA. Se debe mostrar en forma sencilla el estado del juego. </a:t>
            </a:r>
          </a:p>
          <a:p>
            <a:pPr marL="0" indent="0" eaLnBrk="1" hangingPunct="1">
              <a:spcBef>
                <a:spcPct val="20000"/>
              </a:spcBef>
              <a:buClr>
                <a:schemeClr val="hlink"/>
              </a:buClr>
              <a:buSzPct val="55000"/>
            </a:pPr>
            <a:endParaRPr kumimoji="0" lang="es-ES" altLang="es-CO" sz="900" b="0" dirty="0">
              <a:solidFill>
                <a:srgbClr val="C00000"/>
              </a:solidFill>
            </a:endParaRPr>
          </a:p>
          <a:p>
            <a:pPr marL="0" indent="0" algn="ctr" eaLnBrk="1" hangingPunct="1"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kumimoji="0" lang="es-ES" altLang="es-CO" sz="1600" dirty="0">
                <a:solidFill>
                  <a:srgbClr val="C00000"/>
                </a:solidFill>
              </a:rPr>
              <a:t>Nota</a:t>
            </a:r>
            <a:r>
              <a:rPr kumimoji="0" lang="es-ES" altLang="es-CO" sz="1600" b="0" dirty="0">
                <a:solidFill>
                  <a:srgbClr val="C00000"/>
                </a:solidFill>
              </a:rPr>
              <a:t>: es obligatorio usar un modelo de </a:t>
            </a:r>
            <a:r>
              <a:rPr kumimoji="0" lang="es-ES" altLang="es-CO" sz="1600" b="0" u="sng" dirty="0">
                <a:solidFill>
                  <a:srgbClr val="C00000"/>
                </a:solidFill>
              </a:rPr>
              <a:t>programación orientado a objetos</a:t>
            </a:r>
            <a:r>
              <a:rPr kumimoji="0" lang="es-ES" altLang="es-CO" sz="1600" b="0" dirty="0">
                <a:solidFill>
                  <a:srgbClr val="C00000"/>
                </a:solidFill>
              </a:rPr>
              <a:t> para representar el problema y los componentes de la solución Min-Max.</a:t>
            </a:r>
            <a:endParaRPr kumimoji="0" lang="es-ES" altLang="es-CO" sz="1050" b="0" dirty="0">
              <a:solidFill>
                <a:schemeClr val="accent1">
                  <a:lumMod val="50000"/>
                </a:schemeClr>
              </a:solidFill>
            </a:endParaRP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endParaRPr kumimoji="0" lang="es-ES" altLang="es-CO" sz="1200" b="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EEE22DF9-4EF0-4940-8CBB-815B72E82E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1543" y="4368951"/>
            <a:ext cx="2560393" cy="1962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4963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ángulo 30"/>
          <p:cNvSpPr/>
          <p:nvPr/>
        </p:nvSpPr>
        <p:spPr>
          <a:xfrm>
            <a:off x="1341912" y="583285"/>
            <a:ext cx="717269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_tradnl" sz="3000" b="1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Función Heurística - Ejercicio</a:t>
            </a:r>
          </a:p>
        </p:txBody>
      </p:sp>
      <p:pic>
        <p:nvPicPr>
          <p:cNvPr id="67" name="Marcador de contenido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5967"/>
          <a:stretch/>
        </p:blipFill>
        <p:spPr>
          <a:xfrm>
            <a:off x="1398" y="4652"/>
            <a:ext cx="12201128" cy="1649377"/>
          </a:xfrm>
        </p:spPr>
      </p:pic>
      <p:sp>
        <p:nvSpPr>
          <p:cNvPr id="68" name="Rectángulo 67"/>
          <p:cNvSpPr/>
          <p:nvPr/>
        </p:nvSpPr>
        <p:spPr>
          <a:xfrm>
            <a:off x="1343310" y="298349"/>
            <a:ext cx="717269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_tradnl" sz="3000" b="1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Taller 4 – </a:t>
            </a:r>
            <a:r>
              <a:rPr lang="es-ES_tradnl" sz="3000" b="1" dirty="0" err="1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Backgamon</a:t>
            </a:r>
            <a:endParaRPr lang="es-ES_tradnl" sz="3000" b="1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  <a:p>
            <a:pPr algn="ctr"/>
            <a:r>
              <a:rPr lang="es-ES_tradnl" sz="3000" b="1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Cómo representar un estado?</a:t>
            </a:r>
          </a:p>
        </p:txBody>
      </p:sp>
      <p:sp>
        <p:nvSpPr>
          <p:cNvPr id="66" name="Rectangle 1027">
            <a:extLst>
              <a:ext uri="{FF2B5EF4-FFF2-40B4-BE49-F238E27FC236}">
                <a16:creationId xmlns:a16="http://schemas.microsoft.com/office/drawing/2014/main" id="{0D060DFF-E86D-4F54-8F5F-623C49C93EC3}"/>
              </a:ext>
            </a:extLst>
          </p:cNvPr>
          <p:cNvSpPr txBox="1">
            <a:spLocks noChangeArrowheads="1"/>
          </p:cNvSpPr>
          <p:nvPr/>
        </p:nvSpPr>
        <p:spPr>
          <a:xfrm>
            <a:off x="6502758" y="1473819"/>
            <a:ext cx="5369374" cy="53007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3000"/>
              </a:lnSpc>
            </a:pPr>
            <a:r>
              <a:rPr lang="es-ES" altLang="es-CO" sz="1800" b="1" dirty="0">
                <a:solidFill>
                  <a:srgbClr val="7030A0"/>
                </a:solidFill>
              </a:rPr>
              <a:t>Estado Global del Juego</a:t>
            </a:r>
          </a:p>
          <a:p>
            <a:pPr lvl="1">
              <a:lnSpc>
                <a:spcPct val="83000"/>
              </a:lnSpc>
            </a:pPr>
            <a:r>
              <a:rPr lang="es-ES" altLang="es-CO" sz="1400" b="1" dirty="0" err="1">
                <a:solidFill>
                  <a:srgbClr val="7030A0"/>
                </a:solidFill>
              </a:rPr>
              <a:t>EstJuego</a:t>
            </a:r>
            <a:r>
              <a:rPr lang="es-ES" altLang="es-CO" sz="1400" b="1" dirty="0">
                <a:solidFill>
                  <a:srgbClr val="7030A0"/>
                </a:solidFill>
              </a:rPr>
              <a:t> = [   ]</a:t>
            </a:r>
          </a:p>
          <a:p>
            <a:pPr marL="0" indent="0">
              <a:lnSpc>
                <a:spcPct val="83000"/>
              </a:lnSpc>
              <a:buNone/>
            </a:pPr>
            <a:endParaRPr lang="es-ES" altLang="es-CO" sz="800" u="sng" dirty="0">
              <a:solidFill>
                <a:srgbClr val="7030A0"/>
              </a:solidFill>
            </a:endParaRPr>
          </a:p>
          <a:p>
            <a:pPr marL="0" indent="0">
              <a:lnSpc>
                <a:spcPct val="83000"/>
              </a:lnSpc>
              <a:buNone/>
            </a:pPr>
            <a:r>
              <a:rPr lang="es-ES" altLang="es-CO" sz="1600" u="sng" dirty="0">
                <a:solidFill>
                  <a:srgbClr val="7030A0"/>
                </a:solidFill>
              </a:rPr>
              <a:t>Componentes</a:t>
            </a:r>
          </a:p>
          <a:p>
            <a:pPr marL="0" indent="0">
              <a:lnSpc>
                <a:spcPct val="83000"/>
              </a:lnSpc>
              <a:buNone/>
            </a:pPr>
            <a:r>
              <a:rPr lang="es-ES" altLang="es-CO" sz="1600" dirty="0" err="1">
                <a:solidFill>
                  <a:schemeClr val="accent4">
                    <a:lumMod val="75000"/>
                  </a:schemeClr>
                </a:solidFill>
              </a:rPr>
              <a:t>Xxx</a:t>
            </a:r>
            <a:r>
              <a:rPr lang="es-CO" altLang="es-CO" sz="1600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ES" altLang="es-CO" sz="1600" dirty="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lang="es-ES" altLang="es-CO" sz="1600" dirty="0">
                <a:solidFill>
                  <a:schemeClr val="accent4">
                    <a:lumMod val="75000"/>
                  </a:schemeClr>
                </a:solidFill>
              </a:rPr>
              <a:t> </a:t>
            </a:r>
          </a:p>
          <a:p>
            <a:pPr marL="0" indent="0">
              <a:lnSpc>
                <a:spcPct val="83000"/>
              </a:lnSpc>
              <a:buNone/>
            </a:pPr>
            <a:r>
              <a:rPr lang="es-ES" altLang="es-CO" sz="1600" dirty="0" err="1">
                <a:solidFill>
                  <a:schemeClr val="accent2">
                    <a:lumMod val="75000"/>
                  </a:schemeClr>
                </a:solidFill>
              </a:rPr>
              <a:t>Yyy</a:t>
            </a:r>
            <a:r>
              <a:rPr lang="es-ES" altLang="es-CO" sz="16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s-ES" altLang="es-CO" sz="16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→</a:t>
            </a:r>
            <a:endParaRPr lang="es-ES" altLang="es-CO" sz="1600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>
              <a:lnSpc>
                <a:spcPct val="83000"/>
              </a:lnSpc>
              <a:buNone/>
            </a:pPr>
            <a:r>
              <a:rPr lang="es-ES" altLang="es-CO" sz="1600" dirty="0" err="1">
                <a:solidFill>
                  <a:srgbClr val="7030A0"/>
                </a:solidFill>
              </a:rPr>
              <a:t>Zzz</a:t>
            </a:r>
            <a:r>
              <a:rPr lang="es-ES" altLang="es-CO" sz="1600" dirty="0">
                <a:solidFill>
                  <a:srgbClr val="7030A0"/>
                </a:solidFill>
              </a:rPr>
              <a:t> </a:t>
            </a:r>
            <a:r>
              <a:rPr lang="es-ES" altLang="es-CO" sz="1600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→</a:t>
            </a:r>
            <a:endParaRPr lang="es-ES" altLang="es-CO" sz="1600" dirty="0">
              <a:solidFill>
                <a:srgbClr val="7030A0"/>
              </a:solidFill>
            </a:endParaRPr>
          </a:p>
          <a:p>
            <a:pPr marL="0" indent="0">
              <a:lnSpc>
                <a:spcPct val="83000"/>
              </a:lnSpc>
              <a:buNone/>
            </a:pPr>
            <a:endParaRPr lang="es-ES" altLang="es-CO" sz="1600" dirty="0">
              <a:solidFill>
                <a:srgbClr val="00B050"/>
              </a:solidFill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DEFF8823-A80D-46E3-A49A-A0EB585C7B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265" y="1825659"/>
            <a:ext cx="1942031" cy="1729206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002DAA38-4382-421B-999F-1ECE0C0BEF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4830" y="2433380"/>
            <a:ext cx="1903605" cy="1764677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A0E5AA01-0398-457D-A28D-06E020234FB4}"/>
              </a:ext>
            </a:extLst>
          </p:cNvPr>
          <p:cNvSpPr txBox="1"/>
          <p:nvPr/>
        </p:nvSpPr>
        <p:spPr>
          <a:xfrm>
            <a:off x="134265" y="6535490"/>
            <a:ext cx="266451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900" dirty="0">
                <a:hlinkClick r:id="rId5"/>
              </a:rPr>
              <a:t>https://www.youtube.com/watch?v=yRqGVXbvWy8</a:t>
            </a:r>
            <a:r>
              <a:rPr lang="es-ES" sz="900" dirty="0"/>
              <a:t> </a:t>
            </a:r>
            <a:endParaRPr lang="es-CO" sz="9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4B1C20F-4653-4E83-BEB3-9647B6A29E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2007" y="4540196"/>
            <a:ext cx="1817664" cy="1729206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3BA87AE5-E05B-4500-9433-767E0991D2E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1825" y="4543185"/>
            <a:ext cx="2124575" cy="1726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612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ángulo 30"/>
          <p:cNvSpPr/>
          <p:nvPr/>
        </p:nvSpPr>
        <p:spPr>
          <a:xfrm>
            <a:off x="1341912" y="583285"/>
            <a:ext cx="717269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_tradnl" sz="3000" b="1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Función Heurística - Ejercicio</a:t>
            </a:r>
          </a:p>
        </p:txBody>
      </p:sp>
      <p:pic>
        <p:nvPicPr>
          <p:cNvPr id="67" name="Marcador de contenido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5967"/>
          <a:stretch/>
        </p:blipFill>
        <p:spPr>
          <a:xfrm>
            <a:off x="1398" y="4652"/>
            <a:ext cx="12201128" cy="1649377"/>
          </a:xfrm>
        </p:spPr>
      </p:pic>
      <p:sp>
        <p:nvSpPr>
          <p:cNvPr id="68" name="Rectángulo 67"/>
          <p:cNvSpPr/>
          <p:nvPr/>
        </p:nvSpPr>
        <p:spPr>
          <a:xfrm>
            <a:off x="1343310" y="298349"/>
            <a:ext cx="717269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_tradnl" sz="3000" b="1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Taller 4 – </a:t>
            </a:r>
            <a:r>
              <a:rPr lang="es-ES_tradnl" sz="3000" b="1" dirty="0" err="1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Backgamon</a:t>
            </a:r>
            <a:endParaRPr lang="es-ES_tradnl" sz="3000" b="1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  <a:p>
            <a:pPr algn="ctr"/>
            <a:r>
              <a:rPr lang="es-ES" sz="3000" b="1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Cuándo ha terminado el juego?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DEFF8823-A80D-46E3-A49A-A0EB585C7B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265" y="1825659"/>
            <a:ext cx="1942031" cy="1729206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002DAA38-4382-421B-999F-1ECE0C0BEF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4830" y="2433380"/>
            <a:ext cx="1903605" cy="1764677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A0E5AA01-0398-457D-A28D-06E020234FB4}"/>
              </a:ext>
            </a:extLst>
          </p:cNvPr>
          <p:cNvSpPr txBox="1"/>
          <p:nvPr/>
        </p:nvSpPr>
        <p:spPr>
          <a:xfrm>
            <a:off x="134265" y="6535490"/>
            <a:ext cx="266451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900" dirty="0">
                <a:hlinkClick r:id="rId5"/>
              </a:rPr>
              <a:t>https://www.youtube.com/watch?v=yRqGVXbvWy8</a:t>
            </a:r>
            <a:r>
              <a:rPr lang="es-ES" sz="900" dirty="0"/>
              <a:t> </a:t>
            </a:r>
            <a:endParaRPr lang="es-CO" sz="9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4B1C20F-4653-4E83-BEB3-9647B6A29E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2007" y="4540196"/>
            <a:ext cx="1817664" cy="1729206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3BA87AE5-E05B-4500-9433-767E0991D2E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1825" y="4543185"/>
            <a:ext cx="2124575" cy="1726217"/>
          </a:xfrm>
          <a:prstGeom prst="rect">
            <a:avLst/>
          </a:prstGeom>
        </p:spPr>
      </p:pic>
      <p:sp>
        <p:nvSpPr>
          <p:cNvPr id="11" name="Rectangle 1027">
            <a:extLst>
              <a:ext uri="{FF2B5EF4-FFF2-40B4-BE49-F238E27FC236}">
                <a16:creationId xmlns:a16="http://schemas.microsoft.com/office/drawing/2014/main" id="{4C79BA87-BBFA-4419-844A-DFA96A4B6511}"/>
              </a:ext>
            </a:extLst>
          </p:cNvPr>
          <p:cNvSpPr txBox="1">
            <a:spLocks noChangeArrowheads="1"/>
          </p:cNvSpPr>
          <p:nvPr/>
        </p:nvSpPr>
        <p:spPr>
          <a:xfrm>
            <a:off x="6655158" y="1626219"/>
            <a:ext cx="5369374" cy="53007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3000"/>
              </a:lnSpc>
            </a:pPr>
            <a:r>
              <a:rPr lang="es-ES" altLang="es-CO" sz="1800" b="1" dirty="0">
                <a:solidFill>
                  <a:srgbClr val="7030A0"/>
                </a:solidFill>
              </a:rPr>
              <a:t>Situaciones de Fin de Juego</a:t>
            </a:r>
          </a:p>
          <a:p>
            <a:pPr marL="0" indent="0">
              <a:lnSpc>
                <a:spcPct val="83000"/>
              </a:lnSpc>
              <a:buNone/>
            </a:pPr>
            <a:r>
              <a:rPr lang="es-ES" altLang="es-CO" sz="1600" dirty="0" err="1">
                <a:solidFill>
                  <a:schemeClr val="accent4">
                    <a:lumMod val="75000"/>
                  </a:schemeClr>
                </a:solidFill>
              </a:rPr>
              <a:t>Xxx</a:t>
            </a:r>
            <a:r>
              <a:rPr lang="es-CO" altLang="es-CO" sz="1600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ES" altLang="es-CO" sz="1600" dirty="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lang="es-ES" altLang="es-CO" sz="1600" dirty="0">
                <a:solidFill>
                  <a:schemeClr val="accent4">
                    <a:lumMod val="75000"/>
                  </a:schemeClr>
                </a:solidFill>
              </a:rPr>
              <a:t> </a:t>
            </a:r>
          </a:p>
          <a:p>
            <a:pPr marL="0" indent="0">
              <a:lnSpc>
                <a:spcPct val="83000"/>
              </a:lnSpc>
              <a:buNone/>
            </a:pPr>
            <a:r>
              <a:rPr lang="es-ES" altLang="es-CO" sz="1600" dirty="0" err="1">
                <a:solidFill>
                  <a:schemeClr val="accent2">
                    <a:lumMod val="75000"/>
                  </a:schemeClr>
                </a:solidFill>
              </a:rPr>
              <a:t>Yyy</a:t>
            </a:r>
            <a:r>
              <a:rPr lang="es-ES" altLang="es-CO" sz="16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s-ES" altLang="es-CO" sz="16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→</a:t>
            </a:r>
            <a:endParaRPr lang="es-ES" altLang="es-CO" sz="1600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>
              <a:lnSpc>
                <a:spcPct val="83000"/>
              </a:lnSpc>
              <a:buNone/>
            </a:pPr>
            <a:r>
              <a:rPr lang="es-ES" altLang="es-CO" sz="1600" dirty="0" err="1">
                <a:solidFill>
                  <a:srgbClr val="7030A0"/>
                </a:solidFill>
              </a:rPr>
              <a:t>Zzz</a:t>
            </a:r>
            <a:r>
              <a:rPr lang="es-ES" altLang="es-CO" sz="1600" dirty="0">
                <a:solidFill>
                  <a:srgbClr val="7030A0"/>
                </a:solidFill>
              </a:rPr>
              <a:t> </a:t>
            </a:r>
            <a:r>
              <a:rPr lang="es-ES" altLang="es-CO" sz="1600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→</a:t>
            </a:r>
            <a:endParaRPr lang="es-ES" altLang="es-CO" sz="1600" dirty="0">
              <a:solidFill>
                <a:srgbClr val="7030A0"/>
              </a:solidFill>
            </a:endParaRPr>
          </a:p>
          <a:p>
            <a:pPr marL="0" indent="0">
              <a:lnSpc>
                <a:spcPct val="83000"/>
              </a:lnSpc>
              <a:buNone/>
            </a:pPr>
            <a:endParaRPr lang="es-ES" altLang="es-CO" sz="16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261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ángulo 30"/>
          <p:cNvSpPr/>
          <p:nvPr/>
        </p:nvSpPr>
        <p:spPr>
          <a:xfrm>
            <a:off x="1341912" y="583285"/>
            <a:ext cx="717269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_tradnl" sz="3000" b="1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Función Heurística - Ejercicio</a:t>
            </a:r>
          </a:p>
        </p:txBody>
      </p:sp>
      <p:pic>
        <p:nvPicPr>
          <p:cNvPr id="67" name="Marcador de contenido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5967"/>
          <a:stretch/>
        </p:blipFill>
        <p:spPr>
          <a:xfrm>
            <a:off x="1398" y="4652"/>
            <a:ext cx="12201128" cy="1649377"/>
          </a:xfrm>
        </p:spPr>
      </p:pic>
      <p:sp>
        <p:nvSpPr>
          <p:cNvPr id="68" name="Rectángulo 67"/>
          <p:cNvSpPr/>
          <p:nvPr/>
        </p:nvSpPr>
        <p:spPr>
          <a:xfrm>
            <a:off x="1343310" y="298349"/>
            <a:ext cx="717269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_tradnl" sz="3000" b="1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Taller 4 – </a:t>
            </a:r>
            <a:r>
              <a:rPr lang="es-ES_tradnl" sz="3000" b="1" dirty="0" err="1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Backgamon</a:t>
            </a:r>
            <a:endParaRPr lang="es-ES_tradnl" sz="3000" b="1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  <a:p>
            <a:pPr algn="ctr"/>
            <a:r>
              <a:rPr lang="es-ES_tradnl" sz="3000" b="1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Cuáles son los sucesores?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0E5AA01-0398-457D-A28D-06E020234FB4}"/>
              </a:ext>
            </a:extLst>
          </p:cNvPr>
          <p:cNvSpPr txBox="1"/>
          <p:nvPr/>
        </p:nvSpPr>
        <p:spPr>
          <a:xfrm>
            <a:off x="134265" y="6535490"/>
            <a:ext cx="266451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900" dirty="0">
                <a:hlinkClick r:id="rId3"/>
              </a:rPr>
              <a:t>https://www.youtube.com/watch?v=yRqGVXbvWy8</a:t>
            </a:r>
            <a:r>
              <a:rPr lang="es-ES" sz="900" dirty="0"/>
              <a:t> </a:t>
            </a:r>
            <a:endParaRPr lang="es-CO" sz="900" dirty="0"/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495FB86A-FB20-49A1-B080-11FD750446F7}"/>
              </a:ext>
            </a:extLst>
          </p:cNvPr>
          <p:cNvCxnSpPr>
            <a:cxnSpLocks/>
            <a:endCxn id="27" idx="1"/>
          </p:cNvCxnSpPr>
          <p:nvPr/>
        </p:nvCxnSpPr>
        <p:spPr>
          <a:xfrm flipV="1">
            <a:off x="1653703" y="2227246"/>
            <a:ext cx="959879" cy="121707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E31E0B9A-35D8-46F5-87E9-74AC7024DBCC}"/>
              </a:ext>
            </a:extLst>
          </p:cNvPr>
          <p:cNvCxnSpPr>
            <a:cxnSpLocks/>
          </p:cNvCxnSpPr>
          <p:nvPr/>
        </p:nvCxnSpPr>
        <p:spPr>
          <a:xfrm flipV="1">
            <a:off x="1653703" y="3301869"/>
            <a:ext cx="971094" cy="14244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533D0955-618D-4EA7-80FF-54947C092F93}"/>
              </a:ext>
            </a:extLst>
          </p:cNvPr>
          <p:cNvCxnSpPr>
            <a:cxnSpLocks/>
            <a:stCxn id="37" idx="2"/>
            <a:endCxn id="56" idx="0"/>
          </p:cNvCxnSpPr>
          <p:nvPr/>
        </p:nvCxnSpPr>
        <p:spPr>
          <a:xfrm>
            <a:off x="1044355" y="3895673"/>
            <a:ext cx="207413" cy="114804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F2E16D6-88CA-4590-8217-9BFF6BB02ED1}"/>
              </a:ext>
            </a:extLst>
          </p:cNvPr>
          <p:cNvSpPr txBox="1"/>
          <p:nvPr/>
        </p:nvSpPr>
        <p:spPr>
          <a:xfrm rot="18696594">
            <a:off x="1764483" y="2530031"/>
            <a:ext cx="8209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050" dirty="0">
                <a:solidFill>
                  <a:srgbClr val="0070C0"/>
                </a:solidFill>
              </a:rPr>
              <a:t>dado = 1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0BDECE4E-1976-4619-83E3-E0EA6428A623}"/>
              </a:ext>
            </a:extLst>
          </p:cNvPr>
          <p:cNvSpPr txBox="1"/>
          <p:nvPr/>
        </p:nvSpPr>
        <p:spPr>
          <a:xfrm rot="21014521">
            <a:off x="1738419" y="3165981"/>
            <a:ext cx="8209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050" dirty="0">
                <a:solidFill>
                  <a:srgbClr val="0070C0"/>
                </a:solidFill>
              </a:rPr>
              <a:t>dado = 1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BFDE97AC-37F0-46B4-ACAC-5F2604B2F0A4}"/>
              </a:ext>
            </a:extLst>
          </p:cNvPr>
          <p:cNvSpPr txBox="1"/>
          <p:nvPr/>
        </p:nvSpPr>
        <p:spPr>
          <a:xfrm rot="4677244">
            <a:off x="796550" y="4248642"/>
            <a:ext cx="8209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050" dirty="0">
                <a:solidFill>
                  <a:srgbClr val="0070C0"/>
                </a:solidFill>
              </a:rPr>
              <a:t>dado = 4</a:t>
            </a:r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id="{DF784F59-CE62-41BC-A458-5F366A7B31B7}"/>
              </a:ext>
            </a:extLst>
          </p:cNvPr>
          <p:cNvGrpSpPr/>
          <p:nvPr/>
        </p:nvGrpSpPr>
        <p:grpSpPr>
          <a:xfrm>
            <a:off x="2612819" y="5264083"/>
            <a:ext cx="1183030" cy="978647"/>
            <a:chOff x="5007885" y="4346695"/>
            <a:chExt cx="1971950" cy="1631272"/>
          </a:xfrm>
        </p:grpSpPr>
        <p:pic>
          <p:nvPicPr>
            <p:cNvPr id="18" name="Imagen 17">
              <a:extLst>
                <a:ext uri="{FF2B5EF4-FFF2-40B4-BE49-F238E27FC236}">
                  <a16:creationId xmlns:a16="http://schemas.microsoft.com/office/drawing/2014/main" id="{282FB5B8-DF13-4241-A7B6-821DA019024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07885" y="4424832"/>
              <a:ext cx="1971950" cy="800212"/>
            </a:xfrm>
            <a:prstGeom prst="rect">
              <a:avLst/>
            </a:prstGeom>
          </p:spPr>
        </p:pic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3CB5D8CA-09C9-40B8-9988-AE27E492123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flipV="1">
              <a:off x="5007885" y="5071957"/>
              <a:ext cx="1971950" cy="800212"/>
            </a:xfrm>
            <a:prstGeom prst="rect">
              <a:avLst/>
            </a:prstGeom>
          </p:spPr>
        </p:pic>
        <p:pic>
          <p:nvPicPr>
            <p:cNvPr id="20" name="Imagen 19">
              <a:extLst>
                <a:ext uri="{FF2B5EF4-FFF2-40B4-BE49-F238E27FC236}">
                  <a16:creationId xmlns:a16="http://schemas.microsoft.com/office/drawing/2014/main" id="{61D5CBAD-DEB8-4BEE-A630-CAD2ADCBC5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12674" y="5854125"/>
              <a:ext cx="1762371" cy="123842"/>
            </a:xfrm>
            <a:prstGeom prst="rect">
              <a:avLst/>
            </a:prstGeom>
          </p:spPr>
        </p:pic>
        <p:pic>
          <p:nvPicPr>
            <p:cNvPr id="21" name="Imagen 20">
              <a:extLst>
                <a:ext uri="{FF2B5EF4-FFF2-40B4-BE49-F238E27FC236}">
                  <a16:creationId xmlns:a16="http://schemas.microsoft.com/office/drawing/2014/main" id="{E09D1CB1-EC83-4306-9920-E3798704942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103429" y="4346695"/>
              <a:ext cx="1743318" cy="114316"/>
            </a:xfrm>
            <a:prstGeom prst="rect">
              <a:avLst/>
            </a:prstGeom>
          </p:spPr>
        </p:pic>
      </p:grpSp>
      <p:grpSp>
        <p:nvGrpSpPr>
          <p:cNvPr id="22" name="Grupo 21">
            <a:extLst>
              <a:ext uri="{FF2B5EF4-FFF2-40B4-BE49-F238E27FC236}">
                <a16:creationId xmlns:a16="http://schemas.microsoft.com/office/drawing/2014/main" id="{3A0215C8-E847-4342-BA40-29022E6747A6}"/>
              </a:ext>
            </a:extLst>
          </p:cNvPr>
          <p:cNvGrpSpPr/>
          <p:nvPr/>
        </p:nvGrpSpPr>
        <p:grpSpPr>
          <a:xfrm>
            <a:off x="2585758" y="1724443"/>
            <a:ext cx="1207485" cy="1014350"/>
            <a:chOff x="2585758" y="2140078"/>
            <a:chExt cx="1207485" cy="1014350"/>
          </a:xfrm>
        </p:grpSpPr>
        <p:grpSp>
          <p:nvGrpSpPr>
            <p:cNvPr id="23" name="Grupo 22">
              <a:extLst>
                <a:ext uri="{FF2B5EF4-FFF2-40B4-BE49-F238E27FC236}">
                  <a16:creationId xmlns:a16="http://schemas.microsoft.com/office/drawing/2014/main" id="{42B6F9E0-9B89-4B4B-80C7-FE7BC788B6C8}"/>
                </a:ext>
              </a:extLst>
            </p:cNvPr>
            <p:cNvGrpSpPr/>
            <p:nvPr/>
          </p:nvGrpSpPr>
          <p:grpSpPr>
            <a:xfrm>
              <a:off x="2585758" y="2140078"/>
              <a:ext cx="1207485" cy="1014350"/>
              <a:chOff x="2894900" y="4340398"/>
              <a:chExt cx="1943458" cy="1631272"/>
            </a:xfrm>
          </p:grpSpPr>
          <p:pic>
            <p:nvPicPr>
              <p:cNvPr id="27" name="Imagen 26">
                <a:extLst>
                  <a:ext uri="{FF2B5EF4-FFF2-40B4-BE49-F238E27FC236}">
                    <a16:creationId xmlns:a16="http://schemas.microsoft.com/office/drawing/2014/main" id="{53F70C8E-7FCC-4383-8A32-9EA5A20160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939683" y="4445789"/>
                <a:ext cx="1898675" cy="1406425"/>
              </a:xfrm>
              <a:prstGeom prst="rect">
                <a:avLst/>
              </a:prstGeom>
            </p:spPr>
          </p:pic>
          <p:pic>
            <p:nvPicPr>
              <p:cNvPr id="28" name="Imagen 27">
                <a:extLst>
                  <a:ext uri="{FF2B5EF4-FFF2-40B4-BE49-F238E27FC236}">
                    <a16:creationId xmlns:a16="http://schemas.microsoft.com/office/drawing/2014/main" id="{5799E54C-3A3A-46A9-9F20-F04FB86E12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894900" y="5277130"/>
                <a:ext cx="104679" cy="444886"/>
              </a:xfrm>
              <a:prstGeom prst="rect">
                <a:avLst/>
              </a:prstGeom>
            </p:spPr>
          </p:pic>
          <p:pic>
            <p:nvPicPr>
              <p:cNvPr id="29" name="Imagen 28">
                <a:extLst>
                  <a:ext uri="{FF2B5EF4-FFF2-40B4-BE49-F238E27FC236}">
                    <a16:creationId xmlns:a16="http://schemas.microsoft.com/office/drawing/2014/main" id="{6DADD289-4177-499B-9D26-F6185D2CC3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020645" y="5847828"/>
                <a:ext cx="1762371" cy="123842"/>
              </a:xfrm>
              <a:prstGeom prst="rect">
                <a:avLst/>
              </a:prstGeom>
            </p:spPr>
          </p:pic>
          <p:pic>
            <p:nvPicPr>
              <p:cNvPr id="30" name="Imagen 29">
                <a:extLst>
                  <a:ext uri="{FF2B5EF4-FFF2-40B4-BE49-F238E27FC236}">
                    <a16:creationId xmlns:a16="http://schemas.microsoft.com/office/drawing/2014/main" id="{1B881BDC-5D7F-426F-94E7-245FDDC402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011400" y="4340398"/>
                <a:ext cx="1743318" cy="114316"/>
              </a:xfrm>
              <a:prstGeom prst="rect">
                <a:avLst/>
              </a:prstGeom>
            </p:spPr>
          </p:pic>
        </p:grpSp>
        <p:grpSp>
          <p:nvGrpSpPr>
            <p:cNvPr id="24" name="Grupo 23">
              <a:extLst>
                <a:ext uri="{FF2B5EF4-FFF2-40B4-BE49-F238E27FC236}">
                  <a16:creationId xmlns:a16="http://schemas.microsoft.com/office/drawing/2014/main" id="{145F73A7-84F6-470B-8023-37785DD4FBC7}"/>
                </a:ext>
              </a:extLst>
            </p:cNvPr>
            <p:cNvGrpSpPr/>
            <p:nvPr/>
          </p:nvGrpSpPr>
          <p:grpSpPr>
            <a:xfrm>
              <a:off x="2676813" y="2244509"/>
              <a:ext cx="156235" cy="391426"/>
              <a:chOff x="2676813" y="2372100"/>
              <a:chExt cx="156235" cy="391426"/>
            </a:xfrm>
          </p:grpSpPr>
          <p:sp>
            <p:nvSpPr>
              <p:cNvPr id="25" name="Elipse 24">
                <a:extLst>
                  <a:ext uri="{FF2B5EF4-FFF2-40B4-BE49-F238E27FC236}">
                    <a16:creationId xmlns:a16="http://schemas.microsoft.com/office/drawing/2014/main" id="{14AAD2EB-7CB1-41BB-8B2B-D3D080152C1C}"/>
                  </a:ext>
                </a:extLst>
              </p:cNvPr>
              <p:cNvSpPr/>
              <p:nvPr/>
            </p:nvSpPr>
            <p:spPr>
              <a:xfrm>
                <a:off x="2764467" y="2372100"/>
                <a:ext cx="68581" cy="6858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pic>
            <p:nvPicPr>
              <p:cNvPr id="26" name="Imagen 25">
                <a:extLst>
                  <a:ext uri="{FF2B5EF4-FFF2-40B4-BE49-F238E27FC236}">
                    <a16:creationId xmlns:a16="http://schemas.microsoft.com/office/drawing/2014/main" id="{6FAF163F-FA4F-43A8-AD59-E682C369A3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676813" y="2675002"/>
                <a:ext cx="88524" cy="88524"/>
              </a:xfrm>
              <a:prstGeom prst="rect">
                <a:avLst/>
              </a:prstGeom>
            </p:spPr>
          </p:pic>
        </p:grpSp>
      </p:grp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03B1213C-73E4-4B93-96DB-AD679E674BB7}"/>
              </a:ext>
            </a:extLst>
          </p:cNvPr>
          <p:cNvCxnSpPr>
            <a:cxnSpLocks/>
          </p:cNvCxnSpPr>
          <p:nvPr/>
        </p:nvCxnSpPr>
        <p:spPr>
          <a:xfrm>
            <a:off x="1644834" y="3450634"/>
            <a:ext cx="961054" cy="109789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uadroTexto 32">
            <a:extLst>
              <a:ext uri="{FF2B5EF4-FFF2-40B4-BE49-F238E27FC236}">
                <a16:creationId xmlns:a16="http://schemas.microsoft.com/office/drawing/2014/main" id="{478B8CA7-E654-4E2A-B03E-52CC104D356E}"/>
              </a:ext>
            </a:extLst>
          </p:cNvPr>
          <p:cNvSpPr txBox="1"/>
          <p:nvPr/>
        </p:nvSpPr>
        <p:spPr>
          <a:xfrm rot="2804754">
            <a:off x="1863777" y="3914578"/>
            <a:ext cx="8209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050" dirty="0">
                <a:solidFill>
                  <a:srgbClr val="0070C0"/>
                </a:solidFill>
              </a:rPr>
              <a:t>dado = 3</a:t>
            </a:r>
          </a:p>
        </p:txBody>
      </p:sp>
      <p:grpSp>
        <p:nvGrpSpPr>
          <p:cNvPr id="34" name="Grupo 33">
            <a:extLst>
              <a:ext uri="{FF2B5EF4-FFF2-40B4-BE49-F238E27FC236}">
                <a16:creationId xmlns:a16="http://schemas.microsoft.com/office/drawing/2014/main" id="{3B5EF463-6F17-4D3F-B21E-1B026F61D979}"/>
              </a:ext>
            </a:extLst>
          </p:cNvPr>
          <p:cNvGrpSpPr/>
          <p:nvPr/>
        </p:nvGrpSpPr>
        <p:grpSpPr>
          <a:xfrm>
            <a:off x="418742" y="2881323"/>
            <a:ext cx="1207485" cy="1014350"/>
            <a:chOff x="2894900" y="4340398"/>
            <a:chExt cx="1943458" cy="1631272"/>
          </a:xfrm>
        </p:grpSpPr>
        <p:pic>
          <p:nvPicPr>
            <p:cNvPr id="35" name="Imagen 34">
              <a:extLst>
                <a:ext uri="{FF2B5EF4-FFF2-40B4-BE49-F238E27FC236}">
                  <a16:creationId xmlns:a16="http://schemas.microsoft.com/office/drawing/2014/main" id="{315B97C2-A877-4E76-9DB3-23FA359A808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939683" y="4445789"/>
              <a:ext cx="1898675" cy="1406425"/>
            </a:xfrm>
            <a:prstGeom prst="rect">
              <a:avLst/>
            </a:prstGeom>
          </p:spPr>
        </p:pic>
        <p:pic>
          <p:nvPicPr>
            <p:cNvPr id="36" name="Imagen 35">
              <a:extLst>
                <a:ext uri="{FF2B5EF4-FFF2-40B4-BE49-F238E27FC236}">
                  <a16:creationId xmlns:a16="http://schemas.microsoft.com/office/drawing/2014/main" id="{3A835DB6-5E89-4697-8F82-F1E72F7E701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894900" y="5277130"/>
              <a:ext cx="104679" cy="444886"/>
            </a:xfrm>
            <a:prstGeom prst="rect">
              <a:avLst/>
            </a:prstGeom>
          </p:spPr>
        </p:pic>
        <p:pic>
          <p:nvPicPr>
            <p:cNvPr id="37" name="Imagen 36">
              <a:extLst>
                <a:ext uri="{FF2B5EF4-FFF2-40B4-BE49-F238E27FC236}">
                  <a16:creationId xmlns:a16="http://schemas.microsoft.com/office/drawing/2014/main" id="{459D0EF9-D771-442C-BC80-DBCD8E2A4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020645" y="5847828"/>
              <a:ext cx="1762371" cy="123842"/>
            </a:xfrm>
            <a:prstGeom prst="rect">
              <a:avLst/>
            </a:prstGeom>
          </p:spPr>
        </p:pic>
        <p:pic>
          <p:nvPicPr>
            <p:cNvPr id="38" name="Imagen 37">
              <a:extLst>
                <a:ext uri="{FF2B5EF4-FFF2-40B4-BE49-F238E27FC236}">
                  <a16:creationId xmlns:a16="http://schemas.microsoft.com/office/drawing/2014/main" id="{06A3DADA-A0C2-4D72-9005-083838609DD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011400" y="4340398"/>
              <a:ext cx="1743318" cy="114316"/>
            </a:xfrm>
            <a:prstGeom prst="rect">
              <a:avLst/>
            </a:prstGeom>
          </p:spPr>
        </p:pic>
      </p:grpSp>
      <p:grpSp>
        <p:nvGrpSpPr>
          <p:cNvPr id="39" name="Grupo 38">
            <a:extLst>
              <a:ext uri="{FF2B5EF4-FFF2-40B4-BE49-F238E27FC236}">
                <a16:creationId xmlns:a16="http://schemas.microsoft.com/office/drawing/2014/main" id="{A877BF9A-221D-43C3-8544-EF594796844C}"/>
              </a:ext>
            </a:extLst>
          </p:cNvPr>
          <p:cNvGrpSpPr/>
          <p:nvPr/>
        </p:nvGrpSpPr>
        <p:grpSpPr>
          <a:xfrm>
            <a:off x="2585758" y="2776039"/>
            <a:ext cx="1207485" cy="1014350"/>
            <a:chOff x="2585758" y="3191674"/>
            <a:chExt cx="1207485" cy="1014350"/>
          </a:xfrm>
        </p:grpSpPr>
        <p:grpSp>
          <p:nvGrpSpPr>
            <p:cNvPr id="40" name="Grupo 39">
              <a:extLst>
                <a:ext uri="{FF2B5EF4-FFF2-40B4-BE49-F238E27FC236}">
                  <a16:creationId xmlns:a16="http://schemas.microsoft.com/office/drawing/2014/main" id="{06373DD7-B9E3-48A1-8892-3C6127FC7150}"/>
                </a:ext>
              </a:extLst>
            </p:cNvPr>
            <p:cNvGrpSpPr/>
            <p:nvPr/>
          </p:nvGrpSpPr>
          <p:grpSpPr>
            <a:xfrm>
              <a:off x="2585758" y="3191674"/>
              <a:ext cx="1207485" cy="1014350"/>
              <a:chOff x="2894900" y="4340398"/>
              <a:chExt cx="1943458" cy="1631272"/>
            </a:xfrm>
          </p:grpSpPr>
          <p:pic>
            <p:nvPicPr>
              <p:cNvPr id="44" name="Imagen 43">
                <a:extLst>
                  <a:ext uri="{FF2B5EF4-FFF2-40B4-BE49-F238E27FC236}">
                    <a16:creationId xmlns:a16="http://schemas.microsoft.com/office/drawing/2014/main" id="{42C03AFB-4D7A-44F7-80CD-0E063FD8979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939683" y="4445789"/>
                <a:ext cx="1898675" cy="1406425"/>
              </a:xfrm>
              <a:prstGeom prst="rect">
                <a:avLst/>
              </a:prstGeom>
            </p:spPr>
          </p:pic>
          <p:pic>
            <p:nvPicPr>
              <p:cNvPr id="45" name="Imagen 44">
                <a:extLst>
                  <a:ext uri="{FF2B5EF4-FFF2-40B4-BE49-F238E27FC236}">
                    <a16:creationId xmlns:a16="http://schemas.microsoft.com/office/drawing/2014/main" id="{FC7288F5-2F91-411F-86E5-4995B5E2BB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894900" y="5277130"/>
                <a:ext cx="104679" cy="444886"/>
              </a:xfrm>
              <a:prstGeom prst="rect">
                <a:avLst/>
              </a:prstGeom>
            </p:spPr>
          </p:pic>
          <p:pic>
            <p:nvPicPr>
              <p:cNvPr id="46" name="Imagen 45">
                <a:extLst>
                  <a:ext uri="{FF2B5EF4-FFF2-40B4-BE49-F238E27FC236}">
                    <a16:creationId xmlns:a16="http://schemas.microsoft.com/office/drawing/2014/main" id="{D6245E5C-CC3A-477F-B4C0-60665B1CA0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020645" y="5847828"/>
                <a:ext cx="1762371" cy="123842"/>
              </a:xfrm>
              <a:prstGeom prst="rect">
                <a:avLst/>
              </a:prstGeom>
            </p:spPr>
          </p:pic>
          <p:pic>
            <p:nvPicPr>
              <p:cNvPr id="47" name="Imagen 46">
                <a:extLst>
                  <a:ext uri="{FF2B5EF4-FFF2-40B4-BE49-F238E27FC236}">
                    <a16:creationId xmlns:a16="http://schemas.microsoft.com/office/drawing/2014/main" id="{EF38DF2F-6AEA-46A1-9662-CEE321F55D4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011400" y="4340398"/>
                <a:ext cx="1743318" cy="114316"/>
              </a:xfrm>
              <a:prstGeom prst="rect">
                <a:avLst/>
              </a:prstGeom>
            </p:spPr>
          </p:pic>
        </p:grpSp>
        <p:grpSp>
          <p:nvGrpSpPr>
            <p:cNvPr id="41" name="Grupo 40">
              <a:extLst>
                <a:ext uri="{FF2B5EF4-FFF2-40B4-BE49-F238E27FC236}">
                  <a16:creationId xmlns:a16="http://schemas.microsoft.com/office/drawing/2014/main" id="{8B2454F9-1D2A-4CDB-9DD6-74CE2A1CBED0}"/>
                </a:ext>
              </a:extLst>
            </p:cNvPr>
            <p:cNvGrpSpPr/>
            <p:nvPr/>
          </p:nvGrpSpPr>
          <p:grpSpPr>
            <a:xfrm>
              <a:off x="2930001" y="3725036"/>
              <a:ext cx="167744" cy="365690"/>
              <a:chOff x="2930001" y="3725036"/>
              <a:chExt cx="167744" cy="365690"/>
            </a:xfrm>
          </p:grpSpPr>
          <p:sp>
            <p:nvSpPr>
              <p:cNvPr id="42" name="Elipse 41">
                <a:extLst>
                  <a:ext uri="{FF2B5EF4-FFF2-40B4-BE49-F238E27FC236}">
                    <a16:creationId xmlns:a16="http://schemas.microsoft.com/office/drawing/2014/main" id="{756B7322-4539-4530-A74F-C550A6D288BF}"/>
                  </a:ext>
                </a:extLst>
              </p:cNvPr>
              <p:cNvSpPr/>
              <p:nvPr/>
            </p:nvSpPr>
            <p:spPr>
              <a:xfrm>
                <a:off x="2930001" y="4022145"/>
                <a:ext cx="68581" cy="6858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pic>
            <p:nvPicPr>
              <p:cNvPr id="43" name="Imagen 42">
                <a:extLst>
                  <a:ext uri="{FF2B5EF4-FFF2-40B4-BE49-F238E27FC236}">
                    <a16:creationId xmlns:a16="http://schemas.microsoft.com/office/drawing/2014/main" id="{53A628F7-ED8B-453A-92A3-E26102BA6B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998582" y="3725036"/>
                <a:ext cx="99163" cy="203834"/>
              </a:xfrm>
              <a:prstGeom prst="rect">
                <a:avLst/>
              </a:prstGeom>
            </p:spPr>
          </p:pic>
        </p:grpSp>
      </p:grpSp>
      <p:grpSp>
        <p:nvGrpSpPr>
          <p:cNvPr id="48" name="Grupo 47">
            <a:extLst>
              <a:ext uri="{FF2B5EF4-FFF2-40B4-BE49-F238E27FC236}">
                <a16:creationId xmlns:a16="http://schemas.microsoft.com/office/drawing/2014/main" id="{38B892BF-5633-4311-8F5C-EBC14CC1C12A}"/>
              </a:ext>
            </a:extLst>
          </p:cNvPr>
          <p:cNvGrpSpPr/>
          <p:nvPr/>
        </p:nvGrpSpPr>
        <p:grpSpPr>
          <a:xfrm>
            <a:off x="637817" y="5043714"/>
            <a:ext cx="1207485" cy="1014350"/>
            <a:chOff x="637817" y="5459349"/>
            <a:chExt cx="1207485" cy="1014350"/>
          </a:xfrm>
        </p:grpSpPr>
        <p:grpSp>
          <p:nvGrpSpPr>
            <p:cNvPr id="49" name="Grupo 48">
              <a:extLst>
                <a:ext uri="{FF2B5EF4-FFF2-40B4-BE49-F238E27FC236}">
                  <a16:creationId xmlns:a16="http://schemas.microsoft.com/office/drawing/2014/main" id="{6D536F90-75DA-4A2E-A14E-1A239C53F550}"/>
                </a:ext>
              </a:extLst>
            </p:cNvPr>
            <p:cNvGrpSpPr/>
            <p:nvPr/>
          </p:nvGrpSpPr>
          <p:grpSpPr>
            <a:xfrm>
              <a:off x="637817" y="5459349"/>
              <a:ext cx="1207485" cy="1014350"/>
              <a:chOff x="2894900" y="4340398"/>
              <a:chExt cx="1943458" cy="1631272"/>
            </a:xfrm>
          </p:grpSpPr>
          <p:pic>
            <p:nvPicPr>
              <p:cNvPr id="53" name="Imagen 52">
                <a:extLst>
                  <a:ext uri="{FF2B5EF4-FFF2-40B4-BE49-F238E27FC236}">
                    <a16:creationId xmlns:a16="http://schemas.microsoft.com/office/drawing/2014/main" id="{BBFDCAC0-5212-4711-A6CD-BA7D1B8A56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939683" y="4445789"/>
                <a:ext cx="1898675" cy="1406425"/>
              </a:xfrm>
              <a:prstGeom prst="rect">
                <a:avLst/>
              </a:prstGeom>
            </p:spPr>
          </p:pic>
          <p:pic>
            <p:nvPicPr>
              <p:cNvPr id="54" name="Imagen 53">
                <a:extLst>
                  <a:ext uri="{FF2B5EF4-FFF2-40B4-BE49-F238E27FC236}">
                    <a16:creationId xmlns:a16="http://schemas.microsoft.com/office/drawing/2014/main" id="{69F1610F-AD26-4246-9BE7-F5DFAEB17D2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894900" y="5277130"/>
                <a:ext cx="104679" cy="444886"/>
              </a:xfrm>
              <a:prstGeom prst="rect">
                <a:avLst/>
              </a:prstGeom>
            </p:spPr>
          </p:pic>
          <p:pic>
            <p:nvPicPr>
              <p:cNvPr id="55" name="Imagen 54">
                <a:extLst>
                  <a:ext uri="{FF2B5EF4-FFF2-40B4-BE49-F238E27FC236}">
                    <a16:creationId xmlns:a16="http://schemas.microsoft.com/office/drawing/2014/main" id="{7137C189-26F3-4224-B354-3A7C49AEF0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020645" y="5847828"/>
                <a:ext cx="1762371" cy="123842"/>
              </a:xfrm>
              <a:prstGeom prst="rect">
                <a:avLst/>
              </a:prstGeom>
            </p:spPr>
          </p:pic>
          <p:pic>
            <p:nvPicPr>
              <p:cNvPr id="56" name="Imagen 55">
                <a:extLst>
                  <a:ext uri="{FF2B5EF4-FFF2-40B4-BE49-F238E27FC236}">
                    <a16:creationId xmlns:a16="http://schemas.microsoft.com/office/drawing/2014/main" id="{16B45702-526A-4C2A-BDF1-2B6E4481C0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011400" y="4340398"/>
                <a:ext cx="1743318" cy="114316"/>
              </a:xfrm>
              <a:prstGeom prst="rect">
                <a:avLst/>
              </a:prstGeom>
            </p:spPr>
          </p:pic>
        </p:grpSp>
        <p:grpSp>
          <p:nvGrpSpPr>
            <p:cNvPr id="50" name="Grupo 49">
              <a:extLst>
                <a:ext uri="{FF2B5EF4-FFF2-40B4-BE49-F238E27FC236}">
                  <a16:creationId xmlns:a16="http://schemas.microsoft.com/office/drawing/2014/main" id="{17184D97-B880-4ACC-BB36-4A3131AFCBDE}"/>
                </a:ext>
              </a:extLst>
            </p:cNvPr>
            <p:cNvGrpSpPr/>
            <p:nvPr/>
          </p:nvGrpSpPr>
          <p:grpSpPr>
            <a:xfrm>
              <a:off x="735887" y="5788748"/>
              <a:ext cx="402109" cy="166630"/>
              <a:chOff x="516812" y="5788748"/>
              <a:chExt cx="402109" cy="166630"/>
            </a:xfrm>
          </p:grpSpPr>
          <p:pic>
            <p:nvPicPr>
              <p:cNvPr id="51" name="Imagen 50">
                <a:extLst>
                  <a:ext uri="{FF2B5EF4-FFF2-40B4-BE49-F238E27FC236}">
                    <a16:creationId xmlns:a16="http://schemas.microsoft.com/office/drawing/2014/main" id="{8D625EAB-0BA2-4A17-B45C-B6B28F04CC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16812" y="5866854"/>
                <a:ext cx="88524" cy="88524"/>
              </a:xfrm>
              <a:prstGeom prst="rect">
                <a:avLst/>
              </a:prstGeom>
            </p:spPr>
          </p:pic>
          <p:sp>
            <p:nvSpPr>
              <p:cNvPr id="52" name="Elipse 51">
                <a:extLst>
                  <a:ext uri="{FF2B5EF4-FFF2-40B4-BE49-F238E27FC236}">
                    <a16:creationId xmlns:a16="http://schemas.microsoft.com/office/drawing/2014/main" id="{0BCBC2DA-4013-4CA4-A8BC-88F4E96442E4}"/>
                  </a:ext>
                </a:extLst>
              </p:cNvPr>
              <p:cNvSpPr/>
              <p:nvPr/>
            </p:nvSpPr>
            <p:spPr>
              <a:xfrm>
                <a:off x="850340" y="5788748"/>
                <a:ext cx="68581" cy="6858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</p:grpSp>
      </p:grpSp>
      <p:grpSp>
        <p:nvGrpSpPr>
          <p:cNvPr id="57" name="Grupo 56">
            <a:extLst>
              <a:ext uri="{FF2B5EF4-FFF2-40B4-BE49-F238E27FC236}">
                <a16:creationId xmlns:a16="http://schemas.microsoft.com/office/drawing/2014/main" id="{79A381CE-487F-4849-B052-32068DCD27D6}"/>
              </a:ext>
            </a:extLst>
          </p:cNvPr>
          <p:cNvGrpSpPr/>
          <p:nvPr/>
        </p:nvGrpSpPr>
        <p:grpSpPr>
          <a:xfrm>
            <a:off x="2585758" y="3995001"/>
            <a:ext cx="1207485" cy="1014350"/>
            <a:chOff x="2585758" y="4410636"/>
            <a:chExt cx="1207485" cy="1014350"/>
          </a:xfrm>
        </p:grpSpPr>
        <p:grpSp>
          <p:nvGrpSpPr>
            <p:cNvPr id="58" name="Grupo 57">
              <a:extLst>
                <a:ext uri="{FF2B5EF4-FFF2-40B4-BE49-F238E27FC236}">
                  <a16:creationId xmlns:a16="http://schemas.microsoft.com/office/drawing/2014/main" id="{F38575E1-7283-4FB5-9C95-99B319334F7E}"/>
                </a:ext>
              </a:extLst>
            </p:cNvPr>
            <p:cNvGrpSpPr/>
            <p:nvPr/>
          </p:nvGrpSpPr>
          <p:grpSpPr>
            <a:xfrm>
              <a:off x="2585758" y="4410636"/>
              <a:ext cx="1207485" cy="1014350"/>
              <a:chOff x="2894900" y="4340398"/>
              <a:chExt cx="1943458" cy="1631272"/>
            </a:xfrm>
          </p:grpSpPr>
          <p:pic>
            <p:nvPicPr>
              <p:cNvPr id="62" name="Imagen 61">
                <a:extLst>
                  <a:ext uri="{FF2B5EF4-FFF2-40B4-BE49-F238E27FC236}">
                    <a16:creationId xmlns:a16="http://schemas.microsoft.com/office/drawing/2014/main" id="{A4CF2EFA-367F-43D3-87FD-B8C413C247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939683" y="4445789"/>
                <a:ext cx="1898675" cy="1406425"/>
              </a:xfrm>
              <a:prstGeom prst="rect">
                <a:avLst/>
              </a:prstGeom>
            </p:spPr>
          </p:pic>
          <p:pic>
            <p:nvPicPr>
              <p:cNvPr id="63" name="Imagen 62">
                <a:extLst>
                  <a:ext uri="{FF2B5EF4-FFF2-40B4-BE49-F238E27FC236}">
                    <a16:creationId xmlns:a16="http://schemas.microsoft.com/office/drawing/2014/main" id="{793C7962-0E48-4D12-A473-E65FDCD7BDD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894900" y="5277130"/>
                <a:ext cx="104679" cy="444886"/>
              </a:xfrm>
              <a:prstGeom prst="rect">
                <a:avLst/>
              </a:prstGeom>
            </p:spPr>
          </p:pic>
          <p:pic>
            <p:nvPicPr>
              <p:cNvPr id="64" name="Imagen 63">
                <a:extLst>
                  <a:ext uri="{FF2B5EF4-FFF2-40B4-BE49-F238E27FC236}">
                    <a16:creationId xmlns:a16="http://schemas.microsoft.com/office/drawing/2014/main" id="{F8C67373-726E-4B88-80B8-B7A240D7EDD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020645" y="5847828"/>
                <a:ext cx="1762371" cy="123842"/>
              </a:xfrm>
              <a:prstGeom prst="rect">
                <a:avLst/>
              </a:prstGeom>
            </p:spPr>
          </p:pic>
          <p:pic>
            <p:nvPicPr>
              <p:cNvPr id="65" name="Imagen 64">
                <a:extLst>
                  <a:ext uri="{FF2B5EF4-FFF2-40B4-BE49-F238E27FC236}">
                    <a16:creationId xmlns:a16="http://schemas.microsoft.com/office/drawing/2014/main" id="{9BB1C3A2-976F-4342-91F4-2C7EE229EDD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011400" y="4340398"/>
                <a:ext cx="1743318" cy="114316"/>
              </a:xfrm>
              <a:prstGeom prst="rect">
                <a:avLst/>
              </a:prstGeom>
            </p:spPr>
          </p:pic>
        </p:grpSp>
        <p:grpSp>
          <p:nvGrpSpPr>
            <p:cNvPr id="59" name="Grupo 58">
              <a:extLst>
                <a:ext uri="{FF2B5EF4-FFF2-40B4-BE49-F238E27FC236}">
                  <a16:creationId xmlns:a16="http://schemas.microsoft.com/office/drawing/2014/main" id="{775FE81B-A927-4B01-92B4-290F3D540A5C}"/>
                </a:ext>
              </a:extLst>
            </p:cNvPr>
            <p:cNvGrpSpPr/>
            <p:nvPr/>
          </p:nvGrpSpPr>
          <p:grpSpPr>
            <a:xfrm>
              <a:off x="2767205" y="4943785"/>
              <a:ext cx="335354" cy="349815"/>
              <a:chOff x="2767205" y="4943785"/>
              <a:chExt cx="335354" cy="349815"/>
            </a:xfrm>
          </p:grpSpPr>
          <p:sp>
            <p:nvSpPr>
              <p:cNvPr id="60" name="Elipse 59">
                <a:extLst>
                  <a:ext uri="{FF2B5EF4-FFF2-40B4-BE49-F238E27FC236}">
                    <a16:creationId xmlns:a16="http://schemas.microsoft.com/office/drawing/2014/main" id="{506593B2-776E-46B5-8C1D-7AAAE83C8F99}"/>
                  </a:ext>
                </a:extLst>
              </p:cNvPr>
              <p:cNvSpPr/>
              <p:nvPr/>
            </p:nvSpPr>
            <p:spPr>
              <a:xfrm>
                <a:off x="2767205" y="5225019"/>
                <a:ext cx="68581" cy="6858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pic>
            <p:nvPicPr>
              <p:cNvPr id="61" name="Imagen 60">
                <a:extLst>
                  <a:ext uri="{FF2B5EF4-FFF2-40B4-BE49-F238E27FC236}">
                    <a16:creationId xmlns:a16="http://schemas.microsoft.com/office/drawing/2014/main" id="{B50B3702-F1E0-46BA-93A8-76BD923FB4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003396" y="4943785"/>
                <a:ext cx="99163" cy="203834"/>
              </a:xfrm>
              <a:prstGeom prst="rect">
                <a:avLst/>
              </a:prstGeom>
            </p:spPr>
          </p:pic>
        </p:grpSp>
      </p:grpSp>
      <p:grpSp>
        <p:nvGrpSpPr>
          <p:cNvPr id="69" name="Grupo 68">
            <a:extLst>
              <a:ext uri="{FF2B5EF4-FFF2-40B4-BE49-F238E27FC236}">
                <a16:creationId xmlns:a16="http://schemas.microsoft.com/office/drawing/2014/main" id="{EB000855-683B-4188-A4A8-F4FC83F2A978}"/>
              </a:ext>
            </a:extLst>
          </p:cNvPr>
          <p:cNvGrpSpPr/>
          <p:nvPr/>
        </p:nvGrpSpPr>
        <p:grpSpPr>
          <a:xfrm>
            <a:off x="777601" y="5227428"/>
            <a:ext cx="961054" cy="638175"/>
            <a:chOff x="3003396" y="7038975"/>
            <a:chExt cx="638175" cy="638175"/>
          </a:xfrm>
        </p:grpSpPr>
        <p:cxnSp>
          <p:nvCxnSpPr>
            <p:cNvPr id="70" name="Conector recto 69">
              <a:extLst>
                <a:ext uri="{FF2B5EF4-FFF2-40B4-BE49-F238E27FC236}">
                  <a16:creationId xmlns:a16="http://schemas.microsoft.com/office/drawing/2014/main" id="{48C2F720-88F0-4EAC-BA36-46A30D6D68B8}"/>
                </a:ext>
              </a:extLst>
            </p:cNvPr>
            <p:cNvCxnSpPr/>
            <p:nvPr/>
          </p:nvCxnSpPr>
          <p:spPr>
            <a:xfrm>
              <a:off x="3003396" y="7038975"/>
              <a:ext cx="625629" cy="638175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Conector recto 70">
              <a:extLst>
                <a:ext uri="{FF2B5EF4-FFF2-40B4-BE49-F238E27FC236}">
                  <a16:creationId xmlns:a16="http://schemas.microsoft.com/office/drawing/2014/main" id="{2D63EFB1-1401-4631-9D20-890B015AFA7D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009669" y="7038975"/>
              <a:ext cx="625629" cy="638175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2" name="Conector recto de flecha 71">
            <a:extLst>
              <a:ext uri="{FF2B5EF4-FFF2-40B4-BE49-F238E27FC236}">
                <a16:creationId xmlns:a16="http://schemas.microsoft.com/office/drawing/2014/main" id="{F6AF96E0-9334-4661-A8DB-0A03984AF862}"/>
              </a:ext>
            </a:extLst>
          </p:cNvPr>
          <p:cNvCxnSpPr>
            <a:cxnSpLocks/>
            <a:stCxn id="35" idx="3"/>
          </p:cNvCxnSpPr>
          <p:nvPr/>
        </p:nvCxnSpPr>
        <p:spPr>
          <a:xfrm>
            <a:off x="1626227" y="3384126"/>
            <a:ext cx="979661" cy="239224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CuadroTexto 72">
            <a:extLst>
              <a:ext uri="{FF2B5EF4-FFF2-40B4-BE49-F238E27FC236}">
                <a16:creationId xmlns:a16="http://schemas.microsoft.com/office/drawing/2014/main" id="{122F020C-E1BB-4BB4-B534-A8072D36D165}"/>
              </a:ext>
            </a:extLst>
          </p:cNvPr>
          <p:cNvSpPr txBox="1"/>
          <p:nvPr/>
        </p:nvSpPr>
        <p:spPr>
          <a:xfrm rot="3949985">
            <a:off x="1844570" y="4590220"/>
            <a:ext cx="8209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050" dirty="0">
                <a:solidFill>
                  <a:srgbClr val="0070C0"/>
                </a:solidFill>
              </a:rPr>
              <a:t>dado = 6</a:t>
            </a:r>
          </a:p>
        </p:txBody>
      </p:sp>
      <p:sp>
        <p:nvSpPr>
          <p:cNvPr id="74" name="Rectangle 1027">
            <a:extLst>
              <a:ext uri="{FF2B5EF4-FFF2-40B4-BE49-F238E27FC236}">
                <a16:creationId xmlns:a16="http://schemas.microsoft.com/office/drawing/2014/main" id="{7737A12D-9B07-4B42-B47D-9EDA578FF294}"/>
              </a:ext>
            </a:extLst>
          </p:cNvPr>
          <p:cNvSpPr txBox="1">
            <a:spLocks noChangeArrowheads="1"/>
          </p:cNvSpPr>
          <p:nvPr/>
        </p:nvSpPr>
        <p:spPr>
          <a:xfrm>
            <a:off x="5803795" y="1473819"/>
            <a:ext cx="6068337" cy="53007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3000"/>
              </a:lnSpc>
            </a:pPr>
            <a:r>
              <a:rPr lang="es-ES" altLang="es-CO" sz="1800" b="1" dirty="0">
                <a:solidFill>
                  <a:srgbClr val="7030A0"/>
                </a:solidFill>
              </a:rPr>
              <a:t>Acciones Posibles</a:t>
            </a:r>
          </a:p>
          <a:p>
            <a:pPr marL="0" indent="0">
              <a:lnSpc>
                <a:spcPct val="83000"/>
              </a:lnSpc>
              <a:buNone/>
            </a:pPr>
            <a:r>
              <a:rPr lang="es-ES" altLang="es-CO" sz="1600" dirty="0" err="1">
                <a:solidFill>
                  <a:schemeClr val="accent4">
                    <a:lumMod val="75000"/>
                  </a:schemeClr>
                </a:solidFill>
              </a:rPr>
              <a:t>Xxx</a:t>
            </a:r>
            <a:r>
              <a:rPr lang="es-CO" altLang="es-CO" sz="1600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ES" altLang="es-CO" sz="1600" dirty="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lang="es-ES" altLang="es-CO" sz="1600" dirty="0">
                <a:solidFill>
                  <a:schemeClr val="accent4">
                    <a:lumMod val="75000"/>
                  </a:schemeClr>
                </a:solidFill>
              </a:rPr>
              <a:t> </a:t>
            </a:r>
          </a:p>
          <a:p>
            <a:pPr marL="0" indent="0">
              <a:lnSpc>
                <a:spcPct val="83000"/>
              </a:lnSpc>
              <a:buNone/>
            </a:pPr>
            <a:r>
              <a:rPr lang="es-ES" altLang="es-CO" sz="1600" dirty="0" err="1">
                <a:solidFill>
                  <a:schemeClr val="accent2">
                    <a:lumMod val="75000"/>
                  </a:schemeClr>
                </a:solidFill>
              </a:rPr>
              <a:t>Yyy</a:t>
            </a:r>
            <a:r>
              <a:rPr lang="es-ES" altLang="es-CO" sz="16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s-ES" altLang="es-CO" sz="16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→</a:t>
            </a:r>
            <a:endParaRPr lang="es-ES" altLang="es-CO" sz="1600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>
              <a:lnSpc>
                <a:spcPct val="83000"/>
              </a:lnSpc>
              <a:buNone/>
            </a:pPr>
            <a:r>
              <a:rPr lang="es-ES" altLang="es-CO" sz="1600" dirty="0" err="1">
                <a:solidFill>
                  <a:srgbClr val="7030A0"/>
                </a:solidFill>
              </a:rPr>
              <a:t>Zzz</a:t>
            </a:r>
            <a:r>
              <a:rPr lang="es-ES" altLang="es-CO" sz="1600" dirty="0">
                <a:solidFill>
                  <a:srgbClr val="7030A0"/>
                </a:solidFill>
              </a:rPr>
              <a:t> </a:t>
            </a:r>
            <a:r>
              <a:rPr lang="es-ES" altLang="es-CO" sz="1600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→</a:t>
            </a:r>
            <a:endParaRPr lang="es-ES" altLang="es-CO" sz="1600" dirty="0">
              <a:solidFill>
                <a:srgbClr val="7030A0"/>
              </a:solidFill>
            </a:endParaRPr>
          </a:p>
          <a:p>
            <a:pPr marL="0" indent="0">
              <a:lnSpc>
                <a:spcPct val="83000"/>
              </a:lnSpc>
              <a:buNone/>
            </a:pPr>
            <a:endParaRPr lang="es-ES" altLang="es-CO" sz="16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764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33" grpId="0"/>
      <p:bldP spid="7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ángulo 30"/>
          <p:cNvSpPr/>
          <p:nvPr/>
        </p:nvSpPr>
        <p:spPr>
          <a:xfrm>
            <a:off x="1341912" y="583285"/>
            <a:ext cx="717269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_tradnl" sz="3000" b="1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Función Heurística - Ejercicio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224147" y="1531643"/>
            <a:ext cx="5486491" cy="362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marL="0" indent="0" eaLnBrk="1" hangingPunct="1"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lang="es-CO" altLang="es-CO" b="0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Función Heurística </a:t>
            </a:r>
            <a:r>
              <a:rPr kumimoji="0" lang="es-ES" altLang="es-CO" b="0" dirty="0">
                <a:solidFill>
                  <a:schemeClr val="accent1">
                    <a:lumMod val="50000"/>
                  </a:schemeClr>
                </a:solidFill>
              </a:rPr>
              <a:t>→</a:t>
            </a:r>
            <a:r>
              <a:rPr lang="es-CO" altLang="es-CO" b="0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CO" altLang="es-CO" b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Juego “</a:t>
            </a:r>
            <a:r>
              <a:rPr lang="es-CO" altLang="es-CO" b="0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Backgamon</a:t>
            </a:r>
            <a:r>
              <a:rPr lang="es-CO" altLang="es-CO" b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”</a:t>
            </a:r>
            <a:endParaRPr lang="es-CO" altLang="es-CO" b="0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Rectangle 1027"/>
          <p:cNvSpPr txBox="1">
            <a:spLocks noChangeArrowheads="1"/>
          </p:cNvSpPr>
          <p:nvPr/>
        </p:nvSpPr>
        <p:spPr>
          <a:xfrm>
            <a:off x="6704628" y="1543964"/>
            <a:ext cx="5486491" cy="50004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3000"/>
              </a:lnSpc>
            </a:pPr>
            <a:r>
              <a:rPr lang="es-ES" altLang="es-CO" sz="1800" b="1" dirty="0">
                <a:solidFill>
                  <a:schemeClr val="accent1"/>
                </a:solidFill>
              </a:rPr>
              <a:t>Función Heurística – </a:t>
            </a:r>
            <a:r>
              <a:rPr lang="es-ES" altLang="es-CO" sz="1800" b="1" dirty="0">
                <a:solidFill>
                  <a:srgbClr val="C00000"/>
                </a:solidFill>
              </a:rPr>
              <a:t>Hb para el jugador IA (blanco)</a:t>
            </a:r>
          </a:p>
          <a:p>
            <a:pPr marL="0" indent="0">
              <a:lnSpc>
                <a:spcPct val="83000"/>
              </a:lnSpc>
              <a:buNone/>
            </a:pPr>
            <a:r>
              <a:rPr lang="es-ES" altLang="es-CO" sz="1600" u="sng" dirty="0">
                <a:solidFill>
                  <a:srgbClr val="0070C0"/>
                </a:solidFill>
              </a:rPr>
              <a:t>Indicadores</a:t>
            </a:r>
          </a:p>
          <a:p>
            <a:pPr marL="0" indent="0">
              <a:lnSpc>
                <a:spcPct val="83000"/>
              </a:lnSpc>
              <a:buNone/>
            </a:pPr>
            <a:r>
              <a:rPr lang="es-ES" altLang="es-CO" sz="1600" dirty="0">
                <a:solidFill>
                  <a:schemeClr val="accent4">
                    <a:lumMod val="75000"/>
                  </a:schemeClr>
                </a:solidFill>
              </a:rPr>
              <a:t>Ind1</a:t>
            </a:r>
            <a:r>
              <a:rPr lang="es-CO" altLang="es-CO" sz="1600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ES" altLang="es-CO" sz="1600" dirty="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lang="es-ES" altLang="es-CO" sz="1600" dirty="0">
                <a:solidFill>
                  <a:schemeClr val="accent4">
                    <a:lumMod val="75000"/>
                  </a:schemeClr>
                </a:solidFill>
              </a:rPr>
              <a:t> </a:t>
            </a:r>
          </a:p>
          <a:p>
            <a:pPr marL="0" indent="0">
              <a:lnSpc>
                <a:spcPct val="83000"/>
              </a:lnSpc>
              <a:buNone/>
            </a:pPr>
            <a:r>
              <a:rPr lang="es-ES" altLang="es-CO" sz="1600" dirty="0">
                <a:solidFill>
                  <a:schemeClr val="accent2">
                    <a:lumMod val="75000"/>
                  </a:schemeClr>
                </a:solidFill>
              </a:rPr>
              <a:t>Ind2 </a:t>
            </a:r>
            <a:r>
              <a:rPr lang="es-ES" altLang="es-CO" sz="16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→</a:t>
            </a:r>
            <a:endParaRPr lang="es-ES" altLang="es-CO" sz="1600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>
              <a:lnSpc>
                <a:spcPct val="83000"/>
              </a:lnSpc>
              <a:buNone/>
            </a:pPr>
            <a:r>
              <a:rPr lang="es-ES" altLang="es-CO" sz="1600" dirty="0">
                <a:solidFill>
                  <a:srgbClr val="7030A0"/>
                </a:solidFill>
              </a:rPr>
              <a:t>Ind3 </a:t>
            </a:r>
            <a:r>
              <a:rPr lang="es-ES" altLang="es-CO" sz="1600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→</a:t>
            </a:r>
            <a:endParaRPr lang="es-ES" altLang="es-CO" sz="1600" dirty="0">
              <a:solidFill>
                <a:srgbClr val="7030A0"/>
              </a:solidFill>
            </a:endParaRPr>
          </a:p>
          <a:p>
            <a:pPr marL="0" indent="0">
              <a:lnSpc>
                <a:spcPct val="83000"/>
              </a:lnSpc>
              <a:buNone/>
            </a:pPr>
            <a:endParaRPr lang="es-ES" altLang="es-CO" sz="1600" dirty="0">
              <a:solidFill>
                <a:srgbClr val="00B050"/>
              </a:solidFill>
            </a:endParaRPr>
          </a:p>
          <a:p>
            <a:pPr marL="0" indent="0">
              <a:lnSpc>
                <a:spcPct val="83000"/>
              </a:lnSpc>
              <a:buNone/>
            </a:pPr>
            <a:endParaRPr lang="es-ES" altLang="es-CO" sz="1600" dirty="0">
              <a:solidFill>
                <a:srgbClr val="00B050"/>
              </a:solidFill>
            </a:endParaRPr>
          </a:p>
          <a:p>
            <a:pPr marL="0" indent="0">
              <a:lnSpc>
                <a:spcPct val="83000"/>
              </a:lnSpc>
              <a:buNone/>
            </a:pPr>
            <a:r>
              <a:rPr lang="es-ES" altLang="es-CO" sz="1600" u="sng" dirty="0">
                <a:solidFill>
                  <a:srgbClr val="0070C0"/>
                </a:solidFill>
              </a:rPr>
              <a:t>Ponderación Indicadores</a:t>
            </a:r>
          </a:p>
          <a:p>
            <a:pPr marL="0" indent="0">
              <a:lnSpc>
                <a:spcPct val="83000"/>
              </a:lnSpc>
              <a:buNone/>
            </a:pPr>
            <a:endParaRPr lang="es-ES" altLang="es-CO" sz="1600" u="sng" dirty="0">
              <a:solidFill>
                <a:srgbClr val="0070C0"/>
              </a:solidFill>
            </a:endParaRPr>
          </a:p>
          <a:p>
            <a:pPr marL="457200" lvl="1" indent="0">
              <a:lnSpc>
                <a:spcPct val="83000"/>
              </a:lnSpc>
              <a:buNone/>
            </a:pPr>
            <a:r>
              <a:rPr lang="es-ES" altLang="es-CO" sz="1600" dirty="0">
                <a:solidFill>
                  <a:srgbClr val="0070C0"/>
                </a:solidFill>
              </a:rPr>
              <a:t>Hb = </a:t>
            </a:r>
            <a:r>
              <a:rPr lang="es-ES" altLang="es-CO" sz="1600" dirty="0">
                <a:solidFill>
                  <a:schemeClr val="accent4">
                    <a:lumMod val="75000"/>
                  </a:schemeClr>
                </a:solidFill>
              </a:rPr>
              <a:t>w1 x Ind1</a:t>
            </a:r>
            <a:r>
              <a:rPr lang="es-ES" altLang="es-CO" sz="1600" dirty="0">
                <a:solidFill>
                  <a:schemeClr val="accent2">
                    <a:lumMod val="75000"/>
                  </a:schemeClr>
                </a:solidFill>
              </a:rPr>
              <a:t> + w2 x Ind2 </a:t>
            </a:r>
            <a:r>
              <a:rPr lang="es-ES" altLang="es-CO" sz="1600" dirty="0">
                <a:solidFill>
                  <a:srgbClr val="7030A0"/>
                </a:solidFill>
              </a:rPr>
              <a:t>+ w3 x Ind3</a:t>
            </a:r>
            <a:r>
              <a:rPr lang="es-ES" altLang="es-CO" sz="1600" dirty="0"/>
              <a:t> + ….</a:t>
            </a:r>
          </a:p>
          <a:p>
            <a:pPr marL="457200" lvl="1" indent="0">
              <a:lnSpc>
                <a:spcPct val="83000"/>
              </a:lnSpc>
              <a:buNone/>
            </a:pPr>
            <a:endParaRPr lang="es-ES" altLang="es-CO" sz="1600" dirty="0"/>
          </a:p>
          <a:p>
            <a:pPr marL="457200" lvl="1" indent="0">
              <a:lnSpc>
                <a:spcPct val="83000"/>
              </a:lnSpc>
              <a:buNone/>
            </a:pPr>
            <a:r>
              <a:rPr lang="es-ES" altLang="es-CO" sz="1600" dirty="0">
                <a:solidFill>
                  <a:schemeClr val="accent4">
                    <a:lumMod val="75000"/>
                  </a:schemeClr>
                </a:solidFill>
              </a:rPr>
              <a:t>w1</a:t>
            </a:r>
            <a:r>
              <a:rPr lang="es-ES" altLang="es-CO" sz="1600" dirty="0"/>
              <a:t> =</a:t>
            </a:r>
          </a:p>
          <a:p>
            <a:pPr marL="457200" lvl="1" indent="0">
              <a:lnSpc>
                <a:spcPct val="83000"/>
              </a:lnSpc>
              <a:buNone/>
            </a:pPr>
            <a:r>
              <a:rPr lang="es-ES" altLang="es-CO" sz="1600" dirty="0">
                <a:solidFill>
                  <a:schemeClr val="accent2">
                    <a:lumMod val="75000"/>
                  </a:schemeClr>
                </a:solidFill>
              </a:rPr>
              <a:t>w2</a:t>
            </a:r>
            <a:r>
              <a:rPr lang="es-ES" altLang="es-CO" sz="1600" dirty="0"/>
              <a:t> =</a:t>
            </a:r>
          </a:p>
          <a:p>
            <a:pPr marL="457200" lvl="1" indent="0">
              <a:lnSpc>
                <a:spcPct val="83000"/>
              </a:lnSpc>
              <a:buNone/>
            </a:pPr>
            <a:r>
              <a:rPr lang="es-ES" altLang="es-CO" sz="1600" dirty="0">
                <a:solidFill>
                  <a:srgbClr val="7030A0"/>
                </a:solidFill>
              </a:rPr>
              <a:t>w3</a:t>
            </a:r>
            <a:r>
              <a:rPr lang="es-ES" altLang="es-CO" sz="1600" dirty="0"/>
              <a:t> =</a:t>
            </a:r>
          </a:p>
          <a:p>
            <a:pPr marL="457200" lvl="1" indent="0">
              <a:lnSpc>
                <a:spcPct val="83000"/>
              </a:lnSpc>
              <a:buNone/>
            </a:pPr>
            <a:endParaRPr lang="es-ES" altLang="es-CO" sz="1600" dirty="0"/>
          </a:p>
        </p:txBody>
      </p:sp>
      <p:cxnSp>
        <p:nvCxnSpPr>
          <p:cNvPr id="121" name="Conector recto de flecha 120"/>
          <p:cNvCxnSpPr>
            <a:cxnSpLocks/>
            <a:endCxn id="103" idx="1"/>
          </p:cNvCxnSpPr>
          <p:nvPr/>
        </p:nvCxnSpPr>
        <p:spPr>
          <a:xfrm flipV="1">
            <a:off x="1653703" y="2642881"/>
            <a:ext cx="959879" cy="121707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Conector recto de flecha 121"/>
          <p:cNvCxnSpPr>
            <a:cxnSpLocks/>
          </p:cNvCxnSpPr>
          <p:nvPr/>
        </p:nvCxnSpPr>
        <p:spPr>
          <a:xfrm flipV="1">
            <a:off x="1653703" y="3717504"/>
            <a:ext cx="971094" cy="14244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ector recto de flecha 122"/>
          <p:cNvCxnSpPr>
            <a:cxnSpLocks/>
            <a:stCxn id="127" idx="2"/>
            <a:endCxn id="200" idx="0"/>
          </p:cNvCxnSpPr>
          <p:nvPr/>
        </p:nvCxnSpPr>
        <p:spPr>
          <a:xfrm>
            <a:off x="1044355" y="4311308"/>
            <a:ext cx="207413" cy="114804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CuadroTexto 181"/>
          <p:cNvSpPr txBox="1"/>
          <p:nvPr/>
        </p:nvSpPr>
        <p:spPr>
          <a:xfrm>
            <a:off x="3893708" y="3283351"/>
            <a:ext cx="8209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dirty="0">
                <a:solidFill>
                  <a:schemeClr val="accent4">
                    <a:lumMod val="75000"/>
                  </a:schemeClr>
                </a:solidFill>
              </a:rPr>
              <a:t>Ind1-</a:t>
            </a:r>
            <a:r>
              <a:rPr lang="es-CO" sz="1200" dirty="0">
                <a:solidFill>
                  <a:srgbClr val="C00000"/>
                </a:solidFill>
              </a:rPr>
              <a:t> </a:t>
            </a:r>
          </a:p>
          <a:p>
            <a:r>
              <a:rPr lang="es-CO" sz="1200" dirty="0">
                <a:solidFill>
                  <a:schemeClr val="accent2">
                    <a:lumMod val="75000"/>
                  </a:schemeClr>
                </a:solidFill>
              </a:rPr>
              <a:t>Ind2-</a:t>
            </a:r>
            <a:r>
              <a:rPr lang="es-CO" sz="1200" dirty="0">
                <a:solidFill>
                  <a:srgbClr val="00B050"/>
                </a:solidFill>
              </a:rPr>
              <a:t>   </a:t>
            </a:r>
          </a:p>
          <a:p>
            <a:r>
              <a:rPr lang="es-CO" sz="1200" dirty="0">
                <a:solidFill>
                  <a:srgbClr val="7030A0"/>
                </a:solidFill>
              </a:rPr>
              <a:t>Ind3- </a:t>
            </a:r>
          </a:p>
          <a:p>
            <a:r>
              <a:rPr lang="es-CO" sz="1200" dirty="0">
                <a:solidFill>
                  <a:srgbClr val="0070C0"/>
                </a:solidFill>
              </a:rPr>
              <a:t>Hb = </a:t>
            </a:r>
          </a:p>
        </p:txBody>
      </p:sp>
      <p:sp>
        <p:nvSpPr>
          <p:cNvPr id="183" name="CuadroTexto 182"/>
          <p:cNvSpPr txBox="1"/>
          <p:nvPr/>
        </p:nvSpPr>
        <p:spPr>
          <a:xfrm>
            <a:off x="3893708" y="2231755"/>
            <a:ext cx="7219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dirty="0">
                <a:solidFill>
                  <a:schemeClr val="accent4">
                    <a:lumMod val="75000"/>
                  </a:schemeClr>
                </a:solidFill>
              </a:rPr>
              <a:t>Ind1-</a:t>
            </a:r>
            <a:r>
              <a:rPr lang="es-CO" sz="1200" dirty="0">
                <a:solidFill>
                  <a:srgbClr val="C00000"/>
                </a:solidFill>
              </a:rPr>
              <a:t> </a:t>
            </a:r>
          </a:p>
          <a:p>
            <a:r>
              <a:rPr lang="es-CO" sz="1200" dirty="0">
                <a:solidFill>
                  <a:schemeClr val="accent2">
                    <a:lumMod val="75000"/>
                  </a:schemeClr>
                </a:solidFill>
              </a:rPr>
              <a:t>Ind2-</a:t>
            </a:r>
            <a:r>
              <a:rPr lang="es-CO" sz="1200" dirty="0">
                <a:solidFill>
                  <a:srgbClr val="00B050"/>
                </a:solidFill>
              </a:rPr>
              <a:t> </a:t>
            </a:r>
          </a:p>
          <a:p>
            <a:r>
              <a:rPr lang="es-CO" sz="1200" dirty="0">
                <a:solidFill>
                  <a:srgbClr val="7030A0"/>
                </a:solidFill>
              </a:rPr>
              <a:t>Ind3- </a:t>
            </a:r>
          </a:p>
          <a:p>
            <a:r>
              <a:rPr lang="es-CO" sz="1200" dirty="0">
                <a:solidFill>
                  <a:srgbClr val="0070C0"/>
                </a:solidFill>
              </a:rPr>
              <a:t>Hb =  </a:t>
            </a:r>
          </a:p>
        </p:txBody>
      </p:sp>
      <p:sp>
        <p:nvSpPr>
          <p:cNvPr id="6" name="CuadroTexto 5"/>
          <p:cNvSpPr txBox="1"/>
          <p:nvPr/>
        </p:nvSpPr>
        <p:spPr>
          <a:xfrm>
            <a:off x="6154300" y="6289033"/>
            <a:ext cx="4109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dirty="0">
                <a:solidFill>
                  <a:srgbClr val="C00000"/>
                </a:solidFill>
              </a:rPr>
              <a:t>Cuál jugada es mejor para el jugador IA ??</a:t>
            </a:r>
          </a:p>
        </p:txBody>
      </p:sp>
      <p:pic>
        <p:nvPicPr>
          <p:cNvPr id="67" name="Marcador de contenido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5967"/>
          <a:stretch/>
        </p:blipFill>
        <p:spPr>
          <a:xfrm>
            <a:off x="1398" y="4652"/>
            <a:ext cx="12201128" cy="1649377"/>
          </a:xfrm>
        </p:spPr>
      </p:pic>
      <p:sp>
        <p:nvSpPr>
          <p:cNvPr id="68" name="Rectángulo 67"/>
          <p:cNvSpPr/>
          <p:nvPr/>
        </p:nvSpPr>
        <p:spPr>
          <a:xfrm>
            <a:off x="1343310" y="288272"/>
            <a:ext cx="717269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_tradnl" sz="3000" b="1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Taller 4 – </a:t>
            </a:r>
            <a:r>
              <a:rPr lang="es-ES_tradnl" sz="3000" b="1" dirty="0" err="1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Backgamon</a:t>
            </a:r>
            <a:endParaRPr lang="es-ES_tradnl" sz="3000" b="1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  <a:p>
            <a:pPr algn="ctr"/>
            <a:r>
              <a:rPr lang="es-ES_tradnl" sz="3000" b="1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Función Heurística</a:t>
            </a:r>
          </a:p>
        </p:txBody>
      </p:sp>
      <p:sp>
        <p:nvSpPr>
          <p:cNvPr id="71" name="CuadroTexto 70">
            <a:extLst>
              <a:ext uri="{FF2B5EF4-FFF2-40B4-BE49-F238E27FC236}">
                <a16:creationId xmlns:a16="http://schemas.microsoft.com/office/drawing/2014/main" id="{6E837B0B-191D-4DE0-930D-9F84ED04976F}"/>
              </a:ext>
            </a:extLst>
          </p:cNvPr>
          <p:cNvSpPr txBox="1"/>
          <p:nvPr/>
        </p:nvSpPr>
        <p:spPr>
          <a:xfrm rot="18696594">
            <a:off x="1764483" y="2945666"/>
            <a:ext cx="8209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050" dirty="0">
                <a:solidFill>
                  <a:srgbClr val="0070C0"/>
                </a:solidFill>
              </a:rPr>
              <a:t>dado = 1</a:t>
            </a:r>
          </a:p>
        </p:txBody>
      </p:sp>
      <p:sp>
        <p:nvSpPr>
          <p:cNvPr id="72" name="CuadroTexto 71">
            <a:extLst>
              <a:ext uri="{FF2B5EF4-FFF2-40B4-BE49-F238E27FC236}">
                <a16:creationId xmlns:a16="http://schemas.microsoft.com/office/drawing/2014/main" id="{664E1593-4AEB-49F5-901E-60A8F3A700D2}"/>
              </a:ext>
            </a:extLst>
          </p:cNvPr>
          <p:cNvSpPr txBox="1"/>
          <p:nvPr/>
        </p:nvSpPr>
        <p:spPr>
          <a:xfrm rot="21014521">
            <a:off x="1738419" y="3581616"/>
            <a:ext cx="8209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050" dirty="0">
                <a:solidFill>
                  <a:srgbClr val="0070C0"/>
                </a:solidFill>
              </a:rPr>
              <a:t>dado = 1</a:t>
            </a:r>
          </a:p>
        </p:txBody>
      </p:sp>
      <p:sp>
        <p:nvSpPr>
          <p:cNvPr id="73" name="CuadroTexto 72">
            <a:extLst>
              <a:ext uri="{FF2B5EF4-FFF2-40B4-BE49-F238E27FC236}">
                <a16:creationId xmlns:a16="http://schemas.microsoft.com/office/drawing/2014/main" id="{29DE511A-3063-4D9E-A725-79E9D8451A31}"/>
              </a:ext>
            </a:extLst>
          </p:cNvPr>
          <p:cNvSpPr txBox="1"/>
          <p:nvPr/>
        </p:nvSpPr>
        <p:spPr>
          <a:xfrm rot="4677244">
            <a:off x="796550" y="4664277"/>
            <a:ext cx="8209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050" dirty="0">
                <a:solidFill>
                  <a:srgbClr val="0070C0"/>
                </a:solidFill>
              </a:rPr>
              <a:t>dado = 4</a:t>
            </a:r>
          </a:p>
        </p:txBody>
      </p:sp>
      <p:grpSp>
        <p:nvGrpSpPr>
          <p:cNvPr id="94" name="Grupo 93">
            <a:extLst>
              <a:ext uri="{FF2B5EF4-FFF2-40B4-BE49-F238E27FC236}">
                <a16:creationId xmlns:a16="http://schemas.microsoft.com/office/drawing/2014/main" id="{0AE853BC-6BA5-4818-8DE9-EE4167C3211F}"/>
              </a:ext>
            </a:extLst>
          </p:cNvPr>
          <p:cNvGrpSpPr/>
          <p:nvPr/>
        </p:nvGrpSpPr>
        <p:grpSpPr>
          <a:xfrm>
            <a:off x="2612819" y="5679718"/>
            <a:ext cx="1183030" cy="978647"/>
            <a:chOff x="5007885" y="4346695"/>
            <a:chExt cx="1971950" cy="1631272"/>
          </a:xfrm>
        </p:grpSpPr>
        <p:pic>
          <p:nvPicPr>
            <p:cNvPr id="95" name="Imagen 94">
              <a:extLst>
                <a:ext uri="{FF2B5EF4-FFF2-40B4-BE49-F238E27FC236}">
                  <a16:creationId xmlns:a16="http://schemas.microsoft.com/office/drawing/2014/main" id="{0700CC98-F894-4F20-BEB1-C3DAC245D68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07885" y="4424832"/>
              <a:ext cx="1971950" cy="800212"/>
            </a:xfrm>
            <a:prstGeom prst="rect">
              <a:avLst/>
            </a:prstGeom>
          </p:spPr>
        </p:pic>
        <p:pic>
          <p:nvPicPr>
            <p:cNvPr id="96" name="Imagen 95">
              <a:extLst>
                <a:ext uri="{FF2B5EF4-FFF2-40B4-BE49-F238E27FC236}">
                  <a16:creationId xmlns:a16="http://schemas.microsoft.com/office/drawing/2014/main" id="{39C73927-4894-4CC7-B219-2B42751CF08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flipV="1">
              <a:off x="5007885" y="5071957"/>
              <a:ext cx="1971950" cy="800212"/>
            </a:xfrm>
            <a:prstGeom prst="rect">
              <a:avLst/>
            </a:prstGeom>
          </p:spPr>
        </p:pic>
        <p:pic>
          <p:nvPicPr>
            <p:cNvPr id="97" name="Imagen 96">
              <a:extLst>
                <a:ext uri="{FF2B5EF4-FFF2-40B4-BE49-F238E27FC236}">
                  <a16:creationId xmlns:a16="http://schemas.microsoft.com/office/drawing/2014/main" id="{04489A26-DF22-4AA2-9124-50570820D9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12674" y="5854125"/>
              <a:ext cx="1762371" cy="123842"/>
            </a:xfrm>
            <a:prstGeom prst="rect">
              <a:avLst/>
            </a:prstGeom>
          </p:spPr>
        </p:pic>
        <p:pic>
          <p:nvPicPr>
            <p:cNvPr id="98" name="Imagen 97">
              <a:extLst>
                <a:ext uri="{FF2B5EF4-FFF2-40B4-BE49-F238E27FC236}">
                  <a16:creationId xmlns:a16="http://schemas.microsoft.com/office/drawing/2014/main" id="{8342F6C0-0399-42A7-99C8-1ED32A6740A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03429" y="4346695"/>
              <a:ext cx="1743318" cy="114316"/>
            </a:xfrm>
            <a:prstGeom prst="rect">
              <a:avLst/>
            </a:prstGeom>
          </p:spPr>
        </p:pic>
      </p:grpSp>
      <p:grpSp>
        <p:nvGrpSpPr>
          <p:cNvPr id="43" name="Grupo 42">
            <a:extLst>
              <a:ext uri="{FF2B5EF4-FFF2-40B4-BE49-F238E27FC236}">
                <a16:creationId xmlns:a16="http://schemas.microsoft.com/office/drawing/2014/main" id="{7BD83C17-98D9-43DF-8FA1-C1A57B860EF4}"/>
              </a:ext>
            </a:extLst>
          </p:cNvPr>
          <p:cNvGrpSpPr/>
          <p:nvPr/>
        </p:nvGrpSpPr>
        <p:grpSpPr>
          <a:xfrm>
            <a:off x="2585758" y="2140078"/>
            <a:ext cx="1207485" cy="1014350"/>
            <a:chOff x="2585758" y="2140078"/>
            <a:chExt cx="1207485" cy="1014350"/>
          </a:xfrm>
        </p:grpSpPr>
        <p:grpSp>
          <p:nvGrpSpPr>
            <p:cNvPr id="101" name="Grupo 100">
              <a:extLst>
                <a:ext uri="{FF2B5EF4-FFF2-40B4-BE49-F238E27FC236}">
                  <a16:creationId xmlns:a16="http://schemas.microsoft.com/office/drawing/2014/main" id="{7DB422DB-D9E2-4B30-B525-02E512AAFBE5}"/>
                </a:ext>
              </a:extLst>
            </p:cNvPr>
            <p:cNvGrpSpPr/>
            <p:nvPr/>
          </p:nvGrpSpPr>
          <p:grpSpPr>
            <a:xfrm>
              <a:off x="2585758" y="2140078"/>
              <a:ext cx="1207485" cy="1014350"/>
              <a:chOff x="2894900" y="4340398"/>
              <a:chExt cx="1943458" cy="1631272"/>
            </a:xfrm>
          </p:grpSpPr>
          <p:pic>
            <p:nvPicPr>
              <p:cNvPr id="103" name="Imagen 102">
                <a:extLst>
                  <a:ext uri="{FF2B5EF4-FFF2-40B4-BE49-F238E27FC236}">
                    <a16:creationId xmlns:a16="http://schemas.microsoft.com/office/drawing/2014/main" id="{F1B75FE8-E780-48ED-B76A-AADCA90BFB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939683" y="4445789"/>
                <a:ext cx="1898675" cy="1406425"/>
              </a:xfrm>
              <a:prstGeom prst="rect">
                <a:avLst/>
              </a:prstGeom>
            </p:spPr>
          </p:pic>
          <p:pic>
            <p:nvPicPr>
              <p:cNvPr id="104" name="Imagen 103">
                <a:extLst>
                  <a:ext uri="{FF2B5EF4-FFF2-40B4-BE49-F238E27FC236}">
                    <a16:creationId xmlns:a16="http://schemas.microsoft.com/office/drawing/2014/main" id="{9DA881CC-BDDE-49BC-AEA8-4024EE78510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894900" y="5277130"/>
                <a:ext cx="104679" cy="444886"/>
              </a:xfrm>
              <a:prstGeom prst="rect">
                <a:avLst/>
              </a:prstGeom>
            </p:spPr>
          </p:pic>
          <p:pic>
            <p:nvPicPr>
              <p:cNvPr id="105" name="Imagen 104">
                <a:extLst>
                  <a:ext uri="{FF2B5EF4-FFF2-40B4-BE49-F238E27FC236}">
                    <a16:creationId xmlns:a16="http://schemas.microsoft.com/office/drawing/2014/main" id="{F8BA0AA2-F5A9-4940-80F9-2EC7EDAE80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20645" y="5847828"/>
                <a:ext cx="1762371" cy="123842"/>
              </a:xfrm>
              <a:prstGeom prst="rect">
                <a:avLst/>
              </a:prstGeom>
            </p:spPr>
          </p:pic>
          <p:pic>
            <p:nvPicPr>
              <p:cNvPr id="106" name="Imagen 105">
                <a:extLst>
                  <a:ext uri="{FF2B5EF4-FFF2-40B4-BE49-F238E27FC236}">
                    <a16:creationId xmlns:a16="http://schemas.microsoft.com/office/drawing/2014/main" id="{9404F51A-673F-42EE-90D4-7A2624CAFBC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011400" y="4340398"/>
                <a:ext cx="1743318" cy="114316"/>
              </a:xfrm>
              <a:prstGeom prst="rect">
                <a:avLst/>
              </a:prstGeom>
            </p:spPr>
          </p:pic>
        </p:grpSp>
        <p:grpSp>
          <p:nvGrpSpPr>
            <p:cNvPr id="32" name="Grupo 31">
              <a:extLst>
                <a:ext uri="{FF2B5EF4-FFF2-40B4-BE49-F238E27FC236}">
                  <a16:creationId xmlns:a16="http://schemas.microsoft.com/office/drawing/2014/main" id="{359D278A-A0F3-4282-B10C-0FBD151DD3A9}"/>
                </a:ext>
              </a:extLst>
            </p:cNvPr>
            <p:cNvGrpSpPr/>
            <p:nvPr/>
          </p:nvGrpSpPr>
          <p:grpSpPr>
            <a:xfrm>
              <a:off x="2676813" y="2244509"/>
              <a:ext cx="156235" cy="391426"/>
              <a:chOff x="2676813" y="2372100"/>
              <a:chExt cx="156235" cy="391426"/>
            </a:xfrm>
          </p:grpSpPr>
          <p:sp>
            <p:nvSpPr>
              <p:cNvPr id="29" name="Elipse 28">
                <a:extLst>
                  <a:ext uri="{FF2B5EF4-FFF2-40B4-BE49-F238E27FC236}">
                    <a16:creationId xmlns:a16="http://schemas.microsoft.com/office/drawing/2014/main" id="{AA955302-1C4D-439E-9E34-0E50D51D6825}"/>
                  </a:ext>
                </a:extLst>
              </p:cNvPr>
              <p:cNvSpPr/>
              <p:nvPr/>
            </p:nvSpPr>
            <p:spPr>
              <a:xfrm>
                <a:off x="2764467" y="2372100"/>
                <a:ext cx="68581" cy="6858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pic>
            <p:nvPicPr>
              <p:cNvPr id="30" name="Imagen 29">
                <a:extLst>
                  <a:ext uri="{FF2B5EF4-FFF2-40B4-BE49-F238E27FC236}">
                    <a16:creationId xmlns:a16="http://schemas.microsoft.com/office/drawing/2014/main" id="{9976D8FB-E7BE-495B-8153-66F415286A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676813" y="2675002"/>
                <a:ext cx="88524" cy="88524"/>
              </a:xfrm>
              <a:prstGeom prst="rect">
                <a:avLst/>
              </a:prstGeom>
            </p:spPr>
          </p:pic>
        </p:grpSp>
      </p:grpSp>
      <p:cxnSp>
        <p:nvCxnSpPr>
          <p:cNvPr id="111" name="Conector recto de flecha 110">
            <a:extLst>
              <a:ext uri="{FF2B5EF4-FFF2-40B4-BE49-F238E27FC236}">
                <a16:creationId xmlns:a16="http://schemas.microsoft.com/office/drawing/2014/main" id="{CFD0903F-EFD1-4B16-B7F8-0860C5678E29}"/>
              </a:ext>
            </a:extLst>
          </p:cNvPr>
          <p:cNvCxnSpPr>
            <a:cxnSpLocks/>
          </p:cNvCxnSpPr>
          <p:nvPr/>
        </p:nvCxnSpPr>
        <p:spPr>
          <a:xfrm>
            <a:off x="1644834" y="3866269"/>
            <a:ext cx="961054" cy="109789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CuadroTexto 111">
            <a:extLst>
              <a:ext uri="{FF2B5EF4-FFF2-40B4-BE49-F238E27FC236}">
                <a16:creationId xmlns:a16="http://schemas.microsoft.com/office/drawing/2014/main" id="{757A7F02-1CE0-40F9-863C-4FE560BAB6E3}"/>
              </a:ext>
            </a:extLst>
          </p:cNvPr>
          <p:cNvSpPr txBox="1"/>
          <p:nvPr/>
        </p:nvSpPr>
        <p:spPr>
          <a:xfrm rot="2804754">
            <a:off x="1863777" y="4330213"/>
            <a:ext cx="8209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050" dirty="0">
                <a:solidFill>
                  <a:srgbClr val="0070C0"/>
                </a:solidFill>
              </a:rPr>
              <a:t>dado = 3</a:t>
            </a:r>
          </a:p>
        </p:txBody>
      </p:sp>
      <p:grpSp>
        <p:nvGrpSpPr>
          <p:cNvPr id="124" name="Grupo 123">
            <a:extLst>
              <a:ext uri="{FF2B5EF4-FFF2-40B4-BE49-F238E27FC236}">
                <a16:creationId xmlns:a16="http://schemas.microsoft.com/office/drawing/2014/main" id="{EE4449C9-7105-48DE-A771-17995C3D2858}"/>
              </a:ext>
            </a:extLst>
          </p:cNvPr>
          <p:cNvGrpSpPr/>
          <p:nvPr/>
        </p:nvGrpSpPr>
        <p:grpSpPr>
          <a:xfrm>
            <a:off x="418742" y="3296958"/>
            <a:ext cx="1207485" cy="1014350"/>
            <a:chOff x="2894900" y="4340398"/>
            <a:chExt cx="1943458" cy="1631272"/>
          </a:xfrm>
        </p:grpSpPr>
        <p:pic>
          <p:nvPicPr>
            <p:cNvPr id="125" name="Imagen 124">
              <a:extLst>
                <a:ext uri="{FF2B5EF4-FFF2-40B4-BE49-F238E27FC236}">
                  <a16:creationId xmlns:a16="http://schemas.microsoft.com/office/drawing/2014/main" id="{702D6D54-AED2-4156-A59B-DBAA18F7450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939683" y="4445789"/>
              <a:ext cx="1898675" cy="1406425"/>
            </a:xfrm>
            <a:prstGeom prst="rect">
              <a:avLst/>
            </a:prstGeom>
          </p:spPr>
        </p:pic>
        <p:pic>
          <p:nvPicPr>
            <p:cNvPr id="126" name="Imagen 125">
              <a:extLst>
                <a:ext uri="{FF2B5EF4-FFF2-40B4-BE49-F238E27FC236}">
                  <a16:creationId xmlns:a16="http://schemas.microsoft.com/office/drawing/2014/main" id="{4F89FEFD-421A-4116-94F0-FE854B636EA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894900" y="5277130"/>
              <a:ext cx="104679" cy="444886"/>
            </a:xfrm>
            <a:prstGeom prst="rect">
              <a:avLst/>
            </a:prstGeom>
          </p:spPr>
        </p:pic>
        <p:pic>
          <p:nvPicPr>
            <p:cNvPr id="127" name="Imagen 126">
              <a:extLst>
                <a:ext uri="{FF2B5EF4-FFF2-40B4-BE49-F238E27FC236}">
                  <a16:creationId xmlns:a16="http://schemas.microsoft.com/office/drawing/2014/main" id="{344A2F04-9400-4576-96BB-DA031203079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20645" y="5847828"/>
              <a:ext cx="1762371" cy="123842"/>
            </a:xfrm>
            <a:prstGeom prst="rect">
              <a:avLst/>
            </a:prstGeom>
          </p:spPr>
        </p:pic>
        <p:pic>
          <p:nvPicPr>
            <p:cNvPr id="128" name="Imagen 127">
              <a:extLst>
                <a:ext uri="{FF2B5EF4-FFF2-40B4-BE49-F238E27FC236}">
                  <a16:creationId xmlns:a16="http://schemas.microsoft.com/office/drawing/2014/main" id="{1641B864-FFE1-4BB5-82B8-111FE72F710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011400" y="4340398"/>
              <a:ext cx="1743318" cy="114316"/>
            </a:xfrm>
            <a:prstGeom prst="rect">
              <a:avLst/>
            </a:prstGeom>
          </p:spPr>
        </p:pic>
      </p:grpSp>
      <p:grpSp>
        <p:nvGrpSpPr>
          <p:cNvPr id="44" name="Grupo 43">
            <a:extLst>
              <a:ext uri="{FF2B5EF4-FFF2-40B4-BE49-F238E27FC236}">
                <a16:creationId xmlns:a16="http://schemas.microsoft.com/office/drawing/2014/main" id="{27FB4B1A-312E-4B9A-AD13-1530B6A9273B}"/>
              </a:ext>
            </a:extLst>
          </p:cNvPr>
          <p:cNvGrpSpPr/>
          <p:nvPr/>
        </p:nvGrpSpPr>
        <p:grpSpPr>
          <a:xfrm>
            <a:off x="2585758" y="3191674"/>
            <a:ext cx="1207485" cy="1014350"/>
            <a:chOff x="2585758" y="3191674"/>
            <a:chExt cx="1207485" cy="1014350"/>
          </a:xfrm>
        </p:grpSpPr>
        <p:grpSp>
          <p:nvGrpSpPr>
            <p:cNvPr id="129" name="Grupo 128">
              <a:extLst>
                <a:ext uri="{FF2B5EF4-FFF2-40B4-BE49-F238E27FC236}">
                  <a16:creationId xmlns:a16="http://schemas.microsoft.com/office/drawing/2014/main" id="{A3B0D71A-77FB-424D-98FE-0DE566008115}"/>
                </a:ext>
              </a:extLst>
            </p:cNvPr>
            <p:cNvGrpSpPr/>
            <p:nvPr/>
          </p:nvGrpSpPr>
          <p:grpSpPr>
            <a:xfrm>
              <a:off x="2585758" y="3191674"/>
              <a:ext cx="1207485" cy="1014350"/>
              <a:chOff x="2894900" y="4340398"/>
              <a:chExt cx="1943458" cy="1631272"/>
            </a:xfrm>
          </p:grpSpPr>
          <p:pic>
            <p:nvPicPr>
              <p:cNvPr id="130" name="Imagen 129">
                <a:extLst>
                  <a:ext uri="{FF2B5EF4-FFF2-40B4-BE49-F238E27FC236}">
                    <a16:creationId xmlns:a16="http://schemas.microsoft.com/office/drawing/2014/main" id="{80BAB792-D479-4396-B1EE-3393220B70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939683" y="4445789"/>
                <a:ext cx="1898675" cy="1406425"/>
              </a:xfrm>
              <a:prstGeom prst="rect">
                <a:avLst/>
              </a:prstGeom>
            </p:spPr>
          </p:pic>
          <p:pic>
            <p:nvPicPr>
              <p:cNvPr id="131" name="Imagen 130">
                <a:extLst>
                  <a:ext uri="{FF2B5EF4-FFF2-40B4-BE49-F238E27FC236}">
                    <a16:creationId xmlns:a16="http://schemas.microsoft.com/office/drawing/2014/main" id="{B53F9D8A-D6BC-420F-9004-C3C5E4A6AB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894900" y="5277130"/>
                <a:ext cx="104679" cy="444886"/>
              </a:xfrm>
              <a:prstGeom prst="rect">
                <a:avLst/>
              </a:prstGeom>
            </p:spPr>
          </p:pic>
          <p:pic>
            <p:nvPicPr>
              <p:cNvPr id="132" name="Imagen 131">
                <a:extLst>
                  <a:ext uri="{FF2B5EF4-FFF2-40B4-BE49-F238E27FC236}">
                    <a16:creationId xmlns:a16="http://schemas.microsoft.com/office/drawing/2014/main" id="{CF7BFE42-4A5C-4BC6-8B17-FC8B204F45E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20645" y="5847828"/>
                <a:ext cx="1762371" cy="123842"/>
              </a:xfrm>
              <a:prstGeom prst="rect">
                <a:avLst/>
              </a:prstGeom>
            </p:spPr>
          </p:pic>
          <p:pic>
            <p:nvPicPr>
              <p:cNvPr id="133" name="Imagen 132">
                <a:extLst>
                  <a:ext uri="{FF2B5EF4-FFF2-40B4-BE49-F238E27FC236}">
                    <a16:creationId xmlns:a16="http://schemas.microsoft.com/office/drawing/2014/main" id="{6FF57397-FD91-473F-8E84-9EDB8408B4B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011400" y="4340398"/>
                <a:ext cx="1743318" cy="114316"/>
              </a:xfrm>
              <a:prstGeom prst="rect">
                <a:avLst/>
              </a:prstGeom>
            </p:spPr>
          </p:pic>
        </p:grpSp>
        <p:grpSp>
          <p:nvGrpSpPr>
            <p:cNvPr id="41" name="Grupo 40">
              <a:extLst>
                <a:ext uri="{FF2B5EF4-FFF2-40B4-BE49-F238E27FC236}">
                  <a16:creationId xmlns:a16="http://schemas.microsoft.com/office/drawing/2014/main" id="{801C5A1E-6194-493B-8C4B-B75DA7C4BC93}"/>
                </a:ext>
              </a:extLst>
            </p:cNvPr>
            <p:cNvGrpSpPr/>
            <p:nvPr/>
          </p:nvGrpSpPr>
          <p:grpSpPr>
            <a:xfrm>
              <a:off x="2930001" y="3725036"/>
              <a:ext cx="167744" cy="365690"/>
              <a:chOff x="2930001" y="3725036"/>
              <a:chExt cx="167744" cy="365690"/>
            </a:xfrm>
          </p:grpSpPr>
          <p:sp>
            <p:nvSpPr>
              <p:cNvPr id="135" name="Elipse 134">
                <a:extLst>
                  <a:ext uri="{FF2B5EF4-FFF2-40B4-BE49-F238E27FC236}">
                    <a16:creationId xmlns:a16="http://schemas.microsoft.com/office/drawing/2014/main" id="{3D5B5294-DC92-4454-A342-363769C9AB43}"/>
                  </a:ext>
                </a:extLst>
              </p:cNvPr>
              <p:cNvSpPr/>
              <p:nvPr/>
            </p:nvSpPr>
            <p:spPr>
              <a:xfrm>
                <a:off x="2930001" y="4022145"/>
                <a:ext cx="68581" cy="6858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pic>
            <p:nvPicPr>
              <p:cNvPr id="40" name="Imagen 39">
                <a:extLst>
                  <a:ext uri="{FF2B5EF4-FFF2-40B4-BE49-F238E27FC236}">
                    <a16:creationId xmlns:a16="http://schemas.microsoft.com/office/drawing/2014/main" id="{7F9D363C-FBD5-44D7-8DAE-388B1454050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998582" y="3725036"/>
                <a:ext cx="99163" cy="203834"/>
              </a:xfrm>
              <a:prstGeom prst="rect">
                <a:avLst/>
              </a:prstGeom>
            </p:spPr>
          </p:pic>
        </p:grpSp>
      </p:grpSp>
      <p:grpSp>
        <p:nvGrpSpPr>
          <p:cNvPr id="52" name="Grupo 51">
            <a:extLst>
              <a:ext uri="{FF2B5EF4-FFF2-40B4-BE49-F238E27FC236}">
                <a16:creationId xmlns:a16="http://schemas.microsoft.com/office/drawing/2014/main" id="{E2F14E3A-03DF-4928-BBC3-A531FB8C5E4A}"/>
              </a:ext>
            </a:extLst>
          </p:cNvPr>
          <p:cNvGrpSpPr/>
          <p:nvPr/>
        </p:nvGrpSpPr>
        <p:grpSpPr>
          <a:xfrm>
            <a:off x="637817" y="5459349"/>
            <a:ext cx="1207485" cy="1014350"/>
            <a:chOff x="637817" y="5459349"/>
            <a:chExt cx="1207485" cy="1014350"/>
          </a:xfrm>
        </p:grpSpPr>
        <p:grpSp>
          <p:nvGrpSpPr>
            <p:cNvPr id="196" name="Grupo 195">
              <a:extLst>
                <a:ext uri="{FF2B5EF4-FFF2-40B4-BE49-F238E27FC236}">
                  <a16:creationId xmlns:a16="http://schemas.microsoft.com/office/drawing/2014/main" id="{84DE8A47-7653-4070-BDDA-B02130949926}"/>
                </a:ext>
              </a:extLst>
            </p:cNvPr>
            <p:cNvGrpSpPr/>
            <p:nvPr/>
          </p:nvGrpSpPr>
          <p:grpSpPr>
            <a:xfrm>
              <a:off x="637817" y="5459349"/>
              <a:ext cx="1207485" cy="1014350"/>
              <a:chOff x="2894900" y="4340398"/>
              <a:chExt cx="1943458" cy="1631272"/>
            </a:xfrm>
          </p:grpSpPr>
          <p:pic>
            <p:nvPicPr>
              <p:cNvPr id="197" name="Imagen 196">
                <a:extLst>
                  <a:ext uri="{FF2B5EF4-FFF2-40B4-BE49-F238E27FC236}">
                    <a16:creationId xmlns:a16="http://schemas.microsoft.com/office/drawing/2014/main" id="{24552B36-E586-4417-B651-798B32BA23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939683" y="4445789"/>
                <a:ext cx="1898675" cy="1406425"/>
              </a:xfrm>
              <a:prstGeom prst="rect">
                <a:avLst/>
              </a:prstGeom>
            </p:spPr>
          </p:pic>
          <p:pic>
            <p:nvPicPr>
              <p:cNvPr id="198" name="Imagen 197">
                <a:extLst>
                  <a:ext uri="{FF2B5EF4-FFF2-40B4-BE49-F238E27FC236}">
                    <a16:creationId xmlns:a16="http://schemas.microsoft.com/office/drawing/2014/main" id="{751295A5-3B18-4D5D-A84A-713B0A8FF99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894900" y="5277130"/>
                <a:ext cx="104679" cy="444886"/>
              </a:xfrm>
              <a:prstGeom prst="rect">
                <a:avLst/>
              </a:prstGeom>
            </p:spPr>
          </p:pic>
          <p:pic>
            <p:nvPicPr>
              <p:cNvPr id="199" name="Imagen 198">
                <a:extLst>
                  <a:ext uri="{FF2B5EF4-FFF2-40B4-BE49-F238E27FC236}">
                    <a16:creationId xmlns:a16="http://schemas.microsoft.com/office/drawing/2014/main" id="{967EC4D4-3F1E-44FA-AC7C-0419C493F8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20645" y="5847828"/>
                <a:ext cx="1762371" cy="123842"/>
              </a:xfrm>
              <a:prstGeom prst="rect">
                <a:avLst/>
              </a:prstGeom>
            </p:spPr>
          </p:pic>
          <p:pic>
            <p:nvPicPr>
              <p:cNvPr id="200" name="Imagen 199">
                <a:extLst>
                  <a:ext uri="{FF2B5EF4-FFF2-40B4-BE49-F238E27FC236}">
                    <a16:creationId xmlns:a16="http://schemas.microsoft.com/office/drawing/2014/main" id="{BCDDC940-F189-4F51-BA01-629B988B84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011400" y="4340398"/>
                <a:ext cx="1743318" cy="114316"/>
              </a:xfrm>
              <a:prstGeom prst="rect">
                <a:avLst/>
              </a:prstGeom>
            </p:spPr>
          </p:pic>
        </p:grpSp>
        <p:grpSp>
          <p:nvGrpSpPr>
            <p:cNvPr id="46" name="Grupo 45">
              <a:extLst>
                <a:ext uri="{FF2B5EF4-FFF2-40B4-BE49-F238E27FC236}">
                  <a16:creationId xmlns:a16="http://schemas.microsoft.com/office/drawing/2014/main" id="{243BD594-67AA-49CE-82CB-BC536ACE1AAA}"/>
                </a:ext>
              </a:extLst>
            </p:cNvPr>
            <p:cNvGrpSpPr/>
            <p:nvPr/>
          </p:nvGrpSpPr>
          <p:grpSpPr>
            <a:xfrm>
              <a:off x="735887" y="5788748"/>
              <a:ext cx="402109" cy="166630"/>
              <a:chOff x="516812" y="5788748"/>
              <a:chExt cx="402109" cy="166630"/>
            </a:xfrm>
          </p:grpSpPr>
          <p:pic>
            <p:nvPicPr>
              <p:cNvPr id="146" name="Imagen 145">
                <a:extLst>
                  <a:ext uri="{FF2B5EF4-FFF2-40B4-BE49-F238E27FC236}">
                    <a16:creationId xmlns:a16="http://schemas.microsoft.com/office/drawing/2014/main" id="{BEE25D82-4643-41AF-9723-879CC9D6E29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16812" y="5866854"/>
                <a:ext cx="88524" cy="88524"/>
              </a:xfrm>
              <a:prstGeom prst="rect">
                <a:avLst/>
              </a:prstGeom>
            </p:spPr>
          </p:pic>
          <p:sp>
            <p:nvSpPr>
              <p:cNvPr id="184" name="Elipse 183">
                <a:extLst>
                  <a:ext uri="{FF2B5EF4-FFF2-40B4-BE49-F238E27FC236}">
                    <a16:creationId xmlns:a16="http://schemas.microsoft.com/office/drawing/2014/main" id="{F3F36597-1B12-432F-9030-10B2B84EC0AA}"/>
                  </a:ext>
                </a:extLst>
              </p:cNvPr>
              <p:cNvSpPr/>
              <p:nvPr/>
            </p:nvSpPr>
            <p:spPr>
              <a:xfrm>
                <a:off x="850340" y="5788748"/>
                <a:ext cx="68581" cy="6858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</p:grpSp>
      </p:grpSp>
      <p:grpSp>
        <p:nvGrpSpPr>
          <p:cNvPr id="45" name="Grupo 44">
            <a:extLst>
              <a:ext uri="{FF2B5EF4-FFF2-40B4-BE49-F238E27FC236}">
                <a16:creationId xmlns:a16="http://schemas.microsoft.com/office/drawing/2014/main" id="{8F8C7A99-CE12-46D2-9FB3-451FA43E5F34}"/>
              </a:ext>
            </a:extLst>
          </p:cNvPr>
          <p:cNvGrpSpPr/>
          <p:nvPr/>
        </p:nvGrpSpPr>
        <p:grpSpPr>
          <a:xfrm>
            <a:off x="2585758" y="4410636"/>
            <a:ext cx="1207485" cy="1014350"/>
            <a:chOff x="2585758" y="4410636"/>
            <a:chExt cx="1207485" cy="1014350"/>
          </a:xfrm>
        </p:grpSpPr>
        <p:grpSp>
          <p:nvGrpSpPr>
            <p:cNvPr id="139" name="Grupo 138">
              <a:extLst>
                <a:ext uri="{FF2B5EF4-FFF2-40B4-BE49-F238E27FC236}">
                  <a16:creationId xmlns:a16="http://schemas.microsoft.com/office/drawing/2014/main" id="{93EEDF28-B966-4D43-B1BB-07C1FC96A7C4}"/>
                </a:ext>
              </a:extLst>
            </p:cNvPr>
            <p:cNvGrpSpPr/>
            <p:nvPr/>
          </p:nvGrpSpPr>
          <p:grpSpPr>
            <a:xfrm>
              <a:off x="2585758" y="4410636"/>
              <a:ext cx="1207485" cy="1014350"/>
              <a:chOff x="2894900" y="4340398"/>
              <a:chExt cx="1943458" cy="1631272"/>
            </a:xfrm>
          </p:grpSpPr>
          <p:pic>
            <p:nvPicPr>
              <p:cNvPr id="140" name="Imagen 139">
                <a:extLst>
                  <a:ext uri="{FF2B5EF4-FFF2-40B4-BE49-F238E27FC236}">
                    <a16:creationId xmlns:a16="http://schemas.microsoft.com/office/drawing/2014/main" id="{974F4ECA-748D-4084-AD64-18797AD4A1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939683" y="4445789"/>
                <a:ext cx="1898675" cy="1406425"/>
              </a:xfrm>
              <a:prstGeom prst="rect">
                <a:avLst/>
              </a:prstGeom>
            </p:spPr>
          </p:pic>
          <p:pic>
            <p:nvPicPr>
              <p:cNvPr id="141" name="Imagen 140">
                <a:extLst>
                  <a:ext uri="{FF2B5EF4-FFF2-40B4-BE49-F238E27FC236}">
                    <a16:creationId xmlns:a16="http://schemas.microsoft.com/office/drawing/2014/main" id="{954B37A5-144E-45C2-9C49-080ED6695F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894900" y="5277130"/>
                <a:ext cx="104679" cy="444886"/>
              </a:xfrm>
              <a:prstGeom prst="rect">
                <a:avLst/>
              </a:prstGeom>
            </p:spPr>
          </p:pic>
          <p:pic>
            <p:nvPicPr>
              <p:cNvPr id="142" name="Imagen 141">
                <a:extLst>
                  <a:ext uri="{FF2B5EF4-FFF2-40B4-BE49-F238E27FC236}">
                    <a16:creationId xmlns:a16="http://schemas.microsoft.com/office/drawing/2014/main" id="{70B64795-B65E-4B9F-8B2A-F6C988ADC3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20645" y="5847828"/>
                <a:ext cx="1762371" cy="123842"/>
              </a:xfrm>
              <a:prstGeom prst="rect">
                <a:avLst/>
              </a:prstGeom>
            </p:spPr>
          </p:pic>
          <p:pic>
            <p:nvPicPr>
              <p:cNvPr id="143" name="Imagen 142">
                <a:extLst>
                  <a:ext uri="{FF2B5EF4-FFF2-40B4-BE49-F238E27FC236}">
                    <a16:creationId xmlns:a16="http://schemas.microsoft.com/office/drawing/2014/main" id="{A2048176-4CF7-4FD2-8752-7463BC4B3A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011400" y="4340398"/>
                <a:ext cx="1743318" cy="114316"/>
              </a:xfrm>
              <a:prstGeom prst="rect">
                <a:avLst/>
              </a:prstGeom>
            </p:spPr>
          </p:pic>
        </p:grpSp>
        <p:grpSp>
          <p:nvGrpSpPr>
            <p:cNvPr id="42" name="Grupo 41">
              <a:extLst>
                <a:ext uri="{FF2B5EF4-FFF2-40B4-BE49-F238E27FC236}">
                  <a16:creationId xmlns:a16="http://schemas.microsoft.com/office/drawing/2014/main" id="{9CC21C44-FB13-4DB9-9580-5FAC4A527B47}"/>
                </a:ext>
              </a:extLst>
            </p:cNvPr>
            <p:cNvGrpSpPr/>
            <p:nvPr/>
          </p:nvGrpSpPr>
          <p:grpSpPr>
            <a:xfrm>
              <a:off x="2767205" y="4943785"/>
              <a:ext cx="335354" cy="349815"/>
              <a:chOff x="2767205" y="4943785"/>
              <a:chExt cx="335354" cy="349815"/>
            </a:xfrm>
          </p:grpSpPr>
          <p:sp>
            <p:nvSpPr>
              <p:cNvPr id="145" name="Elipse 144">
                <a:extLst>
                  <a:ext uri="{FF2B5EF4-FFF2-40B4-BE49-F238E27FC236}">
                    <a16:creationId xmlns:a16="http://schemas.microsoft.com/office/drawing/2014/main" id="{07EC4EF1-D7DD-40B9-A3D7-85381D74A3E0}"/>
                  </a:ext>
                </a:extLst>
              </p:cNvPr>
              <p:cNvSpPr/>
              <p:nvPr/>
            </p:nvSpPr>
            <p:spPr>
              <a:xfrm>
                <a:off x="2767205" y="5225019"/>
                <a:ext cx="68581" cy="6858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pic>
            <p:nvPicPr>
              <p:cNvPr id="185" name="Imagen 184">
                <a:extLst>
                  <a:ext uri="{FF2B5EF4-FFF2-40B4-BE49-F238E27FC236}">
                    <a16:creationId xmlns:a16="http://schemas.microsoft.com/office/drawing/2014/main" id="{7F076A08-3240-49F3-B4D8-799D36E646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003396" y="4943785"/>
                <a:ext cx="99163" cy="203834"/>
              </a:xfrm>
              <a:prstGeom prst="rect">
                <a:avLst/>
              </a:prstGeom>
            </p:spPr>
          </p:pic>
        </p:grpSp>
      </p:grpSp>
      <p:sp>
        <p:nvSpPr>
          <p:cNvPr id="191" name="CuadroTexto 190">
            <a:extLst>
              <a:ext uri="{FF2B5EF4-FFF2-40B4-BE49-F238E27FC236}">
                <a16:creationId xmlns:a16="http://schemas.microsoft.com/office/drawing/2014/main" id="{BD88AC9E-0CAC-4E67-9D27-98143B23B393}"/>
              </a:ext>
            </a:extLst>
          </p:cNvPr>
          <p:cNvSpPr txBox="1"/>
          <p:nvPr/>
        </p:nvSpPr>
        <p:spPr>
          <a:xfrm>
            <a:off x="3893708" y="4502313"/>
            <a:ext cx="8209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dirty="0">
                <a:solidFill>
                  <a:schemeClr val="accent4">
                    <a:lumMod val="75000"/>
                  </a:schemeClr>
                </a:solidFill>
              </a:rPr>
              <a:t>Ind1-</a:t>
            </a:r>
            <a:r>
              <a:rPr lang="es-CO" sz="1200" dirty="0">
                <a:solidFill>
                  <a:srgbClr val="C00000"/>
                </a:solidFill>
              </a:rPr>
              <a:t> </a:t>
            </a:r>
          </a:p>
          <a:p>
            <a:r>
              <a:rPr lang="es-CO" sz="1200" dirty="0">
                <a:solidFill>
                  <a:schemeClr val="accent2">
                    <a:lumMod val="75000"/>
                  </a:schemeClr>
                </a:solidFill>
              </a:rPr>
              <a:t>Ind2-</a:t>
            </a:r>
            <a:r>
              <a:rPr lang="es-CO" sz="1200" dirty="0">
                <a:solidFill>
                  <a:srgbClr val="00B050"/>
                </a:solidFill>
              </a:rPr>
              <a:t>   </a:t>
            </a:r>
          </a:p>
          <a:p>
            <a:r>
              <a:rPr lang="es-CO" sz="1200" dirty="0">
                <a:solidFill>
                  <a:srgbClr val="7030A0"/>
                </a:solidFill>
              </a:rPr>
              <a:t>Ind3- </a:t>
            </a:r>
          </a:p>
          <a:p>
            <a:r>
              <a:rPr lang="es-CO" sz="1200" dirty="0">
                <a:solidFill>
                  <a:srgbClr val="0070C0"/>
                </a:solidFill>
              </a:rPr>
              <a:t>Hb = </a:t>
            </a:r>
          </a:p>
        </p:txBody>
      </p:sp>
      <p:sp>
        <p:nvSpPr>
          <p:cNvPr id="192" name="CuadroTexto 191">
            <a:extLst>
              <a:ext uri="{FF2B5EF4-FFF2-40B4-BE49-F238E27FC236}">
                <a16:creationId xmlns:a16="http://schemas.microsoft.com/office/drawing/2014/main" id="{22E67C69-0F81-4F55-A62C-1ED8BD7363EF}"/>
              </a:ext>
            </a:extLst>
          </p:cNvPr>
          <p:cNvSpPr txBox="1"/>
          <p:nvPr/>
        </p:nvSpPr>
        <p:spPr>
          <a:xfrm>
            <a:off x="3893708" y="5753543"/>
            <a:ext cx="8209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dirty="0">
                <a:solidFill>
                  <a:schemeClr val="accent4">
                    <a:lumMod val="75000"/>
                  </a:schemeClr>
                </a:solidFill>
              </a:rPr>
              <a:t>Ind1-</a:t>
            </a:r>
            <a:r>
              <a:rPr lang="es-CO" sz="1200" dirty="0">
                <a:solidFill>
                  <a:srgbClr val="C00000"/>
                </a:solidFill>
              </a:rPr>
              <a:t> </a:t>
            </a:r>
          </a:p>
          <a:p>
            <a:r>
              <a:rPr lang="es-CO" sz="1200" dirty="0">
                <a:solidFill>
                  <a:schemeClr val="accent2">
                    <a:lumMod val="75000"/>
                  </a:schemeClr>
                </a:solidFill>
              </a:rPr>
              <a:t>Ind2-</a:t>
            </a:r>
            <a:r>
              <a:rPr lang="es-CO" sz="1200" dirty="0">
                <a:solidFill>
                  <a:srgbClr val="00B050"/>
                </a:solidFill>
              </a:rPr>
              <a:t>   </a:t>
            </a:r>
          </a:p>
          <a:p>
            <a:r>
              <a:rPr lang="es-CO" sz="1200" dirty="0">
                <a:solidFill>
                  <a:srgbClr val="7030A0"/>
                </a:solidFill>
              </a:rPr>
              <a:t>Ind3- </a:t>
            </a:r>
          </a:p>
          <a:p>
            <a:r>
              <a:rPr lang="es-CO" sz="1200" dirty="0">
                <a:solidFill>
                  <a:srgbClr val="0070C0"/>
                </a:solidFill>
              </a:rPr>
              <a:t>Hb = </a:t>
            </a:r>
          </a:p>
        </p:txBody>
      </p:sp>
      <p:sp>
        <p:nvSpPr>
          <p:cNvPr id="194" name="Elipse 193">
            <a:extLst>
              <a:ext uri="{FF2B5EF4-FFF2-40B4-BE49-F238E27FC236}">
                <a16:creationId xmlns:a16="http://schemas.microsoft.com/office/drawing/2014/main" id="{76BA9FA7-A4D8-47DE-AC02-764BDA5FA07D}"/>
              </a:ext>
            </a:extLst>
          </p:cNvPr>
          <p:cNvSpPr/>
          <p:nvPr/>
        </p:nvSpPr>
        <p:spPr>
          <a:xfrm>
            <a:off x="-459597" y="5008567"/>
            <a:ext cx="68581" cy="6858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195" name="Imagen 194">
            <a:extLst>
              <a:ext uri="{FF2B5EF4-FFF2-40B4-BE49-F238E27FC236}">
                <a16:creationId xmlns:a16="http://schemas.microsoft.com/office/drawing/2014/main" id="{E3E6AB22-C1A1-4BDD-B6C4-42976E482A0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223406" y="4727333"/>
            <a:ext cx="99163" cy="203834"/>
          </a:xfrm>
          <a:prstGeom prst="rect">
            <a:avLst/>
          </a:prstGeom>
        </p:spPr>
      </p:pic>
      <p:pic>
        <p:nvPicPr>
          <p:cNvPr id="202" name="Imagen 201">
            <a:extLst>
              <a:ext uri="{FF2B5EF4-FFF2-40B4-BE49-F238E27FC236}">
                <a16:creationId xmlns:a16="http://schemas.microsoft.com/office/drawing/2014/main" id="{4AADC9B4-B8DE-4A77-A286-3E9DE1CEF79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632425" y="5807674"/>
            <a:ext cx="88524" cy="88524"/>
          </a:xfrm>
          <a:prstGeom prst="rect">
            <a:avLst/>
          </a:prstGeom>
        </p:spPr>
      </p:pic>
      <p:sp>
        <p:nvSpPr>
          <p:cNvPr id="203" name="Elipse 202">
            <a:extLst>
              <a:ext uri="{FF2B5EF4-FFF2-40B4-BE49-F238E27FC236}">
                <a16:creationId xmlns:a16="http://schemas.microsoft.com/office/drawing/2014/main" id="{59BB454B-2A09-4351-A4FE-23FB9D00FF60}"/>
              </a:ext>
            </a:extLst>
          </p:cNvPr>
          <p:cNvSpPr/>
          <p:nvPr/>
        </p:nvSpPr>
        <p:spPr>
          <a:xfrm>
            <a:off x="-298897" y="5729568"/>
            <a:ext cx="68581" cy="6858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51" name="Grupo 50">
            <a:extLst>
              <a:ext uri="{FF2B5EF4-FFF2-40B4-BE49-F238E27FC236}">
                <a16:creationId xmlns:a16="http://schemas.microsoft.com/office/drawing/2014/main" id="{C4938469-5BE2-4ADA-9256-D6622D1A4606}"/>
              </a:ext>
            </a:extLst>
          </p:cNvPr>
          <p:cNvGrpSpPr/>
          <p:nvPr/>
        </p:nvGrpSpPr>
        <p:grpSpPr>
          <a:xfrm>
            <a:off x="777601" y="5643063"/>
            <a:ext cx="961054" cy="638175"/>
            <a:chOff x="3003396" y="7038975"/>
            <a:chExt cx="638175" cy="638175"/>
          </a:xfrm>
        </p:grpSpPr>
        <p:cxnSp>
          <p:nvCxnSpPr>
            <p:cNvPr id="50" name="Conector recto 49">
              <a:extLst>
                <a:ext uri="{FF2B5EF4-FFF2-40B4-BE49-F238E27FC236}">
                  <a16:creationId xmlns:a16="http://schemas.microsoft.com/office/drawing/2014/main" id="{1E23A387-BF4F-4C0C-A02A-184D95884C3D}"/>
                </a:ext>
              </a:extLst>
            </p:cNvPr>
            <p:cNvCxnSpPr/>
            <p:nvPr/>
          </p:nvCxnSpPr>
          <p:spPr>
            <a:xfrm>
              <a:off x="3003396" y="7038975"/>
              <a:ext cx="625629" cy="638175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Conector recto 203">
              <a:extLst>
                <a:ext uri="{FF2B5EF4-FFF2-40B4-BE49-F238E27FC236}">
                  <a16:creationId xmlns:a16="http://schemas.microsoft.com/office/drawing/2014/main" id="{36E27A49-CBDD-4BD1-9644-ED845B7821F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009669" y="7038975"/>
              <a:ext cx="625629" cy="638175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5" name="Conector recto de flecha 204">
            <a:extLst>
              <a:ext uri="{FF2B5EF4-FFF2-40B4-BE49-F238E27FC236}">
                <a16:creationId xmlns:a16="http://schemas.microsoft.com/office/drawing/2014/main" id="{89D21D93-C5A5-4A0D-B2DB-FCDB29706396}"/>
              </a:ext>
            </a:extLst>
          </p:cNvPr>
          <p:cNvCxnSpPr>
            <a:cxnSpLocks/>
            <a:stCxn id="125" idx="3"/>
          </p:cNvCxnSpPr>
          <p:nvPr/>
        </p:nvCxnSpPr>
        <p:spPr>
          <a:xfrm>
            <a:off x="1626227" y="3799761"/>
            <a:ext cx="979661" cy="239224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" name="CuadroTexto 205">
            <a:extLst>
              <a:ext uri="{FF2B5EF4-FFF2-40B4-BE49-F238E27FC236}">
                <a16:creationId xmlns:a16="http://schemas.microsoft.com/office/drawing/2014/main" id="{E03F07DE-0E49-4730-95D8-955155485858}"/>
              </a:ext>
            </a:extLst>
          </p:cNvPr>
          <p:cNvSpPr txBox="1"/>
          <p:nvPr/>
        </p:nvSpPr>
        <p:spPr>
          <a:xfrm rot="3949985">
            <a:off x="1844570" y="5005855"/>
            <a:ext cx="8209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050" dirty="0">
                <a:solidFill>
                  <a:srgbClr val="0070C0"/>
                </a:solidFill>
              </a:rPr>
              <a:t>dado = 6</a:t>
            </a:r>
          </a:p>
        </p:txBody>
      </p:sp>
    </p:spTree>
    <p:extLst>
      <p:ext uri="{BB962C8B-B14F-4D97-AF65-F5344CB8AC3E}">
        <p14:creationId xmlns:p14="http://schemas.microsoft.com/office/powerpoint/2010/main" val="1741629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82" grpId="0"/>
      <p:bldP spid="183" grpId="0"/>
      <p:bldP spid="71" grpId="0"/>
      <p:bldP spid="72" grpId="0"/>
      <p:bldP spid="73" grpId="0"/>
      <p:bldP spid="112" grpId="0"/>
      <p:bldP spid="191" grpId="0"/>
      <p:bldP spid="192" grpId="0"/>
      <p:bldP spid="20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ángulo 30"/>
          <p:cNvSpPr/>
          <p:nvPr/>
        </p:nvSpPr>
        <p:spPr>
          <a:xfrm>
            <a:off x="1341911" y="583285"/>
            <a:ext cx="717269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3000" b="1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Ejemplo Árbol de Juego MIN-MAX</a:t>
            </a:r>
          </a:p>
        </p:txBody>
      </p:sp>
      <p:sp>
        <p:nvSpPr>
          <p:cNvPr id="8" name="6 Triángulo isósceles"/>
          <p:cNvSpPr/>
          <p:nvPr/>
        </p:nvSpPr>
        <p:spPr>
          <a:xfrm>
            <a:off x="5432320" y="2060848"/>
            <a:ext cx="648072" cy="648072"/>
          </a:xfrm>
          <a:prstGeom prst="triangl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A</a:t>
            </a:r>
          </a:p>
        </p:txBody>
      </p:sp>
      <p:sp>
        <p:nvSpPr>
          <p:cNvPr id="9" name="7 Triángulo isósceles"/>
          <p:cNvSpPr/>
          <p:nvPr/>
        </p:nvSpPr>
        <p:spPr>
          <a:xfrm>
            <a:off x="1831920" y="5085184"/>
            <a:ext cx="648072" cy="64807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8 Triángulo isósceles"/>
          <p:cNvSpPr/>
          <p:nvPr/>
        </p:nvSpPr>
        <p:spPr>
          <a:xfrm>
            <a:off x="2624008" y="5085184"/>
            <a:ext cx="648072" cy="64807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9 Triángulo isósceles"/>
          <p:cNvSpPr/>
          <p:nvPr/>
        </p:nvSpPr>
        <p:spPr>
          <a:xfrm>
            <a:off x="3344088" y="5085184"/>
            <a:ext cx="648072" cy="64807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16 Triángulo isósceles"/>
          <p:cNvSpPr/>
          <p:nvPr/>
        </p:nvSpPr>
        <p:spPr>
          <a:xfrm rot="10800000">
            <a:off x="2624008" y="3645024"/>
            <a:ext cx="648072" cy="648072"/>
          </a:xfrm>
          <a:prstGeom prst="triangle">
            <a:avLst/>
          </a:prstGeom>
          <a:solidFill>
            <a:srgbClr val="FF99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5" name="17 Triángulo isósceles"/>
          <p:cNvSpPr/>
          <p:nvPr/>
        </p:nvSpPr>
        <p:spPr>
          <a:xfrm rot="10800000">
            <a:off x="5432320" y="3645024"/>
            <a:ext cx="648072" cy="648072"/>
          </a:xfrm>
          <a:prstGeom prst="triangle">
            <a:avLst/>
          </a:prstGeom>
          <a:solidFill>
            <a:srgbClr val="FF99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18 Triángulo isósceles"/>
          <p:cNvSpPr/>
          <p:nvPr/>
        </p:nvSpPr>
        <p:spPr>
          <a:xfrm rot="10800000">
            <a:off x="8096616" y="3645024"/>
            <a:ext cx="648072" cy="648072"/>
          </a:xfrm>
          <a:prstGeom prst="triangle">
            <a:avLst/>
          </a:prstGeom>
          <a:solidFill>
            <a:srgbClr val="FF99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17" name="20 Conector recto de flecha"/>
          <p:cNvCxnSpPr>
            <a:stCxn id="8" idx="2"/>
            <a:endCxn id="14" idx="3"/>
          </p:cNvCxnSpPr>
          <p:nvPr/>
        </p:nvCxnSpPr>
        <p:spPr>
          <a:xfrm flipH="1">
            <a:off x="2948044" y="2708920"/>
            <a:ext cx="2484276" cy="9361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23 Conector recto de flecha"/>
          <p:cNvCxnSpPr>
            <a:stCxn id="8" idx="3"/>
            <a:endCxn id="15" idx="3"/>
          </p:cNvCxnSpPr>
          <p:nvPr/>
        </p:nvCxnSpPr>
        <p:spPr>
          <a:xfrm>
            <a:off x="5756356" y="2708920"/>
            <a:ext cx="0" cy="9361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25 Conector recto de flecha"/>
          <p:cNvCxnSpPr>
            <a:stCxn id="8" idx="4"/>
            <a:endCxn id="16" idx="3"/>
          </p:cNvCxnSpPr>
          <p:nvPr/>
        </p:nvCxnSpPr>
        <p:spPr>
          <a:xfrm>
            <a:off x="6080392" y="2708920"/>
            <a:ext cx="2340260" cy="9361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29 Conector recto"/>
          <p:cNvCxnSpPr>
            <a:stCxn id="14" idx="0"/>
            <a:endCxn id="9" idx="0"/>
          </p:cNvCxnSpPr>
          <p:nvPr/>
        </p:nvCxnSpPr>
        <p:spPr>
          <a:xfrm flipH="1">
            <a:off x="2155956" y="4293096"/>
            <a:ext cx="792088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30 Conector recto"/>
          <p:cNvCxnSpPr>
            <a:stCxn id="14" idx="0"/>
            <a:endCxn id="12" idx="0"/>
          </p:cNvCxnSpPr>
          <p:nvPr/>
        </p:nvCxnSpPr>
        <p:spPr>
          <a:xfrm>
            <a:off x="2948044" y="4293096"/>
            <a:ext cx="0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33 Conector recto"/>
          <p:cNvCxnSpPr>
            <a:stCxn id="14" idx="0"/>
            <a:endCxn id="13" idx="0"/>
          </p:cNvCxnSpPr>
          <p:nvPr/>
        </p:nvCxnSpPr>
        <p:spPr>
          <a:xfrm>
            <a:off x="2948044" y="4293096"/>
            <a:ext cx="720080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36 Triángulo isósceles"/>
          <p:cNvSpPr/>
          <p:nvPr/>
        </p:nvSpPr>
        <p:spPr>
          <a:xfrm>
            <a:off x="4640232" y="5085184"/>
            <a:ext cx="648072" cy="64807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" name="37 Triángulo isósceles"/>
          <p:cNvSpPr/>
          <p:nvPr/>
        </p:nvSpPr>
        <p:spPr>
          <a:xfrm>
            <a:off x="5432320" y="5085184"/>
            <a:ext cx="648072" cy="64807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5" name="38 Triángulo isósceles"/>
          <p:cNvSpPr/>
          <p:nvPr/>
        </p:nvSpPr>
        <p:spPr>
          <a:xfrm>
            <a:off x="6152400" y="5085184"/>
            <a:ext cx="648072" cy="64807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26" name="39 Conector recto"/>
          <p:cNvCxnSpPr>
            <a:stCxn id="15" idx="0"/>
            <a:endCxn id="23" idx="0"/>
          </p:cNvCxnSpPr>
          <p:nvPr/>
        </p:nvCxnSpPr>
        <p:spPr>
          <a:xfrm flipH="1">
            <a:off x="4964268" y="4293096"/>
            <a:ext cx="792088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40 Conector recto"/>
          <p:cNvCxnSpPr>
            <a:stCxn id="15" idx="0"/>
            <a:endCxn id="24" idx="0"/>
          </p:cNvCxnSpPr>
          <p:nvPr/>
        </p:nvCxnSpPr>
        <p:spPr>
          <a:xfrm>
            <a:off x="5756356" y="4293096"/>
            <a:ext cx="0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41 Conector recto"/>
          <p:cNvCxnSpPr>
            <a:stCxn id="15" idx="0"/>
            <a:endCxn id="25" idx="0"/>
          </p:cNvCxnSpPr>
          <p:nvPr/>
        </p:nvCxnSpPr>
        <p:spPr>
          <a:xfrm>
            <a:off x="5756356" y="4293096"/>
            <a:ext cx="720080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45 Triángulo isósceles"/>
          <p:cNvSpPr/>
          <p:nvPr/>
        </p:nvSpPr>
        <p:spPr>
          <a:xfrm>
            <a:off x="7304528" y="5085184"/>
            <a:ext cx="648072" cy="64807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0" name="46 Triángulo isósceles"/>
          <p:cNvSpPr/>
          <p:nvPr/>
        </p:nvSpPr>
        <p:spPr>
          <a:xfrm>
            <a:off x="8096616" y="5085184"/>
            <a:ext cx="648072" cy="64807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" name="47 Triángulo isósceles"/>
          <p:cNvSpPr/>
          <p:nvPr/>
        </p:nvSpPr>
        <p:spPr>
          <a:xfrm>
            <a:off x="8816696" y="5085184"/>
            <a:ext cx="648072" cy="64807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3" name="48 Conector recto"/>
          <p:cNvCxnSpPr>
            <a:stCxn id="16" idx="0"/>
            <a:endCxn id="29" idx="0"/>
          </p:cNvCxnSpPr>
          <p:nvPr/>
        </p:nvCxnSpPr>
        <p:spPr>
          <a:xfrm flipH="1">
            <a:off x="7628564" y="4293096"/>
            <a:ext cx="792088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49 Conector recto"/>
          <p:cNvCxnSpPr>
            <a:stCxn id="16" idx="0"/>
            <a:endCxn id="30" idx="0"/>
          </p:cNvCxnSpPr>
          <p:nvPr/>
        </p:nvCxnSpPr>
        <p:spPr>
          <a:xfrm>
            <a:off x="8420652" y="4293096"/>
            <a:ext cx="0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50 Conector recto"/>
          <p:cNvCxnSpPr>
            <a:stCxn id="16" idx="0"/>
            <a:endCxn id="32" idx="0"/>
          </p:cNvCxnSpPr>
          <p:nvPr/>
        </p:nvCxnSpPr>
        <p:spPr>
          <a:xfrm>
            <a:off x="8420652" y="4293096"/>
            <a:ext cx="720080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58 CuadroTexto"/>
          <p:cNvSpPr txBox="1"/>
          <p:nvPr/>
        </p:nvSpPr>
        <p:spPr>
          <a:xfrm>
            <a:off x="2768024" y="3717032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B</a:t>
            </a:r>
          </a:p>
        </p:txBody>
      </p:sp>
      <p:sp>
        <p:nvSpPr>
          <p:cNvPr id="37" name="59 CuadroTexto"/>
          <p:cNvSpPr txBox="1"/>
          <p:nvPr/>
        </p:nvSpPr>
        <p:spPr>
          <a:xfrm>
            <a:off x="5576336" y="3717032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C</a:t>
            </a:r>
          </a:p>
        </p:txBody>
      </p:sp>
      <p:sp>
        <p:nvSpPr>
          <p:cNvPr id="38" name="60 CuadroTexto"/>
          <p:cNvSpPr txBox="1"/>
          <p:nvPr/>
        </p:nvSpPr>
        <p:spPr>
          <a:xfrm>
            <a:off x="8240632" y="3717032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D</a:t>
            </a:r>
          </a:p>
        </p:txBody>
      </p:sp>
      <p:cxnSp>
        <p:nvCxnSpPr>
          <p:cNvPr id="39" name="62 Conector recto"/>
          <p:cNvCxnSpPr/>
          <p:nvPr/>
        </p:nvCxnSpPr>
        <p:spPr>
          <a:xfrm>
            <a:off x="1111840" y="3356992"/>
            <a:ext cx="8820472" cy="0"/>
          </a:xfrm>
          <a:prstGeom prst="line">
            <a:avLst/>
          </a:prstGeom>
          <a:ln w="762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2" name="67 CuadroTexto"/>
          <p:cNvSpPr txBox="1"/>
          <p:nvPr/>
        </p:nvSpPr>
        <p:spPr>
          <a:xfrm>
            <a:off x="1975936" y="5733256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3</a:t>
            </a:r>
          </a:p>
        </p:txBody>
      </p:sp>
      <p:sp>
        <p:nvSpPr>
          <p:cNvPr id="43" name="68 CuadroTexto"/>
          <p:cNvSpPr txBox="1"/>
          <p:nvPr/>
        </p:nvSpPr>
        <p:spPr>
          <a:xfrm>
            <a:off x="2768024" y="5733256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12</a:t>
            </a:r>
          </a:p>
        </p:txBody>
      </p:sp>
      <p:sp>
        <p:nvSpPr>
          <p:cNvPr id="44" name="69 CuadroTexto"/>
          <p:cNvSpPr txBox="1"/>
          <p:nvPr/>
        </p:nvSpPr>
        <p:spPr>
          <a:xfrm>
            <a:off x="3560112" y="5733256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8</a:t>
            </a:r>
          </a:p>
        </p:txBody>
      </p:sp>
      <p:sp>
        <p:nvSpPr>
          <p:cNvPr id="45" name="70 CuadroTexto"/>
          <p:cNvSpPr txBox="1"/>
          <p:nvPr/>
        </p:nvSpPr>
        <p:spPr>
          <a:xfrm>
            <a:off x="4784248" y="5723964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2</a:t>
            </a:r>
          </a:p>
        </p:txBody>
      </p:sp>
      <p:sp>
        <p:nvSpPr>
          <p:cNvPr id="46" name="71 CuadroTexto"/>
          <p:cNvSpPr txBox="1"/>
          <p:nvPr/>
        </p:nvSpPr>
        <p:spPr>
          <a:xfrm>
            <a:off x="5576336" y="5733256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4</a:t>
            </a:r>
          </a:p>
        </p:txBody>
      </p:sp>
      <p:sp>
        <p:nvSpPr>
          <p:cNvPr id="47" name="72 CuadroTexto"/>
          <p:cNvSpPr txBox="1"/>
          <p:nvPr/>
        </p:nvSpPr>
        <p:spPr>
          <a:xfrm>
            <a:off x="6296416" y="5733256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6</a:t>
            </a:r>
          </a:p>
        </p:txBody>
      </p:sp>
      <p:sp>
        <p:nvSpPr>
          <p:cNvPr id="48" name="73 CuadroTexto"/>
          <p:cNvSpPr txBox="1"/>
          <p:nvPr/>
        </p:nvSpPr>
        <p:spPr>
          <a:xfrm>
            <a:off x="7448544" y="5733256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14</a:t>
            </a:r>
          </a:p>
        </p:txBody>
      </p:sp>
      <p:sp>
        <p:nvSpPr>
          <p:cNvPr id="49" name="74 CuadroTexto"/>
          <p:cNvSpPr txBox="1"/>
          <p:nvPr/>
        </p:nvSpPr>
        <p:spPr>
          <a:xfrm>
            <a:off x="8312640" y="5733256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5</a:t>
            </a:r>
          </a:p>
        </p:txBody>
      </p:sp>
      <p:sp>
        <p:nvSpPr>
          <p:cNvPr id="50" name="75 CuadroTexto"/>
          <p:cNvSpPr txBox="1"/>
          <p:nvPr/>
        </p:nvSpPr>
        <p:spPr>
          <a:xfrm>
            <a:off x="9032720" y="5733256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2</a:t>
            </a:r>
          </a:p>
        </p:txBody>
      </p:sp>
      <p:sp>
        <p:nvSpPr>
          <p:cNvPr id="51" name="76 CuadroTexto"/>
          <p:cNvSpPr txBox="1"/>
          <p:nvPr/>
        </p:nvSpPr>
        <p:spPr>
          <a:xfrm>
            <a:off x="4136176" y="278092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a1</a:t>
            </a:r>
          </a:p>
        </p:txBody>
      </p:sp>
      <p:sp>
        <p:nvSpPr>
          <p:cNvPr id="52" name="77 CuadroTexto"/>
          <p:cNvSpPr txBox="1"/>
          <p:nvPr/>
        </p:nvSpPr>
        <p:spPr>
          <a:xfrm>
            <a:off x="5720352" y="2852936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a2</a:t>
            </a:r>
          </a:p>
        </p:txBody>
      </p:sp>
      <p:sp>
        <p:nvSpPr>
          <p:cNvPr id="53" name="78 CuadroTexto"/>
          <p:cNvSpPr txBox="1"/>
          <p:nvPr/>
        </p:nvSpPr>
        <p:spPr>
          <a:xfrm>
            <a:off x="6944488" y="278092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a3</a:t>
            </a:r>
          </a:p>
        </p:txBody>
      </p:sp>
      <p:sp>
        <p:nvSpPr>
          <p:cNvPr id="54" name="79 CuadroTexto"/>
          <p:cNvSpPr txBox="1"/>
          <p:nvPr/>
        </p:nvSpPr>
        <p:spPr>
          <a:xfrm>
            <a:off x="2047944" y="458112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b1</a:t>
            </a:r>
          </a:p>
        </p:txBody>
      </p:sp>
      <p:sp>
        <p:nvSpPr>
          <p:cNvPr id="55" name="80 CuadroTexto"/>
          <p:cNvSpPr txBox="1"/>
          <p:nvPr/>
        </p:nvSpPr>
        <p:spPr>
          <a:xfrm>
            <a:off x="2624008" y="473352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b2</a:t>
            </a:r>
          </a:p>
        </p:txBody>
      </p:sp>
      <p:sp>
        <p:nvSpPr>
          <p:cNvPr id="56" name="81 CuadroTexto"/>
          <p:cNvSpPr txBox="1"/>
          <p:nvPr/>
        </p:nvSpPr>
        <p:spPr>
          <a:xfrm>
            <a:off x="3488104" y="4653136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b3</a:t>
            </a:r>
          </a:p>
        </p:txBody>
      </p:sp>
      <p:sp>
        <p:nvSpPr>
          <p:cNvPr id="57" name="82 CuadroTexto"/>
          <p:cNvSpPr txBox="1"/>
          <p:nvPr/>
        </p:nvSpPr>
        <p:spPr>
          <a:xfrm>
            <a:off x="6152400" y="458112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c3</a:t>
            </a:r>
          </a:p>
        </p:txBody>
      </p:sp>
      <p:sp>
        <p:nvSpPr>
          <p:cNvPr id="58" name="83 CuadroTexto"/>
          <p:cNvSpPr txBox="1"/>
          <p:nvPr/>
        </p:nvSpPr>
        <p:spPr>
          <a:xfrm>
            <a:off x="5432320" y="473352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c2</a:t>
            </a:r>
          </a:p>
        </p:txBody>
      </p:sp>
      <p:sp>
        <p:nvSpPr>
          <p:cNvPr id="59" name="84 CuadroTexto"/>
          <p:cNvSpPr txBox="1"/>
          <p:nvPr/>
        </p:nvSpPr>
        <p:spPr>
          <a:xfrm>
            <a:off x="4856256" y="458112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c1</a:t>
            </a:r>
          </a:p>
        </p:txBody>
      </p:sp>
      <p:sp>
        <p:nvSpPr>
          <p:cNvPr id="60" name="85 CuadroTexto"/>
          <p:cNvSpPr txBox="1"/>
          <p:nvPr/>
        </p:nvSpPr>
        <p:spPr>
          <a:xfrm>
            <a:off x="7736576" y="4437112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d1</a:t>
            </a:r>
          </a:p>
        </p:txBody>
      </p:sp>
      <p:sp>
        <p:nvSpPr>
          <p:cNvPr id="61" name="86 CuadroTexto"/>
          <p:cNvSpPr txBox="1"/>
          <p:nvPr/>
        </p:nvSpPr>
        <p:spPr>
          <a:xfrm>
            <a:off x="8312640" y="4715852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d2</a:t>
            </a:r>
          </a:p>
        </p:txBody>
      </p:sp>
      <p:sp>
        <p:nvSpPr>
          <p:cNvPr id="62" name="87 CuadroTexto"/>
          <p:cNvSpPr txBox="1"/>
          <p:nvPr/>
        </p:nvSpPr>
        <p:spPr>
          <a:xfrm>
            <a:off x="8816696" y="4571836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d3</a:t>
            </a:r>
          </a:p>
        </p:txBody>
      </p:sp>
      <p:sp>
        <p:nvSpPr>
          <p:cNvPr id="63" name="5 CuadroTexto"/>
          <p:cNvSpPr txBox="1"/>
          <p:nvPr/>
        </p:nvSpPr>
        <p:spPr>
          <a:xfrm>
            <a:off x="9932312" y="3185650"/>
            <a:ext cx="1663052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CO" dirty="0"/>
              <a:t>MAX: Jugador 1</a:t>
            </a:r>
          </a:p>
        </p:txBody>
      </p:sp>
      <p:cxnSp>
        <p:nvCxnSpPr>
          <p:cNvPr id="64" name="62 Conector recto"/>
          <p:cNvCxnSpPr/>
          <p:nvPr/>
        </p:nvCxnSpPr>
        <p:spPr>
          <a:xfrm>
            <a:off x="1111840" y="4464438"/>
            <a:ext cx="8820472" cy="0"/>
          </a:xfrm>
          <a:prstGeom prst="line">
            <a:avLst/>
          </a:prstGeom>
          <a:ln w="76200">
            <a:solidFill>
              <a:srgbClr val="FF9966"/>
            </a:solidFill>
            <a:prstDash val="sysDot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5" name="5 CuadroTexto"/>
          <p:cNvSpPr txBox="1"/>
          <p:nvPr/>
        </p:nvSpPr>
        <p:spPr>
          <a:xfrm>
            <a:off x="9932312" y="4293096"/>
            <a:ext cx="1663052" cy="369332"/>
          </a:xfrm>
          <a:prstGeom prst="rect">
            <a:avLst/>
          </a:prstGeom>
          <a:solidFill>
            <a:srgbClr val="FF9966"/>
          </a:solidFill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CO" dirty="0"/>
              <a:t>MIN: Jugador 2</a:t>
            </a:r>
          </a:p>
        </p:txBody>
      </p:sp>
      <p:pic>
        <p:nvPicPr>
          <p:cNvPr id="66" name="Marcador de contenido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5967"/>
          <a:stretch/>
        </p:blipFill>
        <p:spPr>
          <a:xfrm>
            <a:off x="1398" y="4652"/>
            <a:ext cx="12201128" cy="1649377"/>
          </a:xfrm>
        </p:spPr>
      </p:pic>
      <p:sp>
        <p:nvSpPr>
          <p:cNvPr id="67" name="Rectángulo 66"/>
          <p:cNvSpPr/>
          <p:nvPr/>
        </p:nvSpPr>
        <p:spPr>
          <a:xfrm>
            <a:off x="1343310" y="593072"/>
            <a:ext cx="717269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_tradnl" sz="3000" b="1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Taller 4 – Simulación Juego</a:t>
            </a:r>
          </a:p>
        </p:txBody>
      </p:sp>
    </p:spTree>
    <p:extLst>
      <p:ext uri="{BB962C8B-B14F-4D97-AF65-F5344CB8AC3E}">
        <p14:creationId xmlns:p14="http://schemas.microsoft.com/office/powerpoint/2010/main" val="1388604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  <p:bldP spid="6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ángulo 30"/>
          <p:cNvSpPr/>
          <p:nvPr/>
        </p:nvSpPr>
        <p:spPr>
          <a:xfrm>
            <a:off x="1341911" y="583285"/>
            <a:ext cx="717269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3000" b="1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Ejemplo Árbol de Juego MIN-MAX</a:t>
            </a:r>
          </a:p>
        </p:txBody>
      </p:sp>
      <p:pic>
        <p:nvPicPr>
          <p:cNvPr id="66" name="Marcador de contenido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5967"/>
          <a:stretch/>
        </p:blipFill>
        <p:spPr>
          <a:xfrm>
            <a:off x="1398" y="4652"/>
            <a:ext cx="12201128" cy="1649377"/>
          </a:xfrm>
        </p:spPr>
      </p:pic>
      <p:sp>
        <p:nvSpPr>
          <p:cNvPr id="67" name="Rectángulo 66"/>
          <p:cNvSpPr/>
          <p:nvPr/>
        </p:nvSpPr>
        <p:spPr>
          <a:xfrm>
            <a:off x="1343310" y="305906"/>
            <a:ext cx="717269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_tradnl" sz="3000" b="1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Taller 4 – Implementación Juego</a:t>
            </a:r>
          </a:p>
          <a:p>
            <a:pPr algn="ctr"/>
            <a:r>
              <a:rPr lang="es-ES_tradnl" sz="3000" b="1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Pantallazos de Operación</a:t>
            </a:r>
          </a:p>
        </p:txBody>
      </p:sp>
    </p:spTree>
    <p:extLst>
      <p:ext uri="{BB962C8B-B14F-4D97-AF65-F5344CB8AC3E}">
        <p14:creationId xmlns:p14="http://schemas.microsoft.com/office/powerpoint/2010/main" val="8945646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Subtítulo 2"/>
          <p:cNvSpPr>
            <a:spLocks noGrp="1"/>
          </p:cNvSpPr>
          <p:nvPr>
            <p:ph type="subTitle" idx="1"/>
          </p:nvPr>
        </p:nvSpPr>
        <p:spPr>
          <a:xfrm>
            <a:off x="3384468" y="2812021"/>
            <a:ext cx="8456166" cy="1581096"/>
          </a:xfrm>
        </p:spPr>
        <p:txBody>
          <a:bodyPr>
            <a:noAutofit/>
          </a:bodyPr>
          <a:lstStyle/>
          <a:p>
            <a:r>
              <a:rPr lang="es-ES_tradnl" sz="5400" b="1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Inteligencia Artificial</a:t>
            </a:r>
          </a:p>
          <a:p>
            <a:r>
              <a:rPr lang="es-ES_tradnl" sz="3600" b="1" dirty="0">
                <a:solidFill>
                  <a:srgbClr val="FFC000"/>
                </a:solidFill>
                <a:latin typeface="Arial" charset="0"/>
                <a:ea typeface="Arial" charset="0"/>
                <a:cs typeface="Arial" charset="0"/>
              </a:rPr>
              <a:t>Juegos Multijugador</a:t>
            </a:r>
          </a:p>
          <a:p>
            <a:r>
              <a:rPr lang="es-ES_tradnl" sz="3600" b="1" dirty="0">
                <a:solidFill>
                  <a:srgbClr val="FFC000"/>
                </a:solidFill>
                <a:latin typeface="Arial" charset="0"/>
                <a:ea typeface="Arial" charset="0"/>
                <a:cs typeface="Arial" charset="0"/>
              </a:rPr>
              <a:t>Taller 4</a:t>
            </a:r>
          </a:p>
        </p:txBody>
      </p:sp>
      <p:sp>
        <p:nvSpPr>
          <p:cNvPr id="6" name="Subtítulo 2"/>
          <p:cNvSpPr txBox="1">
            <a:spLocks/>
          </p:cNvSpPr>
          <p:nvPr/>
        </p:nvSpPr>
        <p:spPr>
          <a:xfrm>
            <a:off x="3723788" y="5639886"/>
            <a:ext cx="8456166" cy="1002738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b="1" dirty="0">
                <a:solidFill>
                  <a:schemeClr val="accent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Ing. Enrique González PhD</a:t>
            </a:r>
          </a:p>
          <a:p>
            <a:r>
              <a:rPr lang="es-ES_tradnl" b="1" dirty="0">
                <a:solidFill>
                  <a:schemeClr val="accent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Departamento de Ingeniería de Sistemas</a:t>
            </a:r>
          </a:p>
        </p:txBody>
      </p:sp>
    </p:spTree>
    <p:extLst>
      <p:ext uri="{BB962C8B-B14F-4D97-AF65-F5344CB8AC3E}">
        <p14:creationId xmlns:p14="http://schemas.microsoft.com/office/powerpoint/2010/main" val="269826998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2CE6E15AAA6D84AAC52E76F6F4DA01C" ma:contentTypeVersion="18" ma:contentTypeDescription="Create a new document." ma:contentTypeScope="" ma:versionID="21a2ea65212a9cca783fb55a4bea438e">
  <xsd:schema xmlns:xsd="http://www.w3.org/2001/XMLSchema" xmlns:xs="http://www.w3.org/2001/XMLSchema" xmlns:p="http://schemas.microsoft.com/office/2006/metadata/properties" xmlns:ns3="0534b563-8bcf-404a-9c05-83830691e24d" xmlns:ns4="b44060d6-3d92-4222-88f4-058ac1ad6e6d" targetNamespace="http://schemas.microsoft.com/office/2006/metadata/properties" ma:root="true" ma:fieldsID="e9cad2d49079c334801c77d6b846ab99" ns3:_="" ns4:_="">
    <xsd:import namespace="0534b563-8bcf-404a-9c05-83830691e24d"/>
    <xsd:import namespace="b44060d6-3d92-4222-88f4-058ac1ad6e6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LengthInSecond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SearchPropertie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34b563-8bcf-404a-9c05-83830691e24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6" nillable="true" ma:displayName="Length (seconds)" ma:internalName="MediaLengthInSeconds" ma:readOnly="true">
      <xsd:simpleType>
        <xsd:restriction base="dms:Unknown"/>
      </xsd:simpleType>
    </xsd:element>
    <xsd:element name="MediaServiceAutoTags" ma:index="17" nillable="true" ma:displayName="Tags" ma:internalName="MediaServiceAutoTags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4060d6-3d92-4222-88f4-058ac1ad6e6d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534b563-8bcf-404a-9c05-83830691e24d" xsi:nil="true"/>
  </documentManagement>
</p:properties>
</file>

<file path=customXml/itemProps1.xml><?xml version="1.0" encoding="utf-8"?>
<ds:datastoreItem xmlns:ds="http://schemas.openxmlformats.org/officeDocument/2006/customXml" ds:itemID="{404B02E1-476F-47CF-8EA0-FB8244DA797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534b563-8bcf-404a-9c05-83830691e24d"/>
    <ds:schemaRef ds:uri="b44060d6-3d92-4222-88f4-058ac1ad6e6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030D930-F6C4-4433-B08D-7D592F11E2B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B8157F7-AD88-4714-8F6D-BECCAEE692CE}">
  <ds:schemaRefs>
    <ds:schemaRef ds:uri="http://www.w3.org/XML/1998/namespace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b44060d6-3d92-4222-88f4-058ac1ad6e6d"/>
    <ds:schemaRef ds:uri="0534b563-8bcf-404a-9c05-83830691e24d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9295</TotalTime>
  <Words>656</Words>
  <Application>Microsoft Office PowerPoint</Application>
  <PresentationFormat>Panorámica</PresentationFormat>
  <Paragraphs>140</Paragraphs>
  <Slides>9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5" baseType="lpstr">
      <vt:lpstr>Arial</vt:lpstr>
      <vt:lpstr>Arial Narrow</vt:lpstr>
      <vt:lpstr>Calibri</vt:lpstr>
      <vt:lpstr>Calibri Light</vt:lpstr>
      <vt:lpstr>Wingdings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wilperiodista86@gmail.com</dc:creator>
  <cp:lastModifiedBy>Enrique Gonzalez Guerrero</cp:lastModifiedBy>
  <cp:revision>385</cp:revision>
  <dcterms:created xsi:type="dcterms:W3CDTF">2017-03-01T15:55:36Z</dcterms:created>
  <dcterms:modified xsi:type="dcterms:W3CDTF">2026-02-25T16:49:14Z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0x01010022CE6E15AAA6D84AAC52E76F6F4DA01C</vt:lpwstr>
  </property>
</Properties>
</file>